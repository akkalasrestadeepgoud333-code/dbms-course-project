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description" id="{A42A79CC-6A0F-68A7-B363-190D6C865754}">
          <p14:sldIdLst>
            <p14:sldId id="256"/>
            <p14:sldId id="257"/>
            <p14:sldId id="258"/>
          </p14:sldIdLst>
        </p14:section>
        <p14:section name="ER diagram and schema" id="{FF80A6C9-0436-8A8A-758F-C678B7A0F929}">
          <p14:sldIdLst>
            <p14:sldId id="259"/>
            <p14:sldId id="260"/>
            <p14:sldId id="261"/>
            <p14:sldId id="262"/>
          </p14:sldIdLst>
        </p14:section>
        <p14:section name="Database and queries" id="{30FA9E62-6011-C47E-2131-5C300F1B3E46}">
          <p14:sldIdLst>
            <p14:sldId id="263"/>
            <p14:sldId id="264"/>
            <p14:sldId id="265"/>
            <p14:sldId id="266"/>
          </p14:sldIdLst>
        </p14:section>
        <p14:section name="User interface demo" id="{0484571F-4987-DFBE-38BA-5250C1DCAC99}">
          <p14:sldIdLst>
            <p14:sldId id="267"/>
            <p14:sldId id="268"/>
            <p14:sldId id="269"/>
            <p14:sldId id="270"/>
          </p14:sldIdLst>
        </p14:section>
        <p14:section name="Questions" id="{4D762C20-71FE-552C-13E1-8BF7FE59C99D}">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6140" autoAdjust="0"/>
    <p:restoredTop sz="94610"/>
  </p:normalViewPr>
  <p:slideViewPr>
    <p:cSldViewPr snapToGrid="0" snapToObjects="1">
      <p:cViewPr>
        <p:scale>
          <a:sx n="100" d="100"/>
          <a:sy n="100" d="100"/>
        </p:scale>
        <p:origin x="-902" y="-7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estaDeep Goud A" userId="cd5c36d02dc9b29e" providerId="LiveId" clId="{C5A1F26D-011F-4971-8237-D08D2E2B1C1B}"/>
    <pc:docChg chg="custSel modSld sldOrd">
      <pc:chgData name="SrestaDeep Goud A" userId="cd5c36d02dc9b29e" providerId="LiveId" clId="{C5A1F26D-011F-4971-8237-D08D2E2B1C1B}" dt="2026-10-06T05:52:48.659" v="4" actId="478"/>
      <pc:docMkLst>
        <pc:docMk/>
      </pc:docMkLst>
      <pc:sldChg chg="addSp delSp modSp mod ord">
        <pc:chgData name="SrestaDeep Goud A" userId="cd5c36d02dc9b29e" providerId="LiveId" clId="{C5A1F26D-011F-4971-8237-D08D2E2B1C1B}" dt="2026-10-06T05:52:48.659" v="4" actId="478"/>
        <pc:sldMkLst>
          <pc:docMk/>
          <pc:sldMk cId="0" sldId="259"/>
        </pc:sldMkLst>
        <pc:graphicFrameChg chg="add del modGraphic">
          <ac:chgData name="SrestaDeep Goud A" userId="cd5c36d02dc9b29e" providerId="LiveId" clId="{C5A1F26D-011F-4971-8237-D08D2E2B1C1B}" dt="2026-10-06T05:52:48.659" v="4" actId="478"/>
          <ac:graphicFrameMkLst>
            <pc:docMk/>
            <pc:sldMk cId="0" sldId="259"/>
            <ac:graphicFrameMk id="30" creationId="{BB5FDF8C-52DE-64E8-3C98-A0B31F9EF673}"/>
          </ac:graphicFrameMkLst>
        </pc:graphicFrameChg>
      </pc:sldChg>
      <pc:sldChg chg="modSp mod">
        <pc:chgData name="SrestaDeep Goud A" userId="cd5c36d02dc9b29e" providerId="LiveId" clId="{C5A1F26D-011F-4971-8237-D08D2E2B1C1B}" dt="2026-10-06T02:58:12.550" v="0" actId="1076"/>
        <pc:sldMkLst>
          <pc:docMk/>
          <pc:sldMk cId="0" sldId="269"/>
        </pc:sldMkLst>
        <pc:picChg chg="mod">
          <ac:chgData name="SrestaDeep Goud A" userId="cd5c36d02dc9b29e" providerId="LiveId" clId="{C5A1F26D-011F-4971-8237-D08D2E2B1C1B}" dt="2026-10-06T02:58:12.550" v="0" actId="1076"/>
          <ac:picMkLst>
            <pc:docMk/>
            <pc:sldMk cId="0" sldId="269"/>
            <ac:picMk id="17" creationId="{00000000-0000-0000-0000-000000000000}"/>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Rows</c:v>
                </c:pt>
              </c:strCache>
            </c:strRef>
          </c:tx>
          <c:spPr>
            <a:solidFill>
              <a:srgbClr val="F26B1D"/>
            </a:solidFill>
            <a:effectLst/>
          </c:spPr>
          <c:invertIfNegative val="0"/>
          <c:dLbls>
            <c:numFmt formatCode="#,##0" sourceLinked="0"/>
            <c:spPr>
              <a:noFill/>
              <a:ln>
                <a:noFill/>
              </a:ln>
              <a:effectLst/>
            </c:spPr>
            <c:txPr>
              <a:bodyPr/>
              <a:lstStyle/>
              <a:p>
                <a:pPr>
                  <a:defRPr sz="1100" b="0" i="0" u="none" strike="noStrike">
                    <a:solidFill>
                      <a:srgbClr val="171B2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users</c:v>
                </c:pt>
                <c:pt idx="1">
                  <c:v>parcels</c:v>
                </c:pt>
                <c:pt idx="2">
                  <c:v>tracking_history</c:v>
                </c:pt>
                <c:pt idx="3">
                  <c:v>payments</c:v>
                </c:pt>
              </c:strCache>
            </c:strRef>
          </c:cat>
          <c:val>
            <c:numRef>
              <c:f>Sheet1!$B$2:$B$5</c:f>
              <c:numCache>
                <c:formatCode>General</c:formatCode>
                <c:ptCount val="4"/>
                <c:pt idx="0">
                  <c:v>6</c:v>
                </c:pt>
                <c:pt idx="1">
                  <c:v>12</c:v>
                </c:pt>
                <c:pt idx="2">
                  <c:v>44</c:v>
                </c:pt>
                <c:pt idx="3">
                  <c:v>12</c:v>
                </c:pt>
              </c:numCache>
            </c:numRef>
          </c:val>
          <c:extLst>
            <c:ext xmlns:c16="http://schemas.microsoft.com/office/drawing/2014/chart" uri="{C3380CC4-5D6E-409C-BE32-E72D297353CC}">
              <c16:uniqueId val="{00000000-B929-475F-9189-9928D30B68A3}"/>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2A3142"/>
                </a:solidFill>
                <a:latin typeface="Consolas"/>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Parcels</c:v>
                </c:pt>
              </c:strCache>
            </c:strRef>
          </c:tx>
          <c:spPr>
            <a:solidFill>
              <a:srgbClr val="F26B1D"/>
            </a:solidFill>
            <a:effectLst/>
          </c:spPr>
          <c:invertIfNegative val="0"/>
          <c:dLbls>
            <c:numFmt formatCode="#,##0" sourceLinked="0"/>
            <c:spPr>
              <a:noFill/>
              <a:ln>
                <a:noFill/>
              </a:ln>
              <a:effectLst/>
            </c:spPr>
            <c:txPr>
              <a:bodyPr/>
              <a:lstStyle/>
              <a:p>
                <a:pPr>
                  <a:defRPr sz="1100" b="0" i="0" u="none" strike="noStrike">
                    <a:solidFill>
                      <a:srgbClr val="171B2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Booked</c:v>
                </c:pt>
                <c:pt idx="1">
                  <c:v>Picked Up</c:v>
                </c:pt>
                <c:pt idx="2">
                  <c:v>In Transit</c:v>
                </c:pt>
                <c:pt idx="3">
                  <c:v>Out for Del.</c:v>
                </c:pt>
                <c:pt idx="4">
                  <c:v>Delivered</c:v>
                </c:pt>
                <c:pt idx="5">
                  <c:v>Failed</c:v>
                </c:pt>
                <c:pt idx="6">
                  <c:v>Returned</c:v>
                </c:pt>
              </c:strCache>
            </c:strRef>
          </c:cat>
          <c:val>
            <c:numRef>
              <c:f>Sheet1!$B$2:$B$8</c:f>
              <c:numCache>
                <c:formatCode>General</c:formatCode>
                <c:ptCount val="7"/>
                <c:pt idx="0">
                  <c:v>2</c:v>
                </c:pt>
                <c:pt idx="1">
                  <c:v>2</c:v>
                </c:pt>
                <c:pt idx="2">
                  <c:v>2</c:v>
                </c:pt>
                <c:pt idx="3">
                  <c:v>1</c:v>
                </c:pt>
                <c:pt idx="4">
                  <c:v>3</c:v>
                </c:pt>
                <c:pt idx="5">
                  <c:v>1</c:v>
                </c:pt>
                <c:pt idx="6">
                  <c:v>1</c:v>
                </c:pt>
              </c:numCache>
            </c:numRef>
          </c:val>
          <c:extLst>
            <c:ext xmlns:c16="http://schemas.microsoft.com/office/drawing/2014/chart" uri="{C3380CC4-5D6E-409C-BE32-E72D297353CC}">
              <c16:uniqueId val="{00000000-99BB-40DF-89EF-88602319CFC2}"/>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A3142"/>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1797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Srestadeep · about 20 s]
Good morning. We are A Srestadeep, Abhigyan Gogoi and Jogi Dhanush, and our DBMS project is SwiftCourier, a Courier Parcel Booking and Tracking Management System, guided by Dr. Kiran Mayee Adavala.
The card on the right is a real parcel from our database, CR202610010001, now out for delivery in Chennai. Each line on it is a row in our tracking_history table.
Our talk follows the order we were asked for: problem, ER and schema, database and queries, the UI demo, then questions. The tracker at the top right of every slide shows where we are.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Srestadeep · about 35 s]
The problem: most small courier counters still run on paper registers or spreadsheets. A parcel's journey is not recorded anywhere a customer can see, charges are calculated by hand, and when a customer asks "where is my parcel?" someone has to phone around.
Four pains: duplicate records, no visibility of status, manual billing, and lost history, because overwriting a status erases the earlier steps.
Our answer is one relational database behind a simple PHP web app. Every booking, payment and status change is stored, and each parcel gets a QR code that opens its live status.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Srestadeep · about 25 s]
Five objectives: online booking with an automatic charge, a unique tracking ID and QR code per parcel, a full history of every status change, a design normalised to 3NF, and a dashboard driven by live SQL.
In scope: accounts with customer and admin roles, booking, tracking history, public tracking, QR codes, simulated payments and the dashboard. A real payment gateway, GPS and SMS alerts are future work.
Users: the customer, the admin or staff member who updates the status, anyone tracking a parcel without logging in, the receiver who scans the QR, and the manager reading the dashboard.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Srestadeep · about 50 s]
This is our ER diagram in Chen notation. Rectangles are entities, diamonds are relationships, ovals are attributes, and primary keys are underlined in orange.
PARCELS sits in the middle. A user BOOKS many parcels. Each parcel HAS many tracking-history events, and it is PAID_BY one or more payment records. USERS also UPDATES tracking history: that records which admin made each change.
Dashed ovals are derived attributes: the current location is read from the latest tracking event, and the QR code's URL is built from the tracking ID, so neither is stored. Sender and receiver are composite attributes made of name, phone, address and city.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Abhigyan Gogoi · about 30 s]
Here are the four relationships. All four are one-to-many.
Total participation becomes a NOT NULL foreign key: a parcel must belong to a customer, and a history or payment row must belong to a parcel. HAS is total on both sides because the booking transaction always inserts the first 'Booked' event with the parcel.
UPDATES is partial: updated_by may be NULL, and if an admin account is deleted the history rows stay, with updated_by set to NULL.
PAID_BY is one-to-many on purpose, so a refund or retry could be recorded later.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Abhigyan Gogoi · about 25 s]
Mapping the ER diagram gives four tables. Each has a single-column primary key in orange. FK chips show the foreign keys and the table they point to. UQ marks the unique columns: email, tracking_id and transaction_ref.
parcels holds the sender and receiver details because they belong to the parcel: the sender can be someone other than the logged-in customer.
We also created one view, v_parcel_overview, which joins parcels with users and picks the latest location with a subquery.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Abhigyan Gogoi · about 45 s]
We started from a paper register: one wide row per booking, with the customer's details and repeated status and location columns.
1NF: the status columns are a repeating group, so every movement becomes its own row in TRACKING_HISTORY.
2NF: if events were keyed by tracking ID plus time, the sender, receiver and weight would depend on only part of that key, so they stay in PARCELS and each event gets its own key.
3NF: the customer's name and email depend on the customer, not the parcel, so they move to USERS. Payment details depend on the transaction, so they move to PAYMENTS. The current location and QR URL are derived, so we compute them.
Every determinant is now a candidate key, so the schema is also in BCNF. The one deliberate exception is current_status and payment_status in parcels: summary copies kept for fast dashboard counts, always updated in the same transaction as the history or payment row.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Abhigyan Gogoi · about 30 s, then switch to phpMyAdmin]
LIVE: open http://localhost/phpmyadmin, click Import and import database/courier_management.sql. Then open the courier_management database and show the Structure tab of parcels.
While it runs: this is the parcels table. tracking_id is UNIQUE, customer_id is a foreign key to users, parcel_type and current_status are ENUMs so only valid values are allowed, and a CHECK keeps the weight between 0 and 50 kg.
Across the database we have 4 primary keys, 4 foreign keys, 3 CHECK constraints, 3 UNIQUE constraints, 7 ENUM domains and a view. Deleting a parcel cascades to its history and payments, a customer with parcels cannot be deleted, and deleting an admin sets updated_by to NULL.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Abhigyan Gogoi · about 30 s, live]
LIVE: in phpMyAdmin, run the first queries of database/demo_queries.sql to show the row counts. users has 6 rows, parcels 12, tracking_history 44 and payments 12, so every table has more than 5.
Then run the failing statements one at a time. Each must be rejected with the error shown: 4025 for the weight CHECK, 1452 for the missing customer, 1062 for the duplicate email, 1451 for deleting a customer who still has parcels, and 1265 when a status is not in the ENUM list. The app turns on strict mode for its connection, so invalid ENUM values are refused rather than silently changed.
(If time is short, run just two: the 75 kg parcel and the duplicate email.)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Abhigyan Gogoi · about 20 s, live]
LIVE: run query 9 from demo_queries.sql.
Tracking a parcel needs three tables: parcels to find the parcel from its tracking ID, tracking_history for its events, and users to show who made each update. users is a LEFT JOIN because updated_by can be NULL.
This parcel was booked in Hyderabad, went through the Hyderabad and Chennai sorting centres, and is now out for delivery in Chennai. The tracking page in our app runs this same query.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Abhigyan Gogoi · about 20 s, live]
LIVE: run queries 3 and 5, then open the admin dashboard's "SQL queries powering this dashboard" panel.
Aggregates turn rows into reports. The chart is a COUNT with GROUP BY on current_status: three delivered, two each booked, picked up and in transit, and one each out for delivery, failed and returned.
On the right, a LEFT JOIN from users to parcels with GROUP BY gives each customer's bookings and total charges. Rahul Sharma has booked five parcels. Revenue is a SUM over paid payments, 780 rupees, and HAVING filters customers with more than one booking.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Jogi Dhanush · about 25 s]
The UI is a PHP web app running on Apache in XAMPP. It talks to the courier_management database through MySQLi with prepared statements, so user input never becomes part of the SQL text, and it uses transactions wherever more than one table changes.
The main screens: public tracking, registration and login with hashed passwords, booking, the customer's parcel list, the admin dashboard and the admin parcel page.
Every number on the admin dashboard comes from a live query, and the dashboard shows those queries in a panel at the bottom.
LIVE: start Apache and MySQL in XAMPP and open http://localhost/courier/.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Jogi Dhanush · about 60 s, live]
LIVE: log in as customer@courier.com / customer123 and open Book a Parcel. Tick "Use my details", enter a pickup address in Hyderabad, receiver Meena Iyer in Kolkata, Fragile, 2.5 kg, UPI, and click Confirm Booking.
The charge is 50 base plus 20 per kg times 2.5, plus 40 for Fragile: 140 rupees. The browser shows a preview, but the server recalculates it.
In one transaction the app inserts the parcel, its first 'Booked' tracking row and a payment row, and generates the tracking ID: CR, today's date and a 4-digit sequence. If any insert fails, all three are rolled back.
In phpMyAdmin, run SELECT COUNT(*) on the three tables: parcels 12 to 13, tracking_history 44 to 45, payments 12 to 13.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Jogi Dhanush · about 60 s, live]
LIVE (1): log out, log in as admin@courier.com / admin123. The new parcel is at the top of Recent bookings. Click Manage, choose Picked Up, enter "Hyderabad - Madhapur Hub" and a remark, and click Save update.
In one transaction the app updates current_status in parcels and inserts a new row into tracking_history. The old rows are never overwritten, so the whole journey is kept. Only valid next steps are offered: a Booked parcel cannot jump straight to Delivered.
LIVE (2): scan the QR code on the parcel page with a phone on the same Wi-Fi. It opens track.php, which reads MySQL and shows Picked Up with the full timeline.
In phpMyAdmin, run query 9 (tracking history for one parcel) with the new tracking ID to show both rows.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Jogi Dhanush · about 45 s, live]
LIVE (1): on the admin parcel page of the parcel we just booked, click Delete parcel and confirm. The app runs one statement, DELETE FROM parcels WHERE parcel_id = ?. Because tracking_history and payments reference parcels with ON DELETE CASCADE, MySQL removes the parcel's tracking events and payment by itself. The message shows how many rows went.
LIVE (2): on Customers, register a throwaway customer first and delete them: that works because they have no parcels. Then try to delete Rahul Sharma. MySQL refuses with error 1451 because parcels.customer_id is ON DELETE RESTRICT, so booking records can never be orphaned. The app explains the refusal instead of hiding it.
To finish, run SELECT COUNT(*) on parcels, tracking_history and payments in phpMyAdmin to show the counts dropped back.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members · about 2 min Q&amp;A]
To sum up: a normalised 4-table database with real constraints, transactions that keep the tables consistent, tested queries, and a working PHP app with QR tracking.
Next steps would be SMS alerts, a real payment gateway, live GPS and proof of delivery.
Thank you. We're happy to take questions.
Likely questions and short answers:
• Which normal form? 3NF, and also BCNF: every determinant (user_id, email, parcel_id, tracking_id, history_id, payment_id, transaction_ref) is a candidate key.
• Isn't current_status redundant? Yes, on purpose. It equals the latest tracking_history row. We keep it for fast GROUP BY counts and update it in the same transaction as the history insert, so the two can never disagree.
• Why is the history never overwritten? Each status change is an INSERT, so the full journey is kept as an audit trail.
• How is the tracking ID unique? CR + date + a 4-digit sequence, generated inside the booking transaction with SELECT … FOR UPDATE; the UNIQUE constraint is the final guarantee.
• How do you stop SQL injection? Every query uses MySQLi prepared statements with bound parameters.
• How are passwords stored? As bcrypt hashes from password_hash(), checked with password_verify().
• How does the QR work? It encodes the URL track.php?tracking_id=…; scanning it opens the public page, which reads MySQL live.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7498080" cy="868680"/>
          </a:xfrm>
          <a:prstGeom prst="rect">
            <a:avLst/>
          </a:prstGeom>
          <a:noFill/>
          <a:ln/>
        </p:spPr>
        <p:txBody>
          <a:bodyPr wrap="square" rtlCol="0"/>
          <a:lstStyle>
            <a:lvl1pPr marL="0" indent="0" algn="l">
              <a:buNone/>
              <a:defRPr lang="en-US" sz="2800" dirty="0">
                <a:solidFill>
                  <a:schemeClr val="tx1"/>
                </a:solidFill>
                <a:latin typeface="Segoe UI Semibold" pitchFamily="34" charset="0"/>
                <a:ea typeface="Segoe UI Semibold" pitchFamily="34" charset="-122"/>
                <a:cs typeface="Segoe UI Semibold" pitchFamily="34" charset="-120"/>
              </a:defRPr>
            </a:lvl1pPr>
          </a:lstStyle>
          <a:p>
            <a:pPr marL="0" indent="0" algn="l">
              <a:buNone/>
            </a:pPr>
            <a:r>
              <a:rPr lang="en-US" sz="2800" dirty="0">
                <a:solidFill>
                  <a:schemeClr val="tx1"/>
                </a:solidFill>
                <a:latin typeface="Segoe UI Semibold" pitchFamily="34" charset="0"/>
                <a:ea typeface="Segoe UI Semibold" pitchFamily="34" charset="-122"/>
                <a:cs typeface="Segoe UI Semibold" pitchFamily="34" charset="-120"/>
              </a:rPr>
              <a:t>Slide title</a:t>
            </a:r>
            <a:endParaRPr lang="en-US" sz="28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SwiftCourier  ·  DBMS Project  ·  Woxsen University</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14.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mark"/>
          <p:cNvSpPr/>
          <p:nvPr/>
        </p:nvSpPr>
        <p:spPr>
          <a:xfrm>
            <a:off x="548640" y="548640"/>
            <a:ext cx="566928" cy="566928"/>
          </a:xfrm>
          <a:prstGeom prst="roundRect">
            <a:avLst>
              <a:gd name="adj" fmla="val 19355"/>
            </a:avLst>
          </a:prstGeom>
          <a:solidFill>
            <a:schemeClr val="accent1"/>
          </a:solidFill>
          <a:ln/>
        </p:spPr>
      </p:sp>
      <p:sp>
        <p:nvSpPr>
          <p:cNvPr id="3" name="text-1"/>
          <p:cNvSpPr txBox="1"/>
          <p:nvPr/>
        </p:nvSpPr>
        <p:spPr>
          <a:xfrm>
            <a:off x="548640" y="548640"/>
            <a:ext cx="566928" cy="566928"/>
          </a:xfrm>
          <a:prstGeom prst="rect">
            <a:avLst/>
          </a:prstGeom>
          <a:noFill/>
          <a:ln/>
        </p:spPr>
        <p:txBody>
          <a:bodyPr wrap="square" lIns="0" tIns="0" rIns="0" bIns="0" rtlCol="0" anchor="ctr"/>
          <a:lstStyle/>
          <a:p>
            <a:pPr marL="0" indent="0" algn="ctr">
              <a:buNone/>
            </a:pPr>
            <a:r>
              <a:rPr lang="en-US" sz="1800" b="1" dirty="0">
                <a:solidFill>
                  <a:schemeClr val="bg1"/>
                </a:solidFill>
              </a:rPr>
              <a:t>SC</a:t>
            </a:r>
            <a:endParaRPr lang="en-US" sz="1800" dirty="0"/>
          </a:p>
        </p:txBody>
      </p:sp>
      <p:sp>
        <p:nvSpPr>
          <p:cNvPr id="4" name="text-2"/>
          <p:cNvSpPr txBox="1"/>
          <p:nvPr/>
        </p:nvSpPr>
        <p:spPr>
          <a:xfrm>
            <a:off x="1280160" y="548640"/>
            <a:ext cx="4572000" cy="594360"/>
          </a:xfrm>
          <a:prstGeom prst="rect">
            <a:avLst/>
          </a:prstGeom>
          <a:noFill/>
          <a:ln/>
        </p:spPr>
        <p:txBody>
          <a:bodyPr wrap="square" lIns="0" tIns="0" rIns="0" bIns="0" rtlCol="0" anchor="t"/>
          <a:lstStyle/>
          <a:p>
            <a:pPr marL="0" indent="0">
              <a:buNone/>
            </a:pPr>
            <a:r>
              <a:rPr lang="en-US" sz="1800" b="1" dirty="0">
                <a:solidFill>
                  <a:schemeClr val="bg1"/>
                </a:solidFill>
              </a:rPr>
              <a:t>SwiftCourier</a:t>
            </a:r>
            <a:endParaRPr lang="en-US" sz="1800" dirty="0"/>
          </a:p>
          <a:p>
            <a:pPr marL="0" indent="0">
              <a:buNone/>
            </a:pPr>
            <a:r>
              <a:rPr lang="en-US" sz="1200" dirty="0">
                <a:solidFill>
                  <a:schemeClr val="accent6"/>
                </a:solidFill>
              </a:rPr>
              <a:t>DBMS Project · Course 25TU03MJM0</a:t>
            </a:r>
            <a:endParaRPr lang="en-US" sz="1800" dirty="0"/>
          </a:p>
        </p:txBody>
      </p:sp>
      <p:sp>
        <p:nvSpPr>
          <p:cNvPr id="5" name="deck-title-3"/>
          <p:cNvSpPr txBox="1"/>
          <p:nvPr/>
        </p:nvSpPr>
        <p:spPr>
          <a:xfrm>
            <a:off x="548640" y="1691640"/>
            <a:ext cx="7315200" cy="1737360"/>
          </a:xfrm>
          <a:prstGeom prst="rect">
            <a:avLst/>
          </a:prstGeom>
          <a:noFill/>
          <a:ln/>
        </p:spPr>
        <p:txBody>
          <a:bodyPr wrap="square" lIns="0" tIns="0" rIns="0" bIns="0" rtlCol="0" anchor="ctr"/>
          <a:lstStyle/>
          <a:p>
            <a:pPr marL="0" indent="0">
              <a:buNone/>
            </a:pPr>
            <a:r>
              <a:rPr lang="en-US" sz="4000" dirty="0">
                <a:solidFill>
                  <a:schemeClr val="bg1"/>
                </a:solidFill>
                <a:latin typeface="Segoe UI Semibold" pitchFamily="34" charset="0"/>
                <a:ea typeface="Segoe UI Semibold" pitchFamily="34" charset="-122"/>
                <a:cs typeface="Segoe UI Semibold" pitchFamily="34" charset="-120"/>
              </a:rPr>
              <a:t>Courier Parcel Booking and Tracking Management System</a:t>
            </a:r>
            <a:endParaRPr lang="en-US" sz="4000" dirty="0"/>
          </a:p>
        </p:txBody>
      </p:sp>
      <p:sp>
        <p:nvSpPr>
          <p:cNvPr id="6" name="text-4"/>
          <p:cNvSpPr txBox="1"/>
          <p:nvPr/>
        </p:nvSpPr>
        <p:spPr>
          <a:xfrm>
            <a:off x="548640" y="3520440"/>
            <a:ext cx="6949440" cy="822960"/>
          </a:xfrm>
          <a:prstGeom prst="rect">
            <a:avLst/>
          </a:prstGeom>
          <a:noFill/>
          <a:ln/>
        </p:spPr>
        <p:txBody>
          <a:bodyPr wrap="square" lIns="0" tIns="0" rIns="0" bIns="0" rtlCol="0" anchor="t"/>
          <a:lstStyle/>
          <a:p>
            <a:pPr marL="0" indent="0">
              <a:buNone/>
            </a:pPr>
            <a:r>
              <a:rPr lang="en-US" sz="1600" dirty="0">
                <a:solidFill>
                  <a:schemeClr val="bg2"/>
                </a:solidFill>
              </a:rPr>
              <a:t>A PHP + MySQL web app: customers book parcels, admins update their status, and anyone can follow a parcel live by its tracking ID or by scanning its QR code.</a:t>
            </a:r>
            <a:endParaRPr lang="en-US" sz="1600" dirty="0"/>
          </a:p>
        </p:txBody>
      </p:sp>
      <p:sp>
        <p:nvSpPr>
          <p:cNvPr id="7" name="team-card-5"/>
          <p:cNvSpPr/>
          <p:nvPr/>
        </p:nvSpPr>
        <p:spPr>
          <a:xfrm>
            <a:off x="548640" y="4709160"/>
            <a:ext cx="2212848" cy="777240"/>
          </a:xfrm>
          <a:prstGeom prst="roundRect">
            <a:avLst>
              <a:gd name="adj" fmla="val 14118"/>
            </a:avLst>
          </a:prstGeom>
          <a:solidFill>
            <a:schemeClr val="tx2"/>
          </a:solidFill>
          <a:ln/>
        </p:spPr>
      </p:sp>
      <p:sp>
        <p:nvSpPr>
          <p:cNvPr id="8" name="text-6"/>
          <p:cNvSpPr txBox="1"/>
          <p:nvPr/>
        </p:nvSpPr>
        <p:spPr>
          <a:xfrm>
            <a:off x="749808" y="4818888"/>
            <a:ext cx="1920240" cy="566928"/>
          </a:xfrm>
          <a:prstGeom prst="rect">
            <a:avLst/>
          </a:prstGeom>
          <a:noFill/>
          <a:ln/>
        </p:spPr>
        <p:txBody>
          <a:bodyPr wrap="square" lIns="0" tIns="0" rIns="0" bIns="0" rtlCol="0" anchor="t"/>
          <a:lstStyle/>
          <a:p>
            <a:pPr marL="0" indent="0">
              <a:buNone/>
            </a:pPr>
            <a:r>
              <a:rPr lang="en-US" sz="1500" b="1" dirty="0">
                <a:solidFill>
                  <a:schemeClr val="bg1"/>
                </a:solidFill>
              </a:rPr>
              <a:t>A Srestadeep</a:t>
            </a:r>
            <a:endParaRPr lang="en-US" sz="1500" dirty="0"/>
          </a:p>
          <a:p>
            <a:pPr marL="0" indent="0">
              <a:buNone/>
            </a:pPr>
            <a:r>
              <a:rPr lang="en-US" sz="1200" dirty="0">
                <a:solidFill>
                  <a:schemeClr val="accent6"/>
                </a:solidFill>
              </a:rPr>
              <a:t>25WU0101001</a:t>
            </a:r>
            <a:endParaRPr lang="en-US" sz="1500" dirty="0"/>
          </a:p>
        </p:txBody>
      </p:sp>
      <p:sp>
        <p:nvSpPr>
          <p:cNvPr id="9" name="team-card-7"/>
          <p:cNvSpPr/>
          <p:nvPr/>
        </p:nvSpPr>
        <p:spPr>
          <a:xfrm>
            <a:off x="2944368" y="4709160"/>
            <a:ext cx="2212848" cy="777240"/>
          </a:xfrm>
          <a:prstGeom prst="roundRect">
            <a:avLst>
              <a:gd name="adj" fmla="val 14118"/>
            </a:avLst>
          </a:prstGeom>
          <a:solidFill>
            <a:schemeClr val="tx2"/>
          </a:solidFill>
          <a:ln/>
        </p:spPr>
      </p:sp>
      <p:sp>
        <p:nvSpPr>
          <p:cNvPr id="10" name="text-8"/>
          <p:cNvSpPr txBox="1"/>
          <p:nvPr/>
        </p:nvSpPr>
        <p:spPr>
          <a:xfrm>
            <a:off x="3145536" y="4818888"/>
            <a:ext cx="1920240" cy="566928"/>
          </a:xfrm>
          <a:prstGeom prst="rect">
            <a:avLst/>
          </a:prstGeom>
          <a:noFill/>
          <a:ln/>
        </p:spPr>
        <p:txBody>
          <a:bodyPr wrap="square" lIns="0" tIns="0" rIns="0" bIns="0" rtlCol="0" anchor="t"/>
          <a:lstStyle/>
          <a:p>
            <a:pPr marL="0" indent="0">
              <a:buNone/>
            </a:pPr>
            <a:r>
              <a:rPr lang="en-US" sz="1500" b="1" dirty="0">
                <a:solidFill>
                  <a:schemeClr val="bg1"/>
                </a:solidFill>
              </a:rPr>
              <a:t>Abhigyan Gogoi</a:t>
            </a:r>
            <a:endParaRPr lang="en-US" sz="1500" dirty="0"/>
          </a:p>
          <a:p>
            <a:pPr marL="0" indent="0">
              <a:buNone/>
            </a:pPr>
            <a:r>
              <a:rPr lang="en-US" sz="1200" dirty="0">
                <a:solidFill>
                  <a:schemeClr val="accent6"/>
                </a:solidFill>
              </a:rPr>
              <a:t>25WU0101004</a:t>
            </a:r>
            <a:endParaRPr lang="en-US" sz="1500" dirty="0"/>
          </a:p>
        </p:txBody>
      </p:sp>
      <p:sp>
        <p:nvSpPr>
          <p:cNvPr id="11" name="team-card-9"/>
          <p:cNvSpPr/>
          <p:nvPr/>
        </p:nvSpPr>
        <p:spPr>
          <a:xfrm>
            <a:off x="5340096" y="4709160"/>
            <a:ext cx="2212848" cy="777240"/>
          </a:xfrm>
          <a:prstGeom prst="roundRect">
            <a:avLst>
              <a:gd name="adj" fmla="val 14118"/>
            </a:avLst>
          </a:prstGeom>
          <a:solidFill>
            <a:schemeClr val="tx2"/>
          </a:solidFill>
          <a:ln/>
        </p:spPr>
      </p:sp>
      <p:sp>
        <p:nvSpPr>
          <p:cNvPr id="12" name="text-10"/>
          <p:cNvSpPr txBox="1"/>
          <p:nvPr/>
        </p:nvSpPr>
        <p:spPr>
          <a:xfrm>
            <a:off x="5541264" y="4818888"/>
            <a:ext cx="1920240" cy="566928"/>
          </a:xfrm>
          <a:prstGeom prst="rect">
            <a:avLst/>
          </a:prstGeom>
          <a:noFill/>
          <a:ln/>
        </p:spPr>
        <p:txBody>
          <a:bodyPr wrap="square" lIns="0" tIns="0" rIns="0" bIns="0" rtlCol="0" anchor="t"/>
          <a:lstStyle/>
          <a:p>
            <a:pPr marL="0" indent="0">
              <a:buNone/>
            </a:pPr>
            <a:r>
              <a:rPr lang="en-US" sz="1500" b="1" dirty="0">
                <a:solidFill>
                  <a:schemeClr val="bg1"/>
                </a:solidFill>
              </a:rPr>
              <a:t>Jogi Dhanush</a:t>
            </a:r>
            <a:endParaRPr lang="en-US" sz="1500" dirty="0"/>
          </a:p>
          <a:p>
            <a:pPr marL="0" indent="0">
              <a:buNone/>
            </a:pPr>
            <a:r>
              <a:rPr lang="en-US" sz="1200" dirty="0">
                <a:solidFill>
                  <a:schemeClr val="accent6"/>
                </a:solidFill>
              </a:rPr>
              <a:t>25WU0101053</a:t>
            </a:r>
            <a:endParaRPr lang="en-US" sz="1500" dirty="0"/>
          </a:p>
        </p:txBody>
      </p:sp>
      <p:sp>
        <p:nvSpPr>
          <p:cNvPr id="13" name="text-11"/>
          <p:cNvSpPr txBox="1"/>
          <p:nvPr/>
        </p:nvSpPr>
        <p:spPr>
          <a:xfrm>
            <a:off x="548640" y="5806440"/>
            <a:ext cx="8686800" cy="320040"/>
          </a:xfrm>
          <a:prstGeom prst="rect">
            <a:avLst/>
          </a:prstGeom>
          <a:noFill/>
          <a:ln/>
        </p:spPr>
        <p:txBody>
          <a:bodyPr wrap="square" lIns="0" tIns="0" rIns="0" bIns="0" rtlCol="0" anchor="t"/>
          <a:lstStyle/>
          <a:p>
            <a:pPr marL="0" indent="0">
              <a:buNone/>
            </a:pPr>
            <a:r>
              <a:rPr lang="en-US" sz="1300" dirty="0">
                <a:solidFill>
                  <a:schemeClr val="accent6"/>
                </a:solidFill>
              </a:rPr>
              <a:t>Guide: </a:t>
            </a:r>
            <a:r>
              <a:rPr lang="en-US" sz="1300" b="1" dirty="0">
                <a:solidFill>
                  <a:schemeClr val="bg1"/>
                </a:solidFill>
              </a:rPr>
              <a:t>Dr. Kiran Mayee Adavala</a:t>
            </a:r>
            <a:r>
              <a:rPr lang="en-US" sz="1300" dirty="0">
                <a:solidFill>
                  <a:schemeClr val="accent6"/>
                </a:solidFill>
              </a:rPr>
              <a:t>   ·   B.Tech CSE, Section CSE Tigers   ·   School of Technology, Woxsen University</a:t>
            </a:r>
            <a:endParaRPr lang="en-US" sz="1300" dirty="0"/>
          </a:p>
        </p:txBody>
      </p:sp>
      <p:sp>
        <p:nvSpPr>
          <p:cNvPr id="14" name="tracking-card-12"/>
          <p:cNvSpPr/>
          <p:nvPr/>
        </p:nvSpPr>
        <p:spPr>
          <a:xfrm>
            <a:off x="8503920" y="914400"/>
            <a:ext cx="3154680" cy="4572000"/>
          </a:xfrm>
          <a:prstGeom prst="roundRect">
            <a:avLst>
              <a:gd name="adj" fmla="val 3478"/>
            </a:avLst>
          </a:prstGeom>
          <a:solidFill>
            <a:schemeClr val="tx2"/>
          </a:solidFill>
          <a:ln/>
        </p:spPr>
      </p:sp>
      <p:sp>
        <p:nvSpPr>
          <p:cNvPr id="15" name="text-13"/>
          <p:cNvSpPr txBox="1"/>
          <p:nvPr/>
        </p:nvSpPr>
        <p:spPr>
          <a:xfrm>
            <a:off x="8778240" y="1170432"/>
            <a:ext cx="2286000" cy="228600"/>
          </a:xfrm>
          <a:prstGeom prst="rect">
            <a:avLst/>
          </a:prstGeom>
          <a:noFill/>
          <a:ln/>
        </p:spPr>
        <p:txBody>
          <a:bodyPr wrap="square" lIns="0" tIns="0" rIns="0" bIns="0" rtlCol="0" anchor="t"/>
          <a:lstStyle/>
          <a:p>
            <a:pPr marL="0" indent="0">
              <a:buNone/>
            </a:pPr>
            <a:r>
              <a:rPr lang="en-US" sz="1000" b="1" kern="0" spc="150" dirty="0">
                <a:solidFill>
                  <a:schemeClr val="accent1"/>
                </a:solidFill>
              </a:rPr>
              <a:t>LIVE TRACKING</a:t>
            </a:r>
            <a:endParaRPr lang="en-US" sz="1000" dirty="0"/>
          </a:p>
        </p:txBody>
      </p:sp>
      <p:sp>
        <p:nvSpPr>
          <p:cNvPr id="16" name="text-14"/>
          <p:cNvSpPr txBox="1"/>
          <p:nvPr/>
        </p:nvSpPr>
        <p:spPr>
          <a:xfrm>
            <a:off x="8778240" y="1417320"/>
            <a:ext cx="2743200" cy="411480"/>
          </a:xfrm>
          <a:prstGeom prst="rect">
            <a:avLst/>
          </a:prstGeom>
          <a:noFill/>
          <a:ln/>
        </p:spPr>
        <p:txBody>
          <a:bodyPr wrap="square" lIns="0" tIns="0" rIns="0" bIns="0" rtlCol="0" anchor="t"/>
          <a:lstStyle/>
          <a:p>
            <a:pPr marL="0" indent="0">
              <a:buNone/>
            </a:pPr>
            <a:r>
              <a:rPr lang="en-US" sz="2000" b="1" dirty="0">
                <a:solidFill>
                  <a:schemeClr val="bg1"/>
                </a:solidFill>
                <a:latin typeface="Consolas" pitchFamily="34" charset="0"/>
                <a:ea typeface="Consolas" pitchFamily="34" charset="-122"/>
                <a:cs typeface="Consolas" pitchFamily="34" charset="-120"/>
              </a:rPr>
              <a:t>CR202610010001</a:t>
            </a:r>
            <a:endParaRPr lang="en-US" sz="2000" dirty="0"/>
          </a:p>
        </p:txBody>
      </p:sp>
      <p:sp>
        <p:nvSpPr>
          <p:cNvPr id="17" name="text-15"/>
          <p:cNvSpPr txBox="1"/>
          <p:nvPr/>
        </p:nvSpPr>
        <p:spPr>
          <a:xfrm>
            <a:off x="8778240" y="1847088"/>
            <a:ext cx="2743200" cy="274320"/>
          </a:xfrm>
          <a:prstGeom prst="rect">
            <a:avLst/>
          </a:prstGeom>
          <a:noFill/>
          <a:ln/>
        </p:spPr>
        <p:txBody>
          <a:bodyPr wrap="square" lIns="0" tIns="0" rIns="0" bIns="0" rtlCol="0" anchor="t"/>
          <a:lstStyle/>
          <a:p>
            <a:pPr marL="0" indent="0">
              <a:buNone/>
            </a:pPr>
            <a:r>
              <a:rPr lang="en-US" sz="1200" dirty="0">
                <a:solidFill>
                  <a:schemeClr val="accent6"/>
                </a:solidFill>
              </a:rPr>
              <a:t>Hyderabad → Chennai · Package</a:t>
            </a:r>
            <a:endParaRPr lang="en-US" sz="1200" dirty="0"/>
          </a:p>
        </p:txBody>
      </p:sp>
      <p:sp>
        <p:nvSpPr>
          <p:cNvPr id="18" name="tl-rail"/>
          <p:cNvSpPr/>
          <p:nvPr/>
        </p:nvSpPr>
        <p:spPr>
          <a:xfrm>
            <a:off x="8887968" y="2423160"/>
            <a:ext cx="0" cy="2414016"/>
          </a:xfrm>
          <a:prstGeom prst="line">
            <a:avLst/>
          </a:prstGeom>
          <a:noFill/>
          <a:ln w="19050">
            <a:solidFill>
              <a:schemeClr val="accent6"/>
            </a:solidFill>
            <a:prstDash val="dash"/>
          </a:ln>
        </p:spPr>
      </p:sp>
      <p:sp>
        <p:nvSpPr>
          <p:cNvPr id="19" name="tl-done"/>
          <p:cNvSpPr/>
          <p:nvPr/>
        </p:nvSpPr>
        <p:spPr>
          <a:xfrm>
            <a:off x="8887968" y="2423160"/>
            <a:ext cx="0" cy="1810512"/>
          </a:xfrm>
          <a:prstGeom prst="line">
            <a:avLst/>
          </a:prstGeom>
          <a:noFill/>
          <a:ln w="31750">
            <a:solidFill>
              <a:schemeClr val="accent1"/>
            </a:solidFill>
            <a:prstDash val="solid"/>
          </a:ln>
        </p:spPr>
      </p:sp>
      <p:sp>
        <p:nvSpPr>
          <p:cNvPr id="20" name="tl-dot-16"/>
          <p:cNvSpPr/>
          <p:nvPr/>
        </p:nvSpPr>
        <p:spPr>
          <a:xfrm>
            <a:off x="8805672" y="2340864"/>
            <a:ext cx="164592" cy="164592"/>
          </a:xfrm>
          <a:prstGeom prst="ellipse">
            <a:avLst/>
          </a:prstGeom>
          <a:solidFill>
            <a:schemeClr val="accent1"/>
          </a:solidFill>
          <a:ln w="19050">
            <a:solidFill>
              <a:schemeClr val="accent1"/>
            </a:solidFill>
            <a:prstDash val="solid"/>
          </a:ln>
        </p:spPr>
      </p:sp>
      <p:sp>
        <p:nvSpPr>
          <p:cNvPr id="21" name="text-17"/>
          <p:cNvSpPr txBox="1"/>
          <p:nvPr/>
        </p:nvSpPr>
        <p:spPr>
          <a:xfrm>
            <a:off x="9162288" y="2267712"/>
            <a:ext cx="2377440" cy="457200"/>
          </a:xfrm>
          <a:prstGeom prst="rect">
            <a:avLst/>
          </a:prstGeom>
          <a:noFill/>
          <a:ln/>
        </p:spPr>
        <p:txBody>
          <a:bodyPr wrap="square" lIns="0" tIns="0" rIns="0" bIns="0" rtlCol="0" anchor="t"/>
          <a:lstStyle/>
          <a:p>
            <a:pPr marL="0" indent="0">
              <a:buNone/>
            </a:pPr>
            <a:r>
              <a:rPr lang="en-US" sz="1400" dirty="0">
                <a:solidFill>
                  <a:schemeClr val="bg1"/>
                </a:solidFill>
              </a:rPr>
              <a:t>Booked</a:t>
            </a:r>
            <a:endParaRPr lang="en-US" sz="1400" dirty="0"/>
          </a:p>
          <a:p>
            <a:pPr marL="0" indent="0">
              <a:buNone/>
            </a:pPr>
            <a:r>
              <a:rPr lang="en-US" sz="1000" dirty="0">
                <a:solidFill>
                  <a:schemeClr val="accent6"/>
                </a:solidFill>
              </a:rPr>
              <a:t>01 Oct, 08:50 · Hyderabad</a:t>
            </a:r>
            <a:endParaRPr lang="en-US" sz="1400" dirty="0"/>
          </a:p>
        </p:txBody>
      </p:sp>
      <p:sp>
        <p:nvSpPr>
          <p:cNvPr id="22" name="tl-dot-18"/>
          <p:cNvSpPr/>
          <p:nvPr/>
        </p:nvSpPr>
        <p:spPr>
          <a:xfrm>
            <a:off x="8805672" y="2944368"/>
            <a:ext cx="164592" cy="164592"/>
          </a:xfrm>
          <a:prstGeom prst="ellipse">
            <a:avLst/>
          </a:prstGeom>
          <a:solidFill>
            <a:schemeClr val="accent1"/>
          </a:solidFill>
          <a:ln w="19050">
            <a:solidFill>
              <a:schemeClr val="accent1"/>
            </a:solidFill>
            <a:prstDash val="solid"/>
          </a:ln>
        </p:spPr>
      </p:sp>
      <p:sp>
        <p:nvSpPr>
          <p:cNvPr id="23" name="text-19"/>
          <p:cNvSpPr txBox="1"/>
          <p:nvPr/>
        </p:nvSpPr>
        <p:spPr>
          <a:xfrm>
            <a:off x="9162288" y="2871216"/>
            <a:ext cx="2377440" cy="457200"/>
          </a:xfrm>
          <a:prstGeom prst="rect">
            <a:avLst/>
          </a:prstGeom>
          <a:noFill/>
          <a:ln/>
        </p:spPr>
        <p:txBody>
          <a:bodyPr wrap="square" lIns="0" tIns="0" rIns="0" bIns="0" rtlCol="0" anchor="t"/>
          <a:lstStyle/>
          <a:p>
            <a:pPr marL="0" indent="0">
              <a:buNone/>
            </a:pPr>
            <a:r>
              <a:rPr lang="en-US" sz="1400" dirty="0">
                <a:solidFill>
                  <a:schemeClr val="bg1"/>
                </a:solidFill>
              </a:rPr>
              <a:t>Picked Up</a:t>
            </a:r>
            <a:endParaRPr lang="en-US" sz="1400" dirty="0"/>
          </a:p>
          <a:p>
            <a:pPr marL="0" indent="0">
              <a:buNone/>
            </a:pPr>
            <a:r>
              <a:rPr lang="en-US" sz="1000" dirty="0">
                <a:solidFill>
                  <a:schemeClr val="accent6"/>
                </a:solidFill>
              </a:rPr>
              <a:t>01 Oct, 13:00 · Madhapur Hub</a:t>
            </a:r>
            <a:endParaRPr lang="en-US" sz="1400" dirty="0"/>
          </a:p>
        </p:txBody>
      </p:sp>
      <p:sp>
        <p:nvSpPr>
          <p:cNvPr id="24" name="tl-dot-20"/>
          <p:cNvSpPr/>
          <p:nvPr/>
        </p:nvSpPr>
        <p:spPr>
          <a:xfrm>
            <a:off x="8805672" y="3547872"/>
            <a:ext cx="164592" cy="164592"/>
          </a:xfrm>
          <a:prstGeom prst="ellipse">
            <a:avLst/>
          </a:prstGeom>
          <a:solidFill>
            <a:schemeClr val="accent1"/>
          </a:solidFill>
          <a:ln w="19050">
            <a:solidFill>
              <a:schemeClr val="accent1"/>
            </a:solidFill>
            <a:prstDash val="solid"/>
          </a:ln>
        </p:spPr>
      </p:sp>
      <p:sp>
        <p:nvSpPr>
          <p:cNvPr id="25" name="text-21"/>
          <p:cNvSpPr txBox="1"/>
          <p:nvPr/>
        </p:nvSpPr>
        <p:spPr>
          <a:xfrm>
            <a:off x="9162288" y="3474720"/>
            <a:ext cx="2377440" cy="457200"/>
          </a:xfrm>
          <a:prstGeom prst="rect">
            <a:avLst/>
          </a:prstGeom>
          <a:noFill/>
          <a:ln/>
        </p:spPr>
        <p:txBody>
          <a:bodyPr wrap="square" lIns="0" tIns="0" rIns="0" bIns="0" rtlCol="0" anchor="t"/>
          <a:lstStyle/>
          <a:p>
            <a:pPr marL="0" indent="0">
              <a:buNone/>
            </a:pPr>
            <a:r>
              <a:rPr lang="en-US" sz="1400" dirty="0">
                <a:solidFill>
                  <a:schemeClr val="bg1"/>
                </a:solidFill>
              </a:rPr>
              <a:t>In Transit</a:t>
            </a:r>
            <a:endParaRPr lang="en-US" sz="1400" dirty="0"/>
          </a:p>
          <a:p>
            <a:pPr marL="0" indent="0">
              <a:buNone/>
            </a:pPr>
            <a:r>
              <a:rPr lang="en-US" sz="1000" dirty="0">
                <a:solidFill>
                  <a:schemeClr val="accent6"/>
                </a:solidFill>
              </a:rPr>
              <a:t>04 Oct, 07:30 · Chennai hub</a:t>
            </a:r>
            <a:endParaRPr lang="en-US" sz="1400" dirty="0"/>
          </a:p>
        </p:txBody>
      </p:sp>
      <p:sp>
        <p:nvSpPr>
          <p:cNvPr id="26" name="tl-dot-22"/>
          <p:cNvSpPr/>
          <p:nvPr/>
        </p:nvSpPr>
        <p:spPr>
          <a:xfrm>
            <a:off x="8769096" y="4114800"/>
            <a:ext cx="237744" cy="237744"/>
          </a:xfrm>
          <a:prstGeom prst="ellipse">
            <a:avLst/>
          </a:prstGeom>
          <a:solidFill>
            <a:schemeClr val="accent1"/>
          </a:solidFill>
          <a:ln w="19050">
            <a:solidFill>
              <a:schemeClr val="accent1"/>
            </a:solidFill>
            <a:prstDash val="solid"/>
          </a:ln>
        </p:spPr>
      </p:sp>
      <p:sp>
        <p:nvSpPr>
          <p:cNvPr id="27" name="text-23"/>
          <p:cNvSpPr txBox="1"/>
          <p:nvPr/>
        </p:nvSpPr>
        <p:spPr>
          <a:xfrm>
            <a:off x="9162288" y="4078224"/>
            <a:ext cx="2377440" cy="457200"/>
          </a:xfrm>
          <a:prstGeom prst="rect">
            <a:avLst/>
          </a:prstGeom>
          <a:noFill/>
          <a:ln/>
        </p:spPr>
        <p:txBody>
          <a:bodyPr wrap="square" lIns="0" tIns="0" rIns="0" bIns="0" rtlCol="0" anchor="t"/>
          <a:lstStyle/>
          <a:p>
            <a:pPr marL="0" indent="0">
              <a:buNone/>
            </a:pPr>
            <a:r>
              <a:rPr lang="en-US" sz="1400" b="1" dirty="0">
                <a:solidFill>
                  <a:schemeClr val="bg1"/>
                </a:solidFill>
              </a:rPr>
              <a:t>Out for Delivery</a:t>
            </a:r>
            <a:endParaRPr lang="en-US" sz="1400" dirty="0"/>
          </a:p>
          <a:p>
            <a:pPr marL="0" indent="0">
              <a:buNone/>
            </a:pPr>
            <a:r>
              <a:rPr lang="en-US" sz="1000" dirty="0">
                <a:solidFill>
                  <a:schemeClr val="accent6"/>
                </a:solidFill>
              </a:rPr>
              <a:t>05 Oct, 09:10 · Besant Nagar</a:t>
            </a:r>
            <a:endParaRPr lang="en-US" sz="1400" dirty="0"/>
          </a:p>
        </p:txBody>
      </p:sp>
      <p:sp>
        <p:nvSpPr>
          <p:cNvPr id="28" name="tl-dot-24"/>
          <p:cNvSpPr/>
          <p:nvPr/>
        </p:nvSpPr>
        <p:spPr>
          <a:xfrm>
            <a:off x="8805672" y="4754880"/>
            <a:ext cx="164592" cy="164592"/>
          </a:xfrm>
          <a:prstGeom prst="ellipse">
            <a:avLst/>
          </a:prstGeom>
          <a:solidFill>
            <a:schemeClr val="tx2"/>
          </a:solidFill>
          <a:ln w="19050">
            <a:solidFill>
              <a:schemeClr val="accent6"/>
            </a:solidFill>
            <a:prstDash val="solid"/>
          </a:ln>
        </p:spPr>
      </p:sp>
      <p:sp>
        <p:nvSpPr>
          <p:cNvPr id="29" name="text-25"/>
          <p:cNvSpPr txBox="1"/>
          <p:nvPr/>
        </p:nvSpPr>
        <p:spPr>
          <a:xfrm>
            <a:off x="9162288" y="4681728"/>
            <a:ext cx="2377440" cy="457200"/>
          </a:xfrm>
          <a:prstGeom prst="rect">
            <a:avLst/>
          </a:prstGeom>
          <a:noFill/>
          <a:ln/>
        </p:spPr>
        <p:txBody>
          <a:bodyPr wrap="square" lIns="0" tIns="0" rIns="0" bIns="0" rtlCol="0" anchor="t"/>
          <a:lstStyle/>
          <a:p>
            <a:pPr marL="0" indent="0">
              <a:buNone/>
            </a:pPr>
            <a:r>
              <a:rPr lang="en-US" sz="1400" dirty="0">
                <a:solidFill>
                  <a:schemeClr val="accent6"/>
                </a:solidFill>
              </a:rPr>
              <a:t>Delivered</a:t>
            </a:r>
            <a:endParaRPr lang="en-US" sz="1400" dirty="0"/>
          </a:p>
          <a:p>
            <a:pPr marL="0" indent="0">
              <a:buNone/>
            </a:pPr>
            <a:r>
              <a:rPr lang="en-US" sz="1000" dirty="0">
                <a:solidFill>
                  <a:schemeClr val="accent6"/>
                </a:solidFill>
              </a:rPr>
              <a:t>pending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7498080" cy="868680"/>
          </a:xfrm>
          <a:prstGeom prst="rect">
            <a:avLst/>
          </a:prstGeom>
          <a:noFill/>
          <a:ln/>
        </p:spPr>
        <p:txBody>
          <a:bodyPr wrap="square" lIns="0" tIns="0" rIns="0" bIns="0" rtlCol="0" anchor="ctr"/>
          <a:lstStyle/>
          <a:p>
            <a:pPr marL="0" indent="0" algn="l">
              <a:buNone/>
            </a:pPr>
            <a:r>
              <a:rPr lang="en-US" sz="2800" dirty="0">
                <a:solidFill>
                  <a:schemeClr val="tx1"/>
                </a:solidFill>
                <a:latin typeface="Segoe UI Semibold" pitchFamily="34" charset="0"/>
                <a:ea typeface="Segoe UI Semibold" pitchFamily="34" charset="-122"/>
                <a:cs typeface="Segoe UI Semibold" pitchFamily="34" charset="-120"/>
              </a:rPr>
              <a:t>Courier counters still run on paper</a:t>
            </a:r>
            <a:endParaRPr lang="en-US" sz="2800" dirty="0"/>
          </a:p>
        </p:txBody>
      </p:sp>
      <p:sp>
        <p:nvSpPr>
          <p:cNvPr id="3" name="tracker-rail-26"/>
          <p:cNvSpPr/>
          <p:nvPr/>
        </p:nvSpPr>
        <p:spPr>
          <a:xfrm>
            <a:off x="8458200" y="566928"/>
            <a:ext cx="2926080" cy="0"/>
          </a:xfrm>
          <a:prstGeom prst="line">
            <a:avLst/>
          </a:prstGeom>
          <a:noFill/>
          <a:ln w="31750">
            <a:solidFill>
              <a:srgbClr val="D1D5DB"/>
            </a:solidFill>
            <a:prstDash val="solid"/>
          </a:ln>
        </p:spPr>
      </p:sp>
      <p:sp>
        <p:nvSpPr>
          <p:cNvPr id="4" name="tracker-dot-27"/>
          <p:cNvSpPr/>
          <p:nvPr/>
        </p:nvSpPr>
        <p:spPr>
          <a:xfrm>
            <a:off x="8339328" y="448056"/>
            <a:ext cx="237744" cy="237744"/>
          </a:xfrm>
          <a:prstGeom prst="ellipse">
            <a:avLst/>
          </a:prstGeom>
          <a:solidFill>
            <a:schemeClr val="accent1"/>
          </a:solidFill>
          <a:ln w="19050">
            <a:solidFill>
              <a:schemeClr val="accent1"/>
            </a:solidFill>
            <a:prstDash val="solid"/>
          </a:ln>
        </p:spPr>
      </p:sp>
      <p:sp>
        <p:nvSpPr>
          <p:cNvPr id="5" name="text-28"/>
          <p:cNvSpPr txBox="1"/>
          <p:nvPr/>
        </p:nvSpPr>
        <p:spPr>
          <a:xfrm>
            <a:off x="8001000" y="749808"/>
            <a:ext cx="914400" cy="228600"/>
          </a:xfrm>
          <a:prstGeom prst="rect">
            <a:avLst/>
          </a:prstGeom>
          <a:noFill/>
          <a:ln/>
        </p:spPr>
        <p:txBody>
          <a:bodyPr wrap="square" lIns="0" tIns="0" rIns="0" bIns="0" rtlCol="0" anchor="t"/>
          <a:lstStyle/>
          <a:p>
            <a:pPr marL="0" indent="0" algn="ctr">
              <a:buNone/>
            </a:pPr>
            <a:r>
              <a:rPr lang="en-US" sz="1000" b="1" dirty="0">
                <a:solidFill>
                  <a:schemeClr val="accent1"/>
                </a:solidFill>
              </a:rPr>
              <a:t>Problem</a:t>
            </a:r>
            <a:endParaRPr lang="en-US" sz="1000" dirty="0"/>
          </a:p>
        </p:txBody>
      </p:sp>
      <p:sp>
        <p:nvSpPr>
          <p:cNvPr id="6" name="tracker-dot-29"/>
          <p:cNvSpPr/>
          <p:nvPr/>
        </p:nvSpPr>
        <p:spPr>
          <a:xfrm>
            <a:off x="9116568" y="493776"/>
            <a:ext cx="146304" cy="146304"/>
          </a:xfrm>
          <a:prstGeom prst="ellipse">
            <a:avLst/>
          </a:prstGeom>
          <a:solidFill>
            <a:schemeClr val="bg1"/>
          </a:solidFill>
          <a:ln w="19050">
            <a:solidFill>
              <a:schemeClr val="accent6"/>
            </a:solidFill>
            <a:prstDash val="solid"/>
          </a:ln>
        </p:spPr>
      </p:sp>
      <p:sp>
        <p:nvSpPr>
          <p:cNvPr id="7" name="text-30"/>
          <p:cNvSpPr txBox="1"/>
          <p:nvPr/>
        </p:nvSpPr>
        <p:spPr>
          <a:xfrm>
            <a:off x="873252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ER &amp; Schema</a:t>
            </a:r>
            <a:endParaRPr lang="en-US" sz="1000" dirty="0"/>
          </a:p>
        </p:txBody>
      </p:sp>
      <p:sp>
        <p:nvSpPr>
          <p:cNvPr id="8" name="tracker-dot-31"/>
          <p:cNvSpPr/>
          <p:nvPr/>
        </p:nvSpPr>
        <p:spPr>
          <a:xfrm>
            <a:off x="9848088" y="493776"/>
            <a:ext cx="146304" cy="146304"/>
          </a:xfrm>
          <a:prstGeom prst="ellipse">
            <a:avLst/>
          </a:prstGeom>
          <a:solidFill>
            <a:schemeClr val="bg1"/>
          </a:solidFill>
          <a:ln w="19050">
            <a:solidFill>
              <a:schemeClr val="accent6"/>
            </a:solidFill>
            <a:prstDash val="solid"/>
          </a:ln>
        </p:spPr>
      </p:sp>
      <p:sp>
        <p:nvSpPr>
          <p:cNvPr id="9" name="text-32"/>
          <p:cNvSpPr txBox="1"/>
          <p:nvPr/>
        </p:nvSpPr>
        <p:spPr>
          <a:xfrm>
            <a:off x="946404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Database</a:t>
            </a:r>
            <a:endParaRPr lang="en-US" sz="1000" dirty="0"/>
          </a:p>
        </p:txBody>
      </p:sp>
      <p:sp>
        <p:nvSpPr>
          <p:cNvPr id="10" name="tracker-dot-33"/>
          <p:cNvSpPr/>
          <p:nvPr/>
        </p:nvSpPr>
        <p:spPr>
          <a:xfrm>
            <a:off x="10579608" y="493776"/>
            <a:ext cx="146304" cy="146304"/>
          </a:xfrm>
          <a:prstGeom prst="ellipse">
            <a:avLst/>
          </a:prstGeom>
          <a:solidFill>
            <a:schemeClr val="bg1"/>
          </a:solidFill>
          <a:ln w="19050">
            <a:solidFill>
              <a:schemeClr val="accent6"/>
            </a:solidFill>
            <a:prstDash val="solid"/>
          </a:ln>
        </p:spPr>
      </p:sp>
      <p:sp>
        <p:nvSpPr>
          <p:cNvPr id="11" name="text-34"/>
          <p:cNvSpPr txBox="1"/>
          <p:nvPr/>
        </p:nvSpPr>
        <p:spPr>
          <a:xfrm>
            <a:off x="1019556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UI Demo</a:t>
            </a:r>
            <a:endParaRPr lang="en-US" sz="1000" dirty="0"/>
          </a:p>
        </p:txBody>
      </p:sp>
      <p:sp>
        <p:nvSpPr>
          <p:cNvPr id="12" name="tracker-dot-35"/>
          <p:cNvSpPr/>
          <p:nvPr/>
        </p:nvSpPr>
        <p:spPr>
          <a:xfrm>
            <a:off x="11311128" y="493776"/>
            <a:ext cx="146304" cy="146304"/>
          </a:xfrm>
          <a:prstGeom prst="ellipse">
            <a:avLst/>
          </a:prstGeom>
          <a:solidFill>
            <a:schemeClr val="bg1"/>
          </a:solidFill>
          <a:ln w="19050">
            <a:solidFill>
              <a:schemeClr val="accent6"/>
            </a:solidFill>
            <a:prstDash val="solid"/>
          </a:ln>
        </p:spPr>
      </p:sp>
      <p:sp>
        <p:nvSpPr>
          <p:cNvPr id="13" name="text-36"/>
          <p:cNvSpPr txBox="1"/>
          <p:nvPr/>
        </p:nvSpPr>
        <p:spPr>
          <a:xfrm>
            <a:off x="1092708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Q&amp;A</a:t>
            </a:r>
            <a:endParaRPr lang="en-US" sz="1000" dirty="0"/>
          </a:p>
        </p:txBody>
      </p:sp>
      <p:sp>
        <p:nvSpPr>
          <p:cNvPr id="14" name="text-37"/>
          <p:cNvSpPr txBox="1"/>
          <p:nvPr/>
        </p:nvSpPr>
        <p:spPr>
          <a:xfrm>
            <a:off x="548640" y="1463040"/>
            <a:ext cx="5120640" cy="274320"/>
          </a:xfrm>
          <a:prstGeom prst="rect">
            <a:avLst/>
          </a:prstGeom>
          <a:noFill/>
          <a:ln/>
        </p:spPr>
        <p:txBody>
          <a:bodyPr wrap="square" lIns="0" tIns="0" rIns="0" bIns="0" rtlCol="0" anchor="t"/>
          <a:lstStyle/>
          <a:p>
            <a:pPr marL="0" indent="0">
              <a:buNone/>
            </a:pPr>
            <a:r>
              <a:rPr lang="en-US" sz="1100" b="1" kern="0" spc="150" dirty="0">
                <a:solidFill>
                  <a:schemeClr val="accent1"/>
                </a:solidFill>
              </a:rPr>
              <a:t>PROBLEM STATEMENT</a:t>
            </a:r>
            <a:endParaRPr lang="en-US" sz="1100" dirty="0"/>
          </a:p>
        </p:txBody>
      </p:sp>
      <p:sp>
        <p:nvSpPr>
          <p:cNvPr id="15" name="text-38"/>
          <p:cNvSpPr txBox="1"/>
          <p:nvPr/>
        </p:nvSpPr>
        <p:spPr>
          <a:xfrm>
            <a:off x="548640" y="1783080"/>
            <a:ext cx="5120640" cy="2194560"/>
          </a:xfrm>
          <a:prstGeom prst="rect">
            <a:avLst/>
          </a:prstGeom>
          <a:noFill/>
          <a:ln/>
        </p:spPr>
        <p:txBody>
          <a:bodyPr wrap="square" lIns="0" tIns="0" rIns="0" bIns="0" rtlCol="0" anchor="t"/>
          <a:lstStyle/>
          <a:p>
            <a:pPr marL="0" indent="0">
              <a:lnSpc>
                <a:spcPct val="115000"/>
              </a:lnSpc>
              <a:buNone/>
            </a:pPr>
            <a:r>
              <a:rPr lang="en-US" sz="1700" dirty="0">
                <a:solidFill>
                  <a:schemeClr val="tx1"/>
                </a:solidFill>
              </a:rPr>
              <a:t>Small and mid-sized courier operators still book parcels in paper registers and spreadsheets. No one can see a parcel's full journey, charges are worked out by hand, and a customer has to phone the branch to ask where the parcel is.</a:t>
            </a:r>
            <a:endParaRPr lang="en-US" sz="1700" dirty="0"/>
          </a:p>
        </p:txBody>
      </p:sp>
      <p:sp>
        <p:nvSpPr>
          <p:cNvPr id="16" name="solution-card-39"/>
          <p:cNvSpPr/>
          <p:nvPr/>
        </p:nvSpPr>
        <p:spPr>
          <a:xfrm>
            <a:off x="548640" y="4251960"/>
            <a:ext cx="5120640" cy="1691640"/>
          </a:xfrm>
          <a:prstGeom prst="roundRect">
            <a:avLst>
              <a:gd name="adj" fmla="val 6486"/>
            </a:avLst>
          </a:prstGeom>
          <a:solidFill>
            <a:schemeClr val="accent1">
              <a:alpha val="10000"/>
            </a:schemeClr>
          </a:solidFill>
          <a:ln/>
        </p:spPr>
      </p:sp>
      <p:sp>
        <p:nvSpPr>
          <p:cNvPr id="17" name="text-40"/>
          <p:cNvSpPr txBox="1"/>
          <p:nvPr/>
        </p:nvSpPr>
        <p:spPr>
          <a:xfrm>
            <a:off x="822960" y="4434840"/>
            <a:ext cx="4572000" cy="274320"/>
          </a:xfrm>
          <a:prstGeom prst="rect">
            <a:avLst/>
          </a:prstGeom>
          <a:noFill/>
          <a:ln/>
        </p:spPr>
        <p:txBody>
          <a:bodyPr wrap="square" lIns="0" tIns="0" rIns="0" bIns="0" rtlCol="0" anchor="t"/>
          <a:lstStyle/>
          <a:p>
            <a:pPr marL="0" indent="0">
              <a:buNone/>
            </a:pPr>
            <a:r>
              <a:rPr lang="en-US" sz="1100" b="1" kern="0" spc="150" dirty="0">
                <a:solidFill>
                  <a:schemeClr val="accent5"/>
                </a:solidFill>
              </a:rPr>
              <a:t>OUR ANSWER</a:t>
            </a:r>
            <a:endParaRPr lang="en-US" sz="1100" dirty="0"/>
          </a:p>
        </p:txBody>
      </p:sp>
      <p:sp>
        <p:nvSpPr>
          <p:cNvPr id="18" name="text-41"/>
          <p:cNvSpPr txBox="1"/>
          <p:nvPr/>
        </p:nvSpPr>
        <p:spPr>
          <a:xfrm>
            <a:off x="822960" y="4727448"/>
            <a:ext cx="4572000" cy="1097280"/>
          </a:xfrm>
          <a:prstGeom prst="rect">
            <a:avLst/>
          </a:prstGeom>
          <a:noFill/>
          <a:ln/>
        </p:spPr>
        <p:txBody>
          <a:bodyPr wrap="square" lIns="0" tIns="0" rIns="0" bIns="0" rtlCol="0" anchor="t"/>
          <a:lstStyle/>
          <a:p>
            <a:pPr marL="0" indent="0">
              <a:buNone/>
            </a:pPr>
            <a:r>
              <a:rPr lang="en-US" sz="1500" i="1" dirty="0">
                <a:solidFill>
                  <a:schemeClr val="tx1"/>
                </a:solidFill>
              </a:rPr>
              <a:t>One relational MySQL database behind a PHP web app. Customers book online, staff update status, every change is kept as tracking history, and a QR code on each parcel opens its live status.</a:t>
            </a:r>
            <a:endParaRPr lang="en-US" sz="1500" dirty="0"/>
          </a:p>
        </p:txBody>
      </p:sp>
      <p:sp>
        <p:nvSpPr>
          <p:cNvPr id="19" name="pain-card-42"/>
          <p:cNvSpPr/>
          <p:nvPr/>
        </p:nvSpPr>
        <p:spPr>
          <a:xfrm>
            <a:off x="6172200" y="1463040"/>
            <a:ext cx="2606040" cy="2103120"/>
          </a:xfrm>
          <a:prstGeom prst="roundRect">
            <a:avLst>
              <a:gd name="adj" fmla="val 5217"/>
            </a:avLst>
          </a:prstGeom>
          <a:solidFill>
            <a:schemeClr val="bg2"/>
          </a:solidFill>
          <a:ln/>
        </p:spPr>
      </p:sp>
      <p:sp>
        <p:nvSpPr>
          <p:cNvPr id="20" name="badge-43"/>
          <p:cNvSpPr/>
          <p:nvPr/>
        </p:nvSpPr>
        <p:spPr>
          <a:xfrm>
            <a:off x="6400800" y="1691640"/>
            <a:ext cx="548640" cy="548640"/>
          </a:xfrm>
          <a:prstGeom prst="ellipse">
            <a:avLst/>
          </a:prstGeom>
          <a:solidFill>
            <a:schemeClr val="tx1"/>
          </a:solidFill>
          <a:ln/>
        </p:spPr>
      </p:sp>
      <p:pic>
        <p:nvPicPr>
          <p:cNvPr id="21" name="icon-LuNotebookPen-44" descr="C:\Users\srest\AppData\Local\Temp\claude\C--Users-srest\52e86171-7f3f-4f9f-8710-1b05dd1b2558\scratchpad\deck\icons\LuNotebookPen_w.png"/>
          <p:cNvPicPr>
            <a:picLocks noChangeAspect="1"/>
          </p:cNvPicPr>
          <p:nvPr/>
        </p:nvPicPr>
        <p:blipFill>
          <a:blip r:embed="rId3"/>
          <a:stretch>
            <a:fillRect/>
          </a:stretch>
        </p:blipFill>
        <p:spPr>
          <a:xfrm>
            <a:off x="6521501" y="1812341"/>
            <a:ext cx="307238" cy="307238"/>
          </a:xfrm>
          <a:prstGeom prst="rect">
            <a:avLst/>
          </a:prstGeom>
        </p:spPr>
      </p:pic>
      <p:sp>
        <p:nvSpPr>
          <p:cNvPr id="22" name="text-45"/>
          <p:cNvSpPr txBox="1"/>
          <p:nvPr/>
        </p:nvSpPr>
        <p:spPr>
          <a:xfrm>
            <a:off x="6400800" y="2377440"/>
            <a:ext cx="2194560" cy="320040"/>
          </a:xfrm>
          <a:prstGeom prst="rect">
            <a:avLst/>
          </a:prstGeom>
          <a:noFill/>
          <a:ln/>
        </p:spPr>
        <p:txBody>
          <a:bodyPr wrap="square" lIns="0" tIns="0" rIns="0" bIns="0" rtlCol="0" anchor="t"/>
          <a:lstStyle/>
          <a:p>
            <a:pPr marL="0" indent="0">
              <a:buNone/>
            </a:pPr>
            <a:r>
              <a:rPr lang="en-US" sz="1600" b="1" dirty="0">
                <a:solidFill>
                  <a:schemeClr val="tx1"/>
                </a:solidFill>
              </a:rPr>
              <a:t>Paper registers</a:t>
            </a:r>
            <a:endParaRPr lang="en-US" sz="1600" dirty="0"/>
          </a:p>
        </p:txBody>
      </p:sp>
      <p:sp>
        <p:nvSpPr>
          <p:cNvPr id="23" name="text-46"/>
          <p:cNvSpPr txBox="1"/>
          <p:nvPr/>
        </p:nvSpPr>
        <p:spPr>
          <a:xfrm>
            <a:off x="6400800" y="2724912"/>
            <a:ext cx="2194560" cy="777240"/>
          </a:xfrm>
          <a:prstGeom prst="rect">
            <a:avLst/>
          </a:prstGeom>
          <a:noFill/>
          <a:ln/>
        </p:spPr>
        <p:txBody>
          <a:bodyPr wrap="square" lIns="0" tIns="0" rIns="0" bIns="0" rtlCol="0" anchor="t"/>
          <a:lstStyle/>
          <a:p>
            <a:pPr marL="0" indent="0">
              <a:buNone/>
            </a:pPr>
            <a:r>
              <a:rPr lang="en-US" sz="1200" dirty="0">
                <a:solidFill>
                  <a:schemeClr val="tx2"/>
                </a:solidFill>
              </a:rPr>
              <a:t>Bookings live in books and spreadsheets, so the same parcel is recorded twice, differently.</a:t>
            </a:r>
            <a:endParaRPr lang="en-US" sz="1200" dirty="0"/>
          </a:p>
        </p:txBody>
      </p:sp>
      <p:sp>
        <p:nvSpPr>
          <p:cNvPr id="24" name="pain-card-47"/>
          <p:cNvSpPr/>
          <p:nvPr/>
        </p:nvSpPr>
        <p:spPr>
          <a:xfrm>
            <a:off x="8961120" y="1463040"/>
            <a:ext cx="2606040" cy="2103120"/>
          </a:xfrm>
          <a:prstGeom prst="roundRect">
            <a:avLst>
              <a:gd name="adj" fmla="val 5217"/>
            </a:avLst>
          </a:prstGeom>
          <a:solidFill>
            <a:schemeClr val="bg2"/>
          </a:solidFill>
          <a:ln/>
        </p:spPr>
      </p:sp>
      <p:sp>
        <p:nvSpPr>
          <p:cNvPr id="25" name="badge-48"/>
          <p:cNvSpPr/>
          <p:nvPr/>
        </p:nvSpPr>
        <p:spPr>
          <a:xfrm>
            <a:off x="9189720" y="1691640"/>
            <a:ext cx="548640" cy="548640"/>
          </a:xfrm>
          <a:prstGeom prst="ellipse">
            <a:avLst/>
          </a:prstGeom>
          <a:solidFill>
            <a:schemeClr val="tx1"/>
          </a:solidFill>
          <a:ln/>
        </p:spPr>
      </p:sp>
      <p:pic>
        <p:nvPicPr>
          <p:cNvPr id="26" name="icon-LuMapPinOff-49" descr="C:\Users\srest\AppData\Local\Temp\claude\C--Users-srest\52e86171-7f3f-4f9f-8710-1b05dd1b2558\scratchpad\deck\icons\LuMapPinOff_w.png"/>
          <p:cNvPicPr>
            <a:picLocks noChangeAspect="1"/>
          </p:cNvPicPr>
          <p:nvPr/>
        </p:nvPicPr>
        <p:blipFill>
          <a:blip r:embed="rId4"/>
          <a:stretch>
            <a:fillRect/>
          </a:stretch>
        </p:blipFill>
        <p:spPr>
          <a:xfrm>
            <a:off x="9310421" y="1812341"/>
            <a:ext cx="307238" cy="307238"/>
          </a:xfrm>
          <a:prstGeom prst="rect">
            <a:avLst/>
          </a:prstGeom>
        </p:spPr>
      </p:pic>
      <p:sp>
        <p:nvSpPr>
          <p:cNvPr id="27" name="text-50"/>
          <p:cNvSpPr txBox="1"/>
          <p:nvPr/>
        </p:nvSpPr>
        <p:spPr>
          <a:xfrm>
            <a:off x="9189720" y="2377440"/>
            <a:ext cx="2194560" cy="320040"/>
          </a:xfrm>
          <a:prstGeom prst="rect">
            <a:avLst/>
          </a:prstGeom>
          <a:noFill/>
          <a:ln/>
        </p:spPr>
        <p:txBody>
          <a:bodyPr wrap="square" lIns="0" tIns="0" rIns="0" bIns="0" rtlCol="0" anchor="t"/>
          <a:lstStyle/>
          <a:p>
            <a:pPr marL="0" indent="0">
              <a:buNone/>
            </a:pPr>
            <a:r>
              <a:rPr lang="en-US" sz="1600" b="1" dirty="0">
                <a:solidFill>
                  <a:schemeClr val="tx1"/>
                </a:solidFill>
              </a:rPr>
              <a:t>No visibility</a:t>
            </a:r>
            <a:endParaRPr lang="en-US" sz="1600" dirty="0"/>
          </a:p>
        </p:txBody>
      </p:sp>
      <p:sp>
        <p:nvSpPr>
          <p:cNvPr id="28" name="text-51"/>
          <p:cNvSpPr txBox="1"/>
          <p:nvPr/>
        </p:nvSpPr>
        <p:spPr>
          <a:xfrm>
            <a:off x="9189720" y="2724912"/>
            <a:ext cx="2194560" cy="777240"/>
          </a:xfrm>
          <a:prstGeom prst="rect">
            <a:avLst/>
          </a:prstGeom>
          <a:noFill/>
          <a:ln/>
        </p:spPr>
        <p:txBody>
          <a:bodyPr wrap="square" lIns="0" tIns="0" rIns="0" bIns="0" rtlCol="0" anchor="t"/>
          <a:lstStyle/>
          <a:p>
            <a:pPr marL="0" indent="0">
              <a:buNone/>
            </a:pPr>
            <a:r>
              <a:rPr lang="en-US" sz="1200" dirty="0">
                <a:solidFill>
                  <a:schemeClr val="tx2"/>
                </a:solidFill>
              </a:rPr>
              <a:t>A parcel's status lives in phone calls, not in a system a customer can check.</a:t>
            </a:r>
            <a:endParaRPr lang="en-US" sz="1200" dirty="0"/>
          </a:p>
        </p:txBody>
      </p:sp>
      <p:sp>
        <p:nvSpPr>
          <p:cNvPr id="29" name="pain-card-52"/>
          <p:cNvSpPr/>
          <p:nvPr/>
        </p:nvSpPr>
        <p:spPr>
          <a:xfrm>
            <a:off x="6172200" y="3749040"/>
            <a:ext cx="2606040" cy="2103120"/>
          </a:xfrm>
          <a:prstGeom prst="roundRect">
            <a:avLst>
              <a:gd name="adj" fmla="val 5217"/>
            </a:avLst>
          </a:prstGeom>
          <a:solidFill>
            <a:schemeClr val="bg2"/>
          </a:solidFill>
          <a:ln/>
        </p:spPr>
      </p:sp>
      <p:sp>
        <p:nvSpPr>
          <p:cNvPr id="30" name="badge-53"/>
          <p:cNvSpPr/>
          <p:nvPr/>
        </p:nvSpPr>
        <p:spPr>
          <a:xfrm>
            <a:off x="6400800" y="3977640"/>
            <a:ext cx="548640" cy="548640"/>
          </a:xfrm>
          <a:prstGeom prst="ellipse">
            <a:avLst/>
          </a:prstGeom>
          <a:solidFill>
            <a:schemeClr val="tx1"/>
          </a:solidFill>
          <a:ln/>
        </p:spPr>
      </p:sp>
      <p:pic>
        <p:nvPicPr>
          <p:cNvPr id="31" name="icon-LuCalculator-54" descr="C:\Users\srest\AppData\Local\Temp\claude\C--Users-srest\52e86171-7f3f-4f9f-8710-1b05dd1b2558\scratchpad\deck\icons\LuCalculator_w.png"/>
          <p:cNvPicPr>
            <a:picLocks noChangeAspect="1"/>
          </p:cNvPicPr>
          <p:nvPr/>
        </p:nvPicPr>
        <p:blipFill>
          <a:blip r:embed="rId5"/>
          <a:stretch>
            <a:fillRect/>
          </a:stretch>
        </p:blipFill>
        <p:spPr>
          <a:xfrm>
            <a:off x="6521501" y="4098341"/>
            <a:ext cx="307238" cy="307238"/>
          </a:xfrm>
          <a:prstGeom prst="rect">
            <a:avLst/>
          </a:prstGeom>
        </p:spPr>
      </p:pic>
      <p:sp>
        <p:nvSpPr>
          <p:cNvPr id="32" name="text-55"/>
          <p:cNvSpPr txBox="1"/>
          <p:nvPr/>
        </p:nvSpPr>
        <p:spPr>
          <a:xfrm>
            <a:off x="6400800" y="4663440"/>
            <a:ext cx="2194560" cy="320040"/>
          </a:xfrm>
          <a:prstGeom prst="rect">
            <a:avLst/>
          </a:prstGeom>
          <a:noFill/>
          <a:ln/>
        </p:spPr>
        <p:txBody>
          <a:bodyPr wrap="square" lIns="0" tIns="0" rIns="0" bIns="0" rtlCol="0" anchor="t"/>
          <a:lstStyle/>
          <a:p>
            <a:pPr marL="0" indent="0">
              <a:buNone/>
            </a:pPr>
            <a:r>
              <a:rPr lang="en-US" sz="1600" b="1" dirty="0">
                <a:solidFill>
                  <a:schemeClr val="tx1"/>
                </a:solidFill>
              </a:rPr>
              <a:t>Manual billing</a:t>
            </a:r>
            <a:endParaRPr lang="en-US" sz="1600" dirty="0"/>
          </a:p>
        </p:txBody>
      </p:sp>
      <p:sp>
        <p:nvSpPr>
          <p:cNvPr id="33" name="text-56"/>
          <p:cNvSpPr txBox="1"/>
          <p:nvPr/>
        </p:nvSpPr>
        <p:spPr>
          <a:xfrm>
            <a:off x="6400800" y="5010912"/>
            <a:ext cx="2194560" cy="777240"/>
          </a:xfrm>
          <a:prstGeom prst="rect">
            <a:avLst/>
          </a:prstGeom>
          <a:noFill/>
          <a:ln/>
        </p:spPr>
        <p:txBody>
          <a:bodyPr wrap="square" lIns="0" tIns="0" rIns="0" bIns="0" rtlCol="0" anchor="t"/>
          <a:lstStyle/>
          <a:p>
            <a:pPr marL="0" indent="0">
              <a:buNone/>
            </a:pPr>
            <a:r>
              <a:rPr lang="en-US" sz="1200" dirty="0">
                <a:solidFill>
                  <a:schemeClr val="tx2"/>
                </a:solidFill>
              </a:rPr>
              <a:t>Charges are worked out by hand, with no link to the parcel's weight or type.</a:t>
            </a:r>
            <a:endParaRPr lang="en-US" sz="1200" dirty="0"/>
          </a:p>
        </p:txBody>
      </p:sp>
      <p:sp>
        <p:nvSpPr>
          <p:cNvPr id="34" name="pain-card-57"/>
          <p:cNvSpPr/>
          <p:nvPr/>
        </p:nvSpPr>
        <p:spPr>
          <a:xfrm>
            <a:off x="8961120" y="3749040"/>
            <a:ext cx="2606040" cy="2103120"/>
          </a:xfrm>
          <a:prstGeom prst="roundRect">
            <a:avLst>
              <a:gd name="adj" fmla="val 5217"/>
            </a:avLst>
          </a:prstGeom>
          <a:solidFill>
            <a:schemeClr val="bg2"/>
          </a:solidFill>
          <a:ln/>
        </p:spPr>
      </p:sp>
      <p:sp>
        <p:nvSpPr>
          <p:cNvPr id="35" name="badge-58"/>
          <p:cNvSpPr/>
          <p:nvPr/>
        </p:nvSpPr>
        <p:spPr>
          <a:xfrm>
            <a:off x="9189720" y="3977640"/>
            <a:ext cx="548640" cy="548640"/>
          </a:xfrm>
          <a:prstGeom prst="ellipse">
            <a:avLst/>
          </a:prstGeom>
          <a:solidFill>
            <a:schemeClr val="tx1"/>
          </a:solidFill>
          <a:ln/>
        </p:spPr>
      </p:sp>
      <p:pic>
        <p:nvPicPr>
          <p:cNvPr id="36" name="icon-LuFileWarning-59" descr="C:\Users\srest\AppData\Local\Temp\claude\C--Users-srest\52e86171-7f3f-4f9f-8710-1b05dd1b2558\scratchpad\deck\icons\LuFileWarning_w.png"/>
          <p:cNvPicPr>
            <a:picLocks noChangeAspect="1"/>
          </p:cNvPicPr>
          <p:nvPr/>
        </p:nvPicPr>
        <p:blipFill>
          <a:blip r:embed="rId6"/>
          <a:stretch>
            <a:fillRect/>
          </a:stretch>
        </p:blipFill>
        <p:spPr>
          <a:xfrm>
            <a:off x="9310421" y="4098341"/>
            <a:ext cx="307238" cy="307238"/>
          </a:xfrm>
          <a:prstGeom prst="rect">
            <a:avLst/>
          </a:prstGeom>
        </p:spPr>
      </p:pic>
      <p:sp>
        <p:nvSpPr>
          <p:cNvPr id="37" name="text-60"/>
          <p:cNvSpPr txBox="1"/>
          <p:nvPr/>
        </p:nvSpPr>
        <p:spPr>
          <a:xfrm>
            <a:off x="9189720" y="4663440"/>
            <a:ext cx="2194560" cy="320040"/>
          </a:xfrm>
          <a:prstGeom prst="rect">
            <a:avLst/>
          </a:prstGeom>
          <a:noFill/>
          <a:ln/>
        </p:spPr>
        <p:txBody>
          <a:bodyPr wrap="square" lIns="0" tIns="0" rIns="0" bIns="0" rtlCol="0" anchor="t"/>
          <a:lstStyle/>
          <a:p>
            <a:pPr marL="0" indent="0">
              <a:buNone/>
            </a:pPr>
            <a:r>
              <a:rPr lang="en-US" sz="1600" b="1" dirty="0">
                <a:solidFill>
                  <a:schemeClr val="tx1"/>
                </a:solidFill>
              </a:rPr>
              <a:t>No history</a:t>
            </a:r>
            <a:endParaRPr lang="en-US" sz="1600" dirty="0"/>
          </a:p>
        </p:txBody>
      </p:sp>
      <p:sp>
        <p:nvSpPr>
          <p:cNvPr id="38" name="text-61"/>
          <p:cNvSpPr txBox="1"/>
          <p:nvPr/>
        </p:nvSpPr>
        <p:spPr>
          <a:xfrm>
            <a:off x="9189720" y="5010912"/>
            <a:ext cx="2194560" cy="777240"/>
          </a:xfrm>
          <a:prstGeom prst="rect">
            <a:avLst/>
          </a:prstGeom>
          <a:noFill/>
          <a:ln/>
        </p:spPr>
        <p:txBody>
          <a:bodyPr wrap="square" lIns="0" tIns="0" rIns="0" bIns="0" rtlCol="0" anchor="t"/>
          <a:lstStyle/>
          <a:p>
            <a:pPr marL="0" indent="0">
              <a:buNone/>
            </a:pPr>
            <a:r>
              <a:rPr lang="en-US" sz="1200" dirty="0">
                <a:solidFill>
                  <a:schemeClr val="tx2"/>
                </a:solidFill>
              </a:rPr>
              <a:t>When a status is overwritten, the earlier steps of the journey are lost.</a:t>
            </a:r>
            <a:endParaRPr lang="en-US" sz="1200" dirty="0"/>
          </a:p>
        </p:txBody>
      </p:sp>
      <p:sp>
        <p:nvSpPr>
          <p:cNvPr id="39"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7498080" cy="868680"/>
          </a:xfrm>
          <a:prstGeom prst="rect">
            <a:avLst/>
          </a:prstGeom>
          <a:noFill/>
          <a:ln/>
        </p:spPr>
        <p:txBody>
          <a:bodyPr wrap="square" lIns="0" tIns="0" rIns="0" bIns="0" rtlCol="0" anchor="ctr"/>
          <a:lstStyle/>
          <a:p>
            <a:pPr marL="0" indent="0" algn="l">
              <a:buNone/>
            </a:pPr>
            <a:r>
              <a:rPr lang="en-US" sz="2800" dirty="0">
                <a:solidFill>
                  <a:schemeClr val="tx1"/>
                </a:solidFill>
                <a:latin typeface="Segoe UI Semibold" pitchFamily="34" charset="0"/>
                <a:ea typeface="Segoe UI Semibold" pitchFamily="34" charset="-122"/>
                <a:cs typeface="Segoe UI Semibold" pitchFamily="34" charset="-120"/>
              </a:rPr>
              <a:t>Objectives, scope and intended users</a:t>
            </a:r>
            <a:endParaRPr lang="en-US" sz="2800" dirty="0"/>
          </a:p>
        </p:txBody>
      </p:sp>
      <p:sp>
        <p:nvSpPr>
          <p:cNvPr id="3" name="tracker-rail-62"/>
          <p:cNvSpPr/>
          <p:nvPr/>
        </p:nvSpPr>
        <p:spPr>
          <a:xfrm>
            <a:off x="8458200" y="566928"/>
            <a:ext cx="2926080" cy="0"/>
          </a:xfrm>
          <a:prstGeom prst="line">
            <a:avLst/>
          </a:prstGeom>
          <a:noFill/>
          <a:ln w="31750">
            <a:solidFill>
              <a:srgbClr val="D1D5DB"/>
            </a:solidFill>
            <a:prstDash val="solid"/>
          </a:ln>
        </p:spPr>
      </p:sp>
      <p:sp>
        <p:nvSpPr>
          <p:cNvPr id="4" name="tracker-dot-63"/>
          <p:cNvSpPr/>
          <p:nvPr/>
        </p:nvSpPr>
        <p:spPr>
          <a:xfrm>
            <a:off x="8339328" y="448056"/>
            <a:ext cx="237744" cy="237744"/>
          </a:xfrm>
          <a:prstGeom prst="ellipse">
            <a:avLst/>
          </a:prstGeom>
          <a:solidFill>
            <a:schemeClr val="accent1"/>
          </a:solidFill>
          <a:ln w="19050">
            <a:solidFill>
              <a:schemeClr val="accent1"/>
            </a:solidFill>
            <a:prstDash val="solid"/>
          </a:ln>
        </p:spPr>
      </p:sp>
      <p:sp>
        <p:nvSpPr>
          <p:cNvPr id="5" name="text-64"/>
          <p:cNvSpPr txBox="1"/>
          <p:nvPr/>
        </p:nvSpPr>
        <p:spPr>
          <a:xfrm>
            <a:off x="8001000" y="749808"/>
            <a:ext cx="914400" cy="228600"/>
          </a:xfrm>
          <a:prstGeom prst="rect">
            <a:avLst/>
          </a:prstGeom>
          <a:noFill/>
          <a:ln/>
        </p:spPr>
        <p:txBody>
          <a:bodyPr wrap="square" lIns="0" tIns="0" rIns="0" bIns="0" rtlCol="0" anchor="t"/>
          <a:lstStyle/>
          <a:p>
            <a:pPr marL="0" indent="0" algn="ctr">
              <a:buNone/>
            </a:pPr>
            <a:r>
              <a:rPr lang="en-US" sz="1000" b="1" dirty="0">
                <a:solidFill>
                  <a:schemeClr val="accent1"/>
                </a:solidFill>
              </a:rPr>
              <a:t>Problem</a:t>
            </a:r>
            <a:endParaRPr lang="en-US" sz="1000" dirty="0"/>
          </a:p>
        </p:txBody>
      </p:sp>
      <p:sp>
        <p:nvSpPr>
          <p:cNvPr id="6" name="tracker-dot-65"/>
          <p:cNvSpPr/>
          <p:nvPr/>
        </p:nvSpPr>
        <p:spPr>
          <a:xfrm>
            <a:off x="9116568" y="493776"/>
            <a:ext cx="146304" cy="146304"/>
          </a:xfrm>
          <a:prstGeom prst="ellipse">
            <a:avLst/>
          </a:prstGeom>
          <a:solidFill>
            <a:schemeClr val="bg1"/>
          </a:solidFill>
          <a:ln w="19050">
            <a:solidFill>
              <a:schemeClr val="accent6"/>
            </a:solidFill>
            <a:prstDash val="solid"/>
          </a:ln>
        </p:spPr>
      </p:sp>
      <p:sp>
        <p:nvSpPr>
          <p:cNvPr id="7" name="text-66"/>
          <p:cNvSpPr txBox="1"/>
          <p:nvPr/>
        </p:nvSpPr>
        <p:spPr>
          <a:xfrm>
            <a:off x="873252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ER &amp; Schema</a:t>
            </a:r>
            <a:endParaRPr lang="en-US" sz="1000" dirty="0"/>
          </a:p>
        </p:txBody>
      </p:sp>
      <p:sp>
        <p:nvSpPr>
          <p:cNvPr id="8" name="tracker-dot-67"/>
          <p:cNvSpPr/>
          <p:nvPr/>
        </p:nvSpPr>
        <p:spPr>
          <a:xfrm>
            <a:off x="9848088" y="493776"/>
            <a:ext cx="146304" cy="146304"/>
          </a:xfrm>
          <a:prstGeom prst="ellipse">
            <a:avLst/>
          </a:prstGeom>
          <a:solidFill>
            <a:schemeClr val="bg1"/>
          </a:solidFill>
          <a:ln w="19050">
            <a:solidFill>
              <a:schemeClr val="accent6"/>
            </a:solidFill>
            <a:prstDash val="solid"/>
          </a:ln>
        </p:spPr>
      </p:sp>
      <p:sp>
        <p:nvSpPr>
          <p:cNvPr id="9" name="text-68"/>
          <p:cNvSpPr txBox="1"/>
          <p:nvPr/>
        </p:nvSpPr>
        <p:spPr>
          <a:xfrm>
            <a:off x="946404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Database</a:t>
            </a:r>
            <a:endParaRPr lang="en-US" sz="1000" dirty="0"/>
          </a:p>
        </p:txBody>
      </p:sp>
      <p:sp>
        <p:nvSpPr>
          <p:cNvPr id="10" name="tracker-dot-69"/>
          <p:cNvSpPr/>
          <p:nvPr/>
        </p:nvSpPr>
        <p:spPr>
          <a:xfrm>
            <a:off x="10579608" y="493776"/>
            <a:ext cx="146304" cy="146304"/>
          </a:xfrm>
          <a:prstGeom prst="ellipse">
            <a:avLst/>
          </a:prstGeom>
          <a:solidFill>
            <a:schemeClr val="bg1"/>
          </a:solidFill>
          <a:ln w="19050">
            <a:solidFill>
              <a:schemeClr val="accent6"/>
            </a:solidFill>
            <a:prstDash val="solid"/>
          </a:ln>
        </p:spPr>
      </p:sp>
      <p:sp>
        <p:nvSpPr>
          <p:cNvPr id="11" name="text-70"/>
          <p:cNvSpPr txBox="1"/>
          <p:nvPr/>
        </p:nvSpPr>
        <p:spPr>
          <a:xfrm>
            <a:off x="1019556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UI Demo</a:t>
            </a:r>
            <a:endParaRPr lang="en-US" sz="1000" dirty="0"/>
          </a:p>
        </p:txBody>
      </p:sp>
      <p:sp>
        <p:nvSpPr>
          <p:cNvPr id="12" name="tracker-dot-71"/>
          <p:cNvSpPr/>
          <p:nvPr/>
        </p:nvSpPr>
        <p:spPr>
          <a:xfrm>
            <a:off x="11311128" y="493776"/>
            <a:ext cx="146304" cy="146304"/>
          </a:xfrm>
          <a:prstGeom prst="ellipse">
            <a:avLst/>
          </a:prstGeom>
          <a:solidFill>
            <a:schemeClr val="bg1"/>
          </a:solidFill>
          <a:ln w="19050">
            <a:solidFill>
              <a:schemeClr val="accent6"/>
            </a:solidFill>
            <a:prstDash val="solid"/>
          </a:ln>
        </p:spPr>
      </p:sp>
      <p:sp>
        <p:nvSpPr>
          <p:cNvPr id="13" name="text-72"/>
          <p:cNvSpPr txBox="1"/>
          <p:nvPr/>
        </p:nvSpPr>
        <p:spPr>
          <a:xfrm>
            <a:off x="1092708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Q&amp;A</a:t>
            </a:r>
            <a:endParaRPr lang="en-US" sz="1000" dirty="0"/>
          </a:p>
        </p:txBody>
      </p:sp>
      <p:sp>
        <p:nvSpPr>
          <p:cNvPr id="14" name="objectives-card-73"/>
          <p:cNvSpPr/>
          <p:nvPr/>
        </p:nvSpPr>
        <p:spPr>
          <a:xfrm>
            <a:off x="548640" y="1463040"/>
            <a:ext cx="3520440" cy="4709160"/>
          </a:xfrm>
          <a:prstGeom prst="roundRect">
            <a:avLst>
              <a:gd name="adj" fmla="val 3117"/>
            </a:avLst>
          </a:prstGeom>
          <a:solidFill>
            <a:schemeClr val="bg1"/>
          </a:solidFill>
          <a:ln/>
          <a:effectLst>
            <a:outerShdw blurRad="101600" dist="25400" dir="5400000" algn="bl" rotWithShape="0">
              <a:srgbClr val="000000">
                <a:alpha val="10000"/>
              </a:srgbClr>
            </a:outerShdw>
          </a:effectLst>
        </p:spPr>
      </p:sp>
      <p:sp>
        <p:nvSpPr>
          <p:cNvPr id="15" name="badge-74"/>
          <p:cNvSpPr/>
          <p:nvPr/>
        </p:nvSpPr>
        <p:spPr>
          <a:xfrm>
            <a:off x="822960" y="1737360"/>
            <a:ext cx="502920" cy="502920"/>
          </a:xfrm>
          <a:prstGeom prst="ellipse">
            <a:avLst/>
          </a:prstGeom>
          <a:solidFill>
            <a:schemeClr val="accent1"/>
          </a:solidFill>
          <a:ln/>
        </p:spPr>
      </p:sp>
      <p:pic>
        <p:nvPicPr>
          <p:cNvPr id="16" name="icon-LuTarget-75" descr="C:\Users\srest\AppData\Local\Temp\claude\C--Users-srest\52e86171-7f3f-4f9f-8710-1b05dd1b2558\scratchpad\deck\icons\LuTarget_w.png"/>
          <p:cNvPicPr>
            <a:picLocks noChangeAspect="1"/>
          </p:cNvPicPr>
          <p:nvPr/>
        </p:nvPicPr>
        <p:blipFill>
          <a:blip r:embed="rId3"/>
          <a:stretch>
            <a:fillRect/>
          </a:stretch>
        </p:blipFill>
        <p:spPr>
          <a:xfrm>
            <a:off x="933602" y="1848002"/>
            <a:ext cx="281635" cy="281635"/>
          </a:xfrm>
          <a:prstGeom prst="rect">
            <a:avLst/>
          </a:prstGeom>
        </p:spPr>
      </p:pic>
      <p:sp>
        <p:nvSpPr>
          <p:cNvPr id="17" name="text-76"/>
          <p:cNvSpPr txBox="1"/>
          <p:nvPr/>
        </p:nvSpPr>
        <p:spPr>
          <a:xfrm>
            <a:off x="1463040" y="1810512"/>
            <a:ext cx="2286000" cy="365760"/>
          </a:xfrm>
          <a:prstGeom prst="rect">
            <a:avLst/>
          </a:prstGeom>
          <a:noFill/>
          <a:ln/>
        </p:spPr>
        <p:txBody>
          <a:bodyPr wrap="square" lIns="0" tIns="0" rIns="0" bIns="0" rtlCol="0" anchor="t"/>
          <a:lstStyle/>
          <a:p>
            <a:pPr marL="0" indent="0">
              <a:buNone/>
            </a:pPr>
            <a:r>
              <a:rPr lang="en-US" sz="1800" b="1" dirty="0">
                <a:solidFill>
                  <a:schemeClr val="tx1"/>
                </a:solidFill>
              </a:rPr>
              <a:t>Objectives</a:t>
            </a:r>
            <a:endParaRPr lang="en-US" sz="1800" dirty="0"/>
          </a:p>
        </p:txBody>
      </p:sp>
      <p:sp>
        <p:nvSpPr>
          <p:cNvPr id="18" name="text-77"/>
          <p:cNvSpPr txBox="1"/>
          <p:nvPr/>
        </p:nvSpPr>
        <p:spPr>
          <a:xfrm>
            <a:off x="822960" y="2468880"/>
            <a:ext cx="3017520" cy="3520440"/>
          </a:xfrm>
          <a:prstGeom prst="rect">
            <a:avLst/>
          </a:prstGeom>
          <a:noFill/>
          <a:ln/>
        </p:spPr>
        <p:txBody>
          <a:bodyPr wrap="square" lIns="0" tIns="0" rIns="0" bIns="0" rtlCol="0" anchor="t"/>
          <a:lstStyle/>
          <a:p>
            <a:pPr marL="342900" indent="-342900">
              <a:spcAft>
                <a:spcPts val="700"/>
              </a:spcAft>
              <a:buSzPct val="100000"/>
              <a:buFont typeface="+mj-lt"/>
              <a:buAutoNum type="arabicPeriod"/>
            </a:pPr>
            <a:r>
              <a:rPr lang="en-US" sz="1400" dirty="0">
                <a:solidFill>
                  <a:schemeClr val="tx1"/>
                </a:solidFill>
              </a:rPr>
              <a:t>Book a parcel online, with the charge calculated automatically</a:t>
            </a:r>
            <a:endParaRPr lang="en-US" sz="1400" dirty="0"/>
          </a:p>
          <a:p>
            <a:pPr marL="342900" indent="-342900">
              <a:spcAft>
                <a:spcPts val="700"/>
              </a:spcAft>
              <a:buSzPct val="100000"/>
              <a:buFont typeface="+mj-lt"/>
              <a:buAutoNum type="arabicPeriod"/>
            </a:pPr>
            <a:r>
              <a:rPr lang="en-US" sz="1400" dirty="0">
                <a:solidFill>
                  <a:schemeClr val="tx1"/>
                </a:solidFill>
              </a:rPr>
              <a:t>Give every parcel a unique tracking ID and a QR code</a:t>
            </a:r>
            <a:endParaRPr lang="en-US" sz="1400" dirty="0"/>
          </a:p>
          <a:p>
            <a:pPr marL="342900" indent="-342900">
              <a:spcAft>
                <a:spcPts val="700"/>
              </a:spcAft>
              <a:buSzPct val="100000"/>
              <a:buFont typeface="+mj-lt"/>
              <a:buAutoNum type="arabicPeriod"/>
            </a:pPr>
            <a:r>
              <a:rPr lang="en-US" sz="1400" dirty="0">
                <a:solidFill>
                  <a:schemeClr val="tx1"/>
                </a:solidFill>
              </a:rPr>
              <a:t>Store every status change as a new history row</a:t>
            </a:r>
            <a:endParaRPr lang="en-US" sz="1400" dirty="0"/>
          </a:p>
          <a:p>
            <a:pPr marL="342900" indent="-342900">
              <a:spcAft>
                <a:spcPts val="700"/>
              </a:spcAft>
              <a:buSzPct val="100000"/>
              <a:buFont typeface="+mj-lt"/>
              <a:buAutoNum type="arabicPeriod"/>
            </a:pPr>
            <a:r>
              <a:rPr lang="en-US" sz="1400" dirty="0">
                <a:solidFill>
                  <a:schemeClr val="tx1"/>
                </a:solidFill>
              </a:rPr>
              <a:t>Normalise the design to 3NF and enforce it with constraints</a:t>
            </a:r>
            <a:endParaRPr lang="en-US" sz="1400" dirty="0"/>
          </a:p>
          <a:p>
            <a:pPr marL="342900" indent="-342900">
              <a:spcAft>
                <a:spcPts val="700"/>
              </a:spcAft>
              <a:buSzPct val="100000"/>
              <a:buFont typeface="+mj-lt"/>
              <a:buAutoNum type="arabicPeriod"/>
            </a:pPr>
            <a:r>
              <a:rPr lang="en-US" sz="1400" dirty="0">
                <a:solidFill>
                  <a:schemeClr val="tx1"/>
                </a:solidFill>
              </a:rPr>
              <a:t>Show admins live statistics straight from SQL</a:t>
            </a:r>
            <a:endParaRPr lang="en-US" sz="1400" dirty="0"/>
          </a:p>
        </p:txBody>
      </p:sp>
      <p:sp>
        <p:nvSpPr>
          <p:cNvPr id="19" name="scope-card-78"/>
          <p:cNvSpPr/>
          <p:nvPr/>
        </p:nvSpPr>
        <p:spPr>
          <a:xfrm>
            <a:off x="4334256" y="1463040"/>
            <a:ext cx="3520440" cy="4709160"/>
          </a:xfrm>
          <a:prstGeom prst="roundRect">
            <a:avLst>
              <a:gd name="adj" fmla="val 3117"/>
            </a:avLst>
          </a:prstGeom>
          <a:solidFill>
            <a:schemeClr val="bg1"/>
          </a:solidFill>
          <a:ln/>
          <a:effectLst>
            <a:outerShdw blurRad="101600" dist="25400" dir="5400000" algn="bl" rotWithShape="0">
              <a:srgbClr val="000000">
                <a:alpha val="10000"/>
              </a:srgbClr>
            </a:outerShdw>
          </a:effectLst>
        </p:spPr>
      </p:sp>
      <p:sp>
        <p:nvSpPr>
          <p:cNvPr id="20" name="badge-79"/>
          <p:cNvSpPr/>
          <p:nvPr/>
        </p:nvSpPr>
        <p:spPr>
          <a:xfrm>
            <a:off x="4608576" y="1737360"/>
            <a:ext cx="502920" cy="502920"/>
          </a:xfrm>
          <a:prstGeom prst="ellipse">
            <a:avLst/>
          </a:prstGeom>
          <a:solidFill>
            <a:schemeClr val="accent1"/>
          </a:solidFill>
          <a:ln/>
        </p:spPr>
      </p:sp>
      <p:pic>
        <p:nvPicPr>
          <p:cNvPr id="21" name="icon-LuLayers-80" descr="C:\Users\srest\AppData\Local\Temp\claude\C--Users-srest\52e86171-7f3f-4f9f-8710-1b05dd1b2558\scratchpad\deck\icons\LuLayers_w.png"/>
          <p:cNvPicPr>
            <a:picLocks noChangeAspect="1"/>
          </p:cNvPicPr>
          <p:nvPr/>
        </p:nvPicPr>
        <p:blipFill>
          <a:blip r:embed="rId4"/>
          <a:stretch>
            <a:fillRect/>
          </a:stretch>
        </p:blipFill>
        <p:spPr>
          <a:xfrm>
            <a:off x="4719218" y="1848002"/>
            <a:ext cx="281635" cy="281635"/>
          </a:xfrm>
          <a:prstGeom prst="rect">
            <a:avLst/>
          </a:prstGeom>
        </p:spPr>
      </p:pic>
      <p:sp>
        <p:nvSpPr>
          <p:cNvPr id="22" name="text-81"/>
          <p:cNvSpPr txBox="1"/>
          <p:nvPr/>
        </p:nvSpPr>
        <p:spPr>
          <a:xfrm>
            <a:off x="5248656" y="1810512"/>
            <a:ext cx="2286000" cy="365760"/>
          </a:xfrm>
          <a:prstGeom prst="rect">
            <a:avLst/>
          </a:prstGeom>
          <a:noFill/>
          <a:ln/>
        </p:spPr>
        <p:txBody>
          <a:bodyPr wrap="square" lIns="0" tIns="0" rIns="0" bIns="0" rtlCol="0" anchor="t"/>
          <a:lstStyle/>
          <a:p>
            <a:pPr marL="0" indent="0">
              <a:buNone/>
            </a:pPr>
            <a:r>
              <a:rPr lang="en-US" sz="1800" b="1" dirty="0">
                <a:solidFill>
                  <a:schemeClr val="tx1"/>
                </a:solidFill>
              </a:rPr>
              <a:t>Scope</a:t>
            </a:r>
            <a:endParaRPr lang="en-US" sz="1800" dirty="0"/>
          </a:p>
        </p:txBody>
      </p:sp>
      <p:sp>
        <p:nvSpPr>
          <p:cNvPr id="23" name="text-82"/>
          <p:cNvSpPr txBox="1"/>
          <p:nvPr/>
        </p:nvSpPr>
        <p:spPr>
          <a:xfrm>
            <a:off x="4608576" y="2468880"/>
            <a:ext cx="2743200" cy="228600"/>
          </a:xfrm>
          <a:prstGeom prst="rect">
            <a:avLst/>
          </a:prstGeom>
          <a:noFill/>
          <a:ln/>
        </p:spPr>
        <p:txBody>
          <a:bodyPr wrap="square" lIns="0" tIns="0" rIns="0" bIns="0" rtlCol="0" anchor="t"/>
          <a:lstStyle/>
          <a:p>
            <a:pPr marL="0" indent="0">
              <a:buNone/>
            </a:pPr>
            <a:r>
              <a:rPr lang="en-US" sz="1100" b="1" kern="0" spc="120" dirty="0">
                <a:solidFill>
                  <a:schemeClr val="accent2"/>
                </a:solidFill>
              </a:rPr>
              <a:t>IN SCOPE</a:t>
            </a:r>
            <a:endParaRPr lang="en-US" sz="1100" dirty="0"/>
          </a:p>
        </p:txBody>
      </p:sp>
      <p:sp>
        <p:nvSpPr>
          <p:cNvPr id="24" name="text-83"/>
          <p:cNvSpPr txBox="1"/>
          <p:nvPr/>
        </p:nvSpPr>
        <p:spPr>
          <a:xfrm>
            <a:off x="4608576" y="2743200"/>
            <a:ext cx="3017520" cy="16002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Customer accounts and admin roles</a:t>
            </a:r>
            <a:endParaRPr lang="en-US" sz="1400" dirty="0"/>
          </a:p>
          <a:p>
            <a:pPr marL="342900" indent="-342900">
              <a:spcAft>
                <a:spcPts val="500"/>
              </a:spcAft>
              <a:buSzPct val="100000"/>
              <a:buChar char="•"/>
            </a:pPr>
            <a:r>
              <a:rPr lang="en-US" sz="1400" dirty="0">
                <a:solidFill>
                  <a:schemeClr val="tx1"/>
                </a:solidFill>
              </a:rPr>
              <a:t>Parcel booking and charges</a:t>
            </a:r>
            <a:endParaRPr lang="en-US" sz="1400" dirty="0"/>
          </a:p>
          <a:p>
            <a:pPr marL="342900" indent="-342900">
              <a:spcAft>
                <a:spcPts val="500"/>
              </a:spcAft>
              <a:buSzPct val="100000"/>
              <a:buChar char="•"/>
            </a:pPr>
            <a:r>
              <a:rPr lang="en-US" sz="1400" dirty="0">
                <a:solidFill>
                  <a:schemeClr val="tx1"/>
                </a:solidFill>
              </a:rPr>
              <a:t>Tracking history and public tracking</a:t>
            </a:r>
            <a:endParaRPr lang="en-US" sz="1400" dirty="0"/>
          </a:p>
          <a:p>
            <a:pPr marL="342900" indent="-342900">
              <a:spcAft>
                <a:spcPts val="500"/>
              </a:spcAft>
              <a:buSzPct val="100000"/>
              <a:buChar char="•"/>
            </a:pPr>
            <a:r>
              <a:rPr lang="en-US" sz="1400" dirty="0">
                <a:solidFill>
                  <a:schemeClr val="tx1"/>
                </a:solidFill>
              </a:rPr>
              <a:t>QR codes, simulated payments, dashboard</a:t>
            </a:r>
            <a:endParaRPr lang="en-US" sz="1400" dirty="0"/>
          </a:p>
        </p:txBody>
      </p:sp>
      <p:sp>
        <p:nvSpPr>
          <p:cNvPr id="25" name="text-84"/>
          <p:cNvSpPr txBox="1"/>
          <p:nvPr/>
        </p:nvSpPr>
        <p:spPr>
          <a:xfrm>
            <a:off x="4608576" y="4480560"/>
            <a:ext cx="3017520" cy="228600"/>
          </a:xfrm>
          <a:prstGeom prst="rect">
            <a:avLst/>
          </a:prstGeom>
          <a:noFill/>
          <a:ln/>
        </p:spPr>
        <p:txBody>
          <a:bodyPr wrap="square" lIns="0" tIns="0" rIns="0" bIns="0" rtlCol="0" anchor="t"/>
          <a:lstStyle/>
          <a:p>
            <a:pPr marL="0" indent="0">
              <a:buNone/>
            </a:pPr>
            <a:r>
              <a:rPr lang="en-US" sz="1100" b="1" kern="0" spc="120" dirty="0">
                <a:solidFill>
                  <a:schemeClr val="accent6"/>
                </a:solidFill>
              </a:rPr>
              <a:t>OUT OF SCOPE (FUTURE)</a:t>
            </a:r>
            <a:endParaRPr lang="en-US" sz="1100" dirty="0"/>
          </a:p>
        </p:txBody>
      </p:sp>
      <p:sp>
        <p:nvSpPr>
          <p:cNvPr id="26" name="text-85"/>
          <p:cNvSpPr txBox="1"/>
          <p:nvPr/>
        </p:nvSpPr>
        <p:spPr>
          <a:xfrm>
            <a:off x="4608576" y="4754880"/>
            <a:ext cx="3017520" cy="12344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Real payment gateway</a:t>
            </a:r>
            <a:endParaRPr lang="en-US" sz="1400" dirty="0"/>
          </a:p>
          <a:p>
            <a:pPr marL="342900" indent="-342900">
              <a:spcAft>
                <a:spcPts val="500"/>
              </a:spcAft>
              <a:buSzPct val="100000"/>
              <a:buChar char="•"/>
            </a:pPr>
            <a:r>
              <a:rPr lang="en-US" sz="1400" dirty="0">
                <a:solidFill>
                  <a:schemeClr val="tx2"/>
                </a:solidFill>
              </a:rPr>
              <a:t>Live GPS location</a:t>
            </a:r>
            <a:endParaRPr lang="en-US" sz="1400" dirty="0"/>
          </a:p>
          <a:p>
            <a:pPr marL="342900" indent="-342900">
              <a:spcAft>
                <a:spcPts val="500"/>
              </a:spcAft>
              <a:buSzPct val="100000"/>
              <a:buChar char="•"/>
            </a:pPr>
            <a:r>
              <a:rPr lang="en-US" sz="1400" dirty="0">
                <a:solidFill>
                  <a:schemeClr val="tx2"/>
                </a:solidFill>
              </a:rPr>
              <a:t>SMS and email alerts</a:t>
            </a:r>
            <a:endParaRPr lang="en-US" sz="1400" dirty="0"/>
          </a:p>
        </p:txBody>
      </p:sp>
      <p:sp>
        <p:nvSpPr>
          <p:cNvPr id="27" name="users-card-86"/>
          <p:cNvSpPr/>
          <p:nvPr/>
        </p:nvSpPr>
        <p:spPr>
          <a:xfrm>
            <a:off x="8119872" y="1463040"/>
            <a:ext cx="3520440" cy="4709160"/>
          </a:xfrm>
          <a:prstGeom prst="roundRect">
            <a:avLst>
              <a:gd name="adj" fmla="val 3117"/>
            </a:avLst>
          </a:prstGeom>
          <a:solidFill>
            <a:schemeClr val="bg1"/>
          </a:solidFill>
          <a:ln/>
          <a:effectLst>
            <a:outerShdw blurRad="101600" dist="25400" dir="5400000" algn="bl" rotWithShape="0">
              <a:srgbClr val="000000">
                <a:alpha val="10000"/>
              </a:srgbClr>
            </a:outerShdw>
          </a:effectLst>
        </p:spPr>
      </p:sp>
      <p:sp>
        <p:nvSpPr>
          <p:cNvPr id="28" name="badge-87"/>
          <p:cNvSpPr/>
          <p:nvPr/>
        </p:nvSpPr>
        <p:spPr>
          <a:xfrm>
            <a:off x="8394192" y="1737360"/>
            <a:ext cx="502920" cy="502920"/>
          </a:xfrm>
          <a:prstGeom prst="ellipse">
            <a:avLst/>
          </a:prstGeom>
          <a:solidFill>
            <a:schemeClr val="accent1"/>
          </a:solidFill>
          <a:ln/>
        </p:spPr>
      </p:sp>
      <p:pic>
        <p:nvPicPr>
          <p:cNvPr id="29" name="icon-LuUsers-88" descr="C:\Users\srest\AppData\Local\Temp\claude\C--Users-srest\52e86171-7f3f-4f9f-8710-1b05dd1b2558\scratchpad\deck\icons\LuUsers_w.png"/>
          <p:cNvPicPr>
            <a:picLocks noChangeAspect="1"/>
          </p:cNvPicPr>
          <p:nvPr/>
        </p:nvPicPr>
        <p:blipFill>
          <a:blip r:embed="rId5"/>
          <a:stretch>
            <a:fillRect/>
          </a:stretch>
        </p:blipFill>
        <p:spPr>
          <a:xfrm>
            <a:off x="8504834" y="1848002"/>
            <a:ext cx="281635" cy="281635"/>
          </a:xfrm>
          <a:prstGeom prst="rect">
            <a:avLst/>
          </a:prstGeom>
        </p:spPr>
      </p:pic>
      <p:sp>
        <p:nvSpPr>
          <p:cNvPr id="30" name="text-89"/>
          <p:cNvSpPr txBox="1"/>
          <p:nvPr/>
        </p:nvSpPr>
        <p:spPr>
          <a:xfrm>
            <a:off x="9034272" y="1810512"/>
            <a:ext cx="2377440" cy="365760"/>
          </a:xfrm>
          <a:prstGeom prst="rect">
            <a:avLst/>
          </a:prstGeom>
          <a:noFill/>
          <a:ln/>
        </p:spPr>
        <p:txBody>
          <a:bodyPr wrap="square" lIns="0" tIns="0" rIns="0" bIns="0" rtlCol="0" anchor="t"/>
          <a:lstStyle/>
          <a:p>
            <a:pPr marL="0" indent="0">
              <a:buNone/>
            </a:pPr>
            <a:r>
              <a:rPr lang="en-US" sz="1800" b="1" dirty="0">
                <a:solidFill>
                  <a:schemeClr val="tx1"/>
                </a:solidFill>
              </a:rPr>
              <a:t>Intended users</a:t>
            </a:r>
            <a:endParaRPr lang="en-US" sz="1800" dirty="0"/>
          </a:p>
        </p:txBody>
      </p:sp>
      <p:pic>
        <p:nvPicPr>
          <p:cNvPr id="31" name="icon-LuUser-90" descr="C:\Users\srest\AppData\Local\Temp\claude\C--Users-srest\52e86171-7f3f-4f9f-8710-1b05dd1b2558\scratchpad\deck\icons\LuUser_o.png"/>
          <p:cNvPicPr>
            <a:picLocks noChangeAspect="1"/>
          </p:cNvPicPr>
          <p:nvPr/>
        </p:nvPicPr>
        <p:blipFill>
          <a:blip r:embed="rId6"/>
          <a:stretch>
            <a:fillRect/>
          </a:stretch>
        </p:blipFill>
        <p:spPr>
          <a:xfrm>
            <a:off x="8412480" y="2532888"/>
            <a:ext cx="329184" cy="329184"/>
          </a:xfrm>
          <a:prstGeom prst="rect">
            <a:avLst/>
          </a:prstGeom>
        </p:spPr>
      </p:pic>
      <p:sp>
        <p:nvSpPr>
          <p:cNvPr id="32" name="text-91"/>
          <p:cNvSpPr txBox="1"/>
          <p:nvPr/>
        </p:nvSpPr>
        <p:spPr>
          <a:xfrm>
            <a:off x="8897112" y="2487168"/>
            <a:ext cx="2514600" cy="566928"/>
          </a:xfrm>
          <a:prstGeom prst="rect">
            <a:avLst/>
          </a:prstGeom>
          <a:noFill/>
          <a:ln/>
        </p:spPr>
        <p:txBody>
          <a:bodyPr wrap="square" lIns="0" tIns="0" rIns="0" bIns="0" rtlCol="0" anchor="t"/>
          <a:lstStyle/>
          <a:p>
            <a:pPr marL="0" indent="0">
              <a:buNone/>
            </a:pPr>
            <a:r>
              <a:rPr lang="en-US" sz="1400" b="1" dirty="0">
                <a:solidFill>
                  <a:schemeClr val="tx1"/>
                </a:solidFill>
              </a:rPr>
              <a:t>Customer</a:t>
            </a:r>
            <a:endParaRPr lang="en-US" sz="1400" dirty="0"/>
          </a:p>
          <a:p>
            <a:pPr marL="0" indent="0">
              <a:buNone/>
            </a:pPr>
            <a:r>
              <a:rPr lang="en-US" sz="1200" dirty="0">
                <a:solidFill>
                  <a:schemeClr val="accent6"/>
                </a:solidFill>
              </a:rPr>
              <a:t>registers, books and tracks parcels</a:t>
            </a:r>
            <a:endParaRPr lang="en-US" sz="1400" dirty="0"/>
          </a:p>
        </p:txBody>
      </p:sp>
      <p:pic>
        <p:nvPicPr>
          <p:cNvPr id="33" name="icon-LuUserCheck-92" descr="C:\Users\srest\AppData\Local\Temp\claude\C--Users-srest\52e86171-7f3f-4f9f-8710-1b05dd1b2558\scratchpad\deck\icons\LuUserCheck_o.png"/>
          <p:cNvPicPr>
            <a:picLocks noChangeAspect="1"/>
          </p:cNvPicPr>
          <p:nvPr/>
        </p:nvPicPr>
        <p:blipFill>
          <a:blip r:embed="rId7"/>
          <a:stretch>
            <a:fillRect/>
          </a:stretch>
        </p:blipFill>
        <p:spPr>
          <a:xfrm>
            <a:off x="8412480" y="3246120"/>
            <a:ext cx="329184" cy="329184"/>
          </a:xfrm>
          <a:prstGeom prst="rect">
            <a:avLst/>
          </a:prstGeom>
        </p:spPr>
      </p:pic>
      <p:sp>
        <p:nvSpPr>
          <p:cNvPr id="34" name="text-93"/>
          <p:cNvSpPr txBox="1"/>
          <p:nvPr/>
        </p:nvSpPr>
        <p:spPr>
          <a:xfrm>
            <a:off x="8897112" y="3200400"/>
            <a:ext cx="2514600" cy="566928"/>
          </a:xfrm>
          <a:prstGeom prst="rect">
            <a:avLst/>
          </a:prstGeom>
          <a:noFill/>
          <a:ln/>
        </p:spPr>
        <p:txBody>
          <a:bodyPr wrap="square" lIns="0" tIns="0" rIns="0" bIns="0" rtlCol="0" anchor="t"/>
          <a:lstStyle/>
          <a:p>
            <a:pPr marL="0" indent="0">
              <a:buNone/>
            </a:pPr>
            <a:r>
              <a:rPr lang="en-US" sz="1400" b="1" dirty="0">
                <a:solidFill>
                  <a:schemeClr val="tx1"/>
                </a:solidFill>
              </a:rPr>
              <a:t>Admin / staff</a:t>
            </a:r>
            <a:endParaRPr lang="en-US" sz="1400" dirty="0"/>
          </a:p>
          <a:p>
            <a:pPr marL="0" indent="0">
              <a:buNone/>
            </a:pPr>
            <a:r>
              <a:rPr lang="en-US" sz="1200" dirty="0">
                <a:solidFill>
                  <a:schemeClr val="accent6"/>
                </a:solidFill>
              </a:rPr>
              <a:t>updates status, location and remarks</a:t>
            </a:r>
            <a:endParaRPr lang="en-US" sz="1400" dirty="0"/>
          </a:p>
        </p:txBody>
      </p:sp>
      <p:pic>
        <p:nvPicPr>
          <p:cNvPr id="35" name="icon-LuScan-94" descr="C:\Users\srest\AppData\Local\Temp\claude\C--Users-srest\52e86171-7f3f-4f9f-8710-1b05dd1b2558\scratchpad\deck\icons\LuScan_o.png"/>
          <p:cNvPicPr>
            <a:picLocks noChangeAspect="1"/>
          </p:cNvPicPr>
          <p:nvPr/>
        </p:nvPicPr>
        <p:blipFill>
          <a:blip r:embed="rId8"/>
          <a:stretch>
            <a:fillRect/>
          </a:stretch>
        </p:blipFill>
        <p:spPr>
          <a:xfrm>
            <a:off x="8412480" y="3959352"/>
            <a:ext cx="329184" cy="329184"/>
          </a:xfrm>
          <a:prstGeom prst="rect">
            <a:avLst/>
          </a:prstGeom>
        </p:spPr>
      </p:pic>
      <p:sp>
        <p:nvSpPr>
          <p:cNvPr id="36" name="text-95"/>
          <p:cNvSpPr txBox="1"/>
          <p:nvPr/>
        </p:nvSpPr>
        <p:spPr>
          <a:xfrm>
            <a:off x="8897112" y="3913632"/>
            <a:ext cx="2514600" cy="566928"/>
          </a:xfrm>
          <a:prstGeom prst="rect">
            <a:avLst/>
          </a:prstGeom>
          <a:noFill/>
          <a:ln/>
        </p:spPr>
        <p:txBody>
          <a:bodyPr wrap="square" lIns="0" tIns="0" rIns="0" bIns="0" rtlCol="0" anchor="t"/>
          <a:lstStyle/>
          <a:p>
            <a:pPr marL="0" indent="0">
              <a:buNone/>
            </a:pPr>
            <a:r>
              <a:rPr lang="en-US" sz="1400" b="1" dirty="0">
                <a:solidFill>
                  <a:schemeClr val="tx1"/>
                </a:solidFill>
              </a:rPr>
              <a:t>Public visitor</a:t>
            </a:r>
            <a:endParaRPr lang="en-US" sz="1400" dirty="0"/>
          </a:p>
          <a:p>
            <a:pPr marL="0" indent="0">
              <a:buNone/>
            </a:pPr>
            <a:r>
              <a:rPr lang="en-US" sz="1200" dirty="0">
                <a:solidFill>
                  <a:schemeClr val="accent6"/>
                </a:solidFill>
              </a:rPr>
              <a:t>tracks by ID or QR scan, no login</a:t>
            </a:r>
            <a:endParaRPr lang="en-US" sz="1400" dirty="0"/>
          </a:p>
        </p:txBody>
      </p:sp>
      <p:pic>
        <p:nvPicPr>
          <p:cNvPr id="37" name="icon-LuPackageCheck-96" descr="C:\Users\srest\AppData\Local\Temp\claude\C--Users-srest\52e86171-7f3f-4f9f-8710-1b05dd1b2558\scratchpad\deck\icons\LuPackageCheck_o.png"/>
          <p:cNvPicPr>
            <a:picLocks noChangeAspect="1"/>
          </p:cNvPicPr>
          <p:nvPr/>
        </p:nvPicPr>
        <p:blipFill>
          <a:blip r:embed="rId9"/>
          <a:stretch>
            <a:fillRect/>
          </a:stretch>
        </p:blipFill>
        <p:spPr>
          <a:xfrm>
            <a:off x="8412480" y="4672584"/>
            <a:ext cx="329184" cy="329184"/>
          </a:xfrm>
          <a:prstGeom prst="rect">
            <a:avLst/>
          </a:prstGeom>
        </p:spPr>
      </p:pic>
      <p:sp>
        <p:nvSpPr>
          <p:cNvPr id="38" name="text-97"/>
          <p:cNvSpPr txBox="1"/>
          <p:nvPr/>
        </p:nvSpPr>
        <p:spPr>
          <a:xfrm>
            <a:off x="8897112" y="4626864"/>
            <a:ext cx="2514600" cy="566928"/>
          </a:xfrm>
          <a:prstGeom prst="rect">
            <a:avLst/>
          </a:prstGeom>
          <a:noFill/>
          <a:ln/>
        </p:spPr>
        <p:txBody>
          <a:bodyPr wrap="square" lIns="0" tIns="0" rIns="0" bIns="0" rtlCol="0" anchor="t"/>
          <a:lstStyle/>
          <a:p>
            <a:pPr marL="0" indent="0">
              <a:buNone/>
            </a:pPr>
            <a:r>
              <a:rPr lang="en-US" sz="1400" b="1" dirty="0">
                <a:solidFill>
                  <a:schemeClr val="tx1"/>
                </a:solidFill>
              </a:rPr>
              <a:t>Receiver</a:t>
            </a:r>
            <a:endParaRPr lang="en-US" sz="1400" dirty="0"/>
          </a:p>
          <a:p>
            <a:pPr marL="0" indent="0">
              <a:buNone/>
            </a:pPr>
            <a:r>
              <a:rPr lang="en-US" sz="1200" dirty="0">
                <a:solidFill>
                  <a:schemeClr val="accent6"/>
                </a:solidFill>
              </a:rPr>
              <a:t>scans the QR to see delivery status</a:t>
            </a:r>
            <a:endParaRPr lang="en-US" sz="1400" dirty="0"/>
          </a:p>
        </p:txBody>
      </p:sp>
      <p:pic>
        <p:nvPicPr>
          <p:cNvPr id="39" name="icon-LuBriefcase-98" descr="C:\Users\srest\AppData\Local\Temp\claude\C--Users-srest\52e86171-7f3f-4f9f-8710-1b05dd1b2558\scratchpad\deck\icons\LuBriefcase_o.png"/>
          <p:cNvPicPr>
            <a:picLocks noChangeAspect="1"/>
          </p:cNvPicPr>
          <p:nvPr/>
        </p:nvPicPr>
        <p:blipFill>
          <a:blip r:embed="rId10"/>
          <a:stretch>
            <a:fillRect/>
          </a:stretch>
        </p:blipFill>
        <p:spPr>
          <a:xfrm>
            <a:off x="8412480" y="5385816"/>
            <a:ext cx="329184" cy="329184"/>
          </a:xfrm>
          <a:prstGeom prst="rect">
            <a:avLst/>
          </a:prstGeom>
        </p:spPr>
      </p:pic>
      <p:sp>
        <p:nvSpPr>
          <p:cNvPr id="40" name="text-99"/>
          <p:cNvSpPr txBox="1"/>
          <p:nvPr/>
        </p:nvSpPr>
        <p:spPr>
          <a:xfrm>
            <a:off x="8897112" y="5340096"/>
            <a:ext cx="2514600" cy="566928"/>
          </a:xfrm>
          <a:prstGeom prst="rect">
            <a:avLst/>
          </a:prstGeom>
          <a:noFill/>
          <a:ln/>
        </p:spPr>
        <p:txBody>
          <a:bodyPr wrap="square" lIns="0" tIns="0" rIns="0" bIns="0" rtlCol="0" anchor="t"/>
          <a:lstStyle/>
          <a:p>
            <a:pPr marL="0" indent="0">
              <a:buNone/>
            </a:pPr>
            <a:r>
              <a:rPr lang="en-US" sz="1400" b="1" dirty="0">
                <a:solidFill>
                  <a:schemeClr val="tx1"/>
                </a:solidFill>
              </a:rPr>
              <a:t>Manager</a:t>
            </a:r>
            <a:endParaRPr lang="en-US" sz="1400" dirty="0"/>
          </a:p>
          <a:p>
            <a:pPr marL="0" indent="0">
              <a:buNone/>
            </a:pPr>
            <a:r>
              <a:rPr lang="en-US" sz="1200" dirty="0">
                <a:solidFill>
                  <a:schemeClr val="accent6"/>
                </a:solidFill>
              </a:rPr>
              <a:t>reads the live dashboard statistics</a:t>
            </a:r>
            <a:endParaRPr lang="en-US" sz="1400" dirty="0"/>
          </a:p>
        </p:txBody>
      </p:sp>
      <p:sp>
        <p:nvSpPr>
          <p:cNvPr id="41"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7498080" cy="868680"/>
          </a:xfrm>
          <a:prstGeom prst="rect">
            <a:avLst/>
          </a:prstGeom>
          <a:noFill/>
          <a:ln/>
        </p:spPr>
        <p:txBody>
          <a:bodyPr wrap="square" lIns="0" tIns="0" rIns="0" bIns="0" rtlCol="0" anchor="ctr"/>
          <a:lstStyle/>
          <a:p>
            <a:pPr marL="0" indent="0" algn="l">
              <a:buNone/>
            </a:pPr>
            <a:r>
              <a:rPr lang="en-US" sz="2800" dirty="0">
                <a:solidFill>
                  <a:schemeClr val="tx1"/>
                </a:solidFill>
                <a:latin typeface="Segoe UI Semibold" pitchFamily="34" charset="0"/>
                <a:ea typeface="Segoe UI Semibold" pitchFamily="34" charset="-122"/>
                <a:cs typeface="Segoe UI Semibold" pitchFamily="34" charset="-120"/>
              </a:rPr>
              <a:t>ER diagram: 4 entities, 4 relationships</a:t>
            </a:r>
            <a:endParaRPr lang="en-US" sz="2800" dirty="0"/>
          </a:p>
        </p:txBody>
      </p:sp>
      <p:sp>
        <p:nvSpPr>
          <p:cNvPr id="3" name="tracker-rail-100"/>
          <p:cNvSpPr/>
          <p:nvPr/>
        </p:nvSpPr>
        <p:spPr>
          <a:xfrm>
            <a:off x="8458200" y="566928"/>
            <a:ext cx="2926080" cy="0"/>
          </a:xfrm>
          <a:prstGeom prst="line">
            <a:avLst/>
          </a:prstGeom>
          <a:noFill/>
          <a:ln w="31750">
            <a:solidFill>
              <a:srgbClr val="D1D5DB"/>
            </a:solidFill>
            <a:prstDash val="solid"/>
          </a:ln>
        </p:spPr>
      </p:sp>
      <p:sp>
        <p:nvSpPr>
          <p:cNvPr id="4" name="tracker-done-101"/>
          <p:cNvSpPr/>
          <p:nvPr/>
        </p:nvSpPr>
        <p:spPr>
          <a:xfrm>
            <a:off x="8458200" y="566928"/>
            <a:ext cx="731520" cy="0"/>
          </a:xfrm>
          <a:prstGeom prst="line">
            <a:avLst/>
          </a:prstGeom>
          <a:noFill/>
          <a:ln w="31750">
            <a:solidFill>
              <a:schemeClr val="accent1"/>
            </a:solidFill>
            <a:prstDash val="solid"/>
          </a:ln>
        </p:spPr>
      </p:sp>
      <p:sp>
        <p:nvSpPr>
          <p:cNvPr id="5" name="tracker-dot-102"/>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103"/>
          <p:cNvSpPr txBox="1"/>
          <p:nvPr/>
        </p:nvSpPr>
        <p:spPr>
          <a:xfrm>
            <a:off x="800100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Problem</a:t>
            </a:r>
            <a:endParaRPr lang="en-US" sz="1000" dirty="0"/>
          </a:p>
        </p:txBody>
      </p:sp>
      <p:sp>
        <p:nvSpPr>
          <p:cNvPr id="7" name="tracker-dot-104"/>
          <p:cNvSpPr/>
          <p:nvPr/>
        </p:nvSpPr>
        <p:spPr>
          <a:xfrm>
            <a:off x="9070848" y="448056"/>
            <a:ext cx="237744" cy="237744"/>
          </a:xfrm>
          <a:prstGeom prst="ellipse">
            <a:avLst/>
          </a:prstGeom>
          <a:solidFill>
            <a:schemeClr val="accent1"/>
          </a:solidFill>
          <a:ln w="19050">
            <a:solidFill>
              <a:schemeClr val="accent1"/>
            </a:solidFill>
            <a:prstDash val="solid"/>
          </a:ln>
        </p:spPr>
      </p:sp>
      <p:sp>
        <p:nvSpPr>
          <p:cNvPr id="8" name="text-105"/>
          <p:cNvSpPr txBox="1"/>
          <p:nvPr/>
        </p:nvSpPr>
        <p:spPr>
          <a:xfrm>
            <a:off x="8732520" y="749808"/>
            <a:ext cx="914400" cy="228600"/>
          </a:xfrm>
          <a:prstGeom prst="rect">
            <a:avLst/>
          </a:prstGeom>
          <a:noFill/>
          <a:ln/>
        </p:spPr>
        <p:txBody>
          <a:bodyPr wrap="square" lIns="0" tIns="0" rIns="0" bIns="0" rtlCol="0" anchor="t"/>
          <a:lstStyle/>
          <a:p>
            <a:pPr marL="0" indent="0" algn="ctr">
              <a:buNone/>
            </a:pPr>
            <a:r>
              <a:rPr lang="en-US" sz="1000" b="1" dirty="0">
                <a:solidFill>
                  <a:schemeClr val="accent1"/>
                </a:solidFill>
              </a:rPr>
              <a:t>ER &amp; Schema</a:t>
            </a:r>
            <a:endParaRPr lang="en-US" sz="1000" dirty="0"/>
          </a:p>
        </p:txBody>
      </p:sp>
      <p:sp>
        <p:nvSpPr>
          <p:cNvPr id="9" name="tracker-dot-106"/>
          <p:cNvSpPr/>
          <p:nvPr/>
        </p:nvSpPr>
        <p:spPr>
          <a:xfrm>
            <a:off x="9848088" y="493776"/>
            <a:ext cx="146304" cy="146304"/>
          </a:xfrm>
          <a:prstGeom prst="ellipse">
            <a:avLst/>
          </a:prstGeom>
          <a:solidFill>
            <a:schemeClr val="bg1"/>
          </a:solidFill>
          <a:ln w="19050">
            <a:solidFill>
              <a:schemeClr val="accent6"/>
            </a:solidFill>
            <a:prstDash val="solid"/>
          </a:ln>
        </p:spPr>
      </p:sp>
      <p:sp>
        <p:nvSpPr>
          <p:cNvPr id="10" name="text-107"/>
          <p:cNvSpPr txBox="1"/>
          <p:nvPr/>
        </p:nvSpPr>
        <p:spPr>
          <a:xfrm>
            <a:off x="946404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Database</a:t>
            </a:r>
            <a:endParaRPr lang="en-US" sz="1000" dirty="0"/>
          </a:p>
        </p:txBody>
      </p:sp>
      <p:sp>
        <p:nvSpPr>
          <p:cNvPr id="11" name="tracker-dot-108"/>
          <p:cNvSpPr/>
          <p:nvPr/>
        </p:nvSpPr>
        <p:spPr>
          <a:xfrm>
            <a:off x="10579608" y="493776"/>
            <a:ext cx="146304" cy="146304"/>
          </a:xfrm>
          <a:prstGeom prst="ellipse">
            <a:avLst/>
          </a:prstGeom>
          <a:solidFill>
            <a:schemeClr val="bg1"/>
          </a:solidFill>
          <a:ln w="19050">
            <a:solidFill>
              <a:schemeClr val="accent6"/>
            </a:solidFill>
            <a:prstDash val="solid"/>
          </a:ln>
        </p:spPr>
      </p:sp>
      <p:sp>
        <p:nvSpPr>
          <p:cNvPr id="12" name="text-109"/>
          <p:cNvSpPr txBox="1"/>
          <p:nvPr/>
        </p:nvSpPr>
        <p:spPr>
          <a:xfrm>
            <a:off x="1019556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UI Demo</a:t>
            </a:r>
            <a:endParaRPr lang="en-US" sz="1000" dirty="0"/>
          </a:p>
        </p:txBody>
      </p:sp>
      <p:sp>
        <p:nvSpPr>
          <p:cNvPr id="13" name="tracker-dot-110"/>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111"/>
          <p:cNvSpPr txBox="1"/>
          <p:nvPr/>
        </p:nvSpPr>
        <p:spPr>
          <a:xfrm>
            <a:off x="1092708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Q&amp;A</a:t>
            </a:r>
            <a:endParaRPr lang="en-US" sz="1000" dirty="0"/>
          </a:p>
        </p:txBody>
      </p:sp>
      <p:pic>
        <p:nvPicPr>
          <p:cNvPr id="15" name="er-diagram" descr="C:\Users\srest\AppData\Local\Temp\claude\C--Users-srest\52e86171-7f3f-4f9f-8710-1b05dd1b2558\scratchpad\deck\er_diagram.png"/>
          <p:cNvPicPr>
            <a:picLocks noChangeAspect="1"/>
          </p:cNvPicPr>
          <p:nvPr/>
        </p:nvPicPr>
        <p:blipFill>
          <a:blip r:embed="rId3"/>
          <a:stretch>
            <a:fillRect/>
          </a:stretch>
        </p:blipFill>
        <p:spPr>
          <a:xfrm>
            <a:off x="548640" y="1371600"/>
            <a:ext cx="8196146" cy="4800600"/>
          </a:xfrm>
          <a:prstGeom prst="rect">
            <a:avLst/>
          </a:prstGeom>
        </p:spPr>
      </p:pic>
      <p:sp>
        <p:nvSpPr>
          <p:cNvPr id="16" name="er-fact-112"/>
          <p:cNvSpPr/>
          <p:nvPr/>
        </p:nvSpPr>
        <p:spPr>
          <a:xfrm>
            <a:off x="9019106" y="1371600"/>
            <a:ext cx="2623949" cy="1115568"/>
          </a:xfrm>
          <a:prstGeom prst="roundRect">
            <a:avLst>
              <a:gd name="adj" fmla="val 9836"/>
            </a:avLst>
          </a:prstGeom>
          <a:solidFill>
            <a:schemeClr val="bg2"/>
          </a:solidFill>
          <a:ln/>
        </p:spPr>
      </p:sp>
      <p:sp>
        <p:nvSpPr>
          <p:cNvPr id="17" name="text-113"/>
          <p:cNvSpPr txBox="1"/>
          <p:nvPr/>
        </p:nvSpPr>
        <p:spPr>
          <a:xfrm>
            <a:off x="9201986" y="1463040"/>
            <a:ext cx="2349629" cy="457200"/>
          </a:xfrm>
          <a:prstGeom prst="rect">
            <a:avLst/>
          </a:prstGeom>
          <a:noFill/>
          <a:ln/>
        </p:spPr>
        <p:txBody>
          <a:bodyPr wrap="square" lIns="0" tIns="0" rIns="0" bIns="0" rtlCol="0" anchor="ctr"/>
          <a:lstStyle/>
          <a:p>
            <a:pPr marL="0" indent="0">
              <a:buNone/>
            </a:pPr>
            <a:r>
              <a:rPr lang="en-US" sz="2600" b="1" dirty="0">
                <a:solidFill>
                  <a:schemeClr val="accent1"/>
                </a:solidFill>
              </a:rPr>
              <a:t>4 </a:t>
            </a:r>
            <a:r>
              <a:rPr lang="en-US" sz="1400" b="1" dirty="0">
                <a:solidFill>
                  <a:schemeClr val="tx1"/>
                </a:solidFill>
              </a:rPr>
              <a:t>entities</a:t>
            </a:r>
            <a:endParaRPr lang="en-US" sz="1400" dirty="0"/>
          </a:p>
        </p:txBody>
      </p:sp>
      <p:sp>
        <p:nvSpPr>
          <p:cNvPr id="18" name="text-114"/>
          <p:cNvSpPr txBox="1"/>
          <p:nvPr/>
        </p:nvSpPr>
        <p:spPr>
          <a:xfrm>
            <a:off x="9201986" y="1956816"/>
            <a:ext cx="2303909" cy="475488"/>
          </a:xfrm>
          <a:prstGeom prst="rect">
            <a:avLst/>
          </a:prstGeom>
          <a:noFill/>
          <a:ln/>
        </p:spPr>
        <p:txBody>
          <a:bodyPr wrap="square" lIns="0" tIns="0" rIns="0" bIns="0" rtlCol="0" anchor="t"/>
          <a:lstStyle/>
          <a:p>
            <a:pPr marL="0" indent="0">
              <a:buNone/>
            </a:pPr>
            <a:r>
              <a:rPr lang="en-US" sz="1100" dirty="0">
                <a:solidFill>
                  <a:schemeClr val="tx2"/>
                </a:solidFill>
              </a:rPr>
              <a:t>PARCELS is the hub: users book it, history and payments belong to it</a:t>
            </a:r>
            <a:endParaRPr lang="en-US" sz="1100" dirty="0"/>
          </a:p>
        </p:txBody>
      </p:sp>
      <p:sp>
        <p:nvSpPr>
          <p:cNvPr id="19" name="er-fact-115"/>
          <p:cNvSpPr/>
          <p:nvPr/>
        </p:nvSpPr>
        <p:spPr>
          <a:xfrm>
            <a:off x="9019106" y="2624328"/>
            <a:ext cx="2623949" cy="1115568"/>
          </a:xfrm>
          <a:prstGeom prst="roundRect">
            <a:avLst>
              <a:gd name="adj" fmla="val 9836"/>
            </a:avLst>
          </a:prstGeom>
          <a:solidFill>
            <a:schemeClr val="bg2"/>
          </a:solidFill>
          <a:ln/>
        </p:spPr>
      </p:sp>
      <p:sp>
        <p:nvSpPr>
          <p:cNvPr id="20" name="text-116"/>
          <p:cNvSpPr txBox="1"/>
          <p:nvPr/>
        </p:nvSpPr>
        <p:spPr>
          <a:xfrm>
            <a:off x="9201986" y="2715768"/>
            <a:ext cx="2349629" cy="457200"/>
          </a:xfrm>
          <a:prstGeom prst="rect">
            <a:avLst/>
          </a:prstGeom>
          <a:noFill/>
          <a:ln/>
        </p:spPr>
        <p:txBody>
          <a:bodyPr wrap="square" lIns="0" tIns="0" rIns="0" bIns="0" rtlCol="0" anchor="ctr"/>
          <a:lstStyle/>
          <a:p>
            <a:pPr marL="0" indent="0">
              <a:buNone/>
            </a:pPr>
            <a:r>
              <a:rPr lang="en-US" sz="2600" b="1" dirty="0">
                <a:solidFill>
                  <a:schemeClr val="accent1"/>
                </a:solidFill>
              </a:rPr>
              <a:t>4 </a:t>
            </a:r>
            <a:r>
              <a:rPr lang="en-US" sz="1400" b="1" dirty="0">
                <a:solidFill>
                  <a:schemeClr val="tx1"/>
                </a:solidFill>
              </a:rPr>
              <a:t>relationships</a:t>
            </a:r>
            <a:endParaRPr lang="en-US" sz="1400" dirty="0"/>
          </a:p>
        </p:txBody>
      </p:sp>
      <p:sp>
        <p:nvSpPr>
          <p:cNvPr id="21" name="text-117"/>
          <p:cNvSpPr txBox="1"/>
          <p:nvPr/>
        </p:nvSpPr>
        <p:spPr>
          <a:xfrm>
            <a:off x="9201986" y="3209544"/>
            <a:ext cx="2303909" cy="475488"/>
          </a:xfrm>
          <a:prstGeom prst="rect">
            <a:avLst/>
          </a:prstGeom>
          <a:noFill/>
          <a:ln/>
        </p:spPr>
        <p:txBody>
          <a:bodyPr wrap="square" lIns="0" tIns="0" rIns="0" bIns="0" rtlCol="0" anchor="t"/>
          <a:lstStyle/>
          <a:p>
            <a:pPr marL="0" indent="0">
              <a:buNone/>
            </a:pPr>
            <a:r>
              <a:rPr lang="en-US" sz="1100" dirty="0">
                <a:solidFill>
                  <a:schemeClr val="tx2"/>
                </a:solidFill>
              </a:rPr>
              <a:t>all one-to-many (1 : N)</a:t>
            </a:r>
            <a:endParaRPr lang="en-US" sz="1100" dirty="0"/>
          </a:p>
        </p:txBody>
      </p:sp>
      <p:sp>
        <p:nvSpPr>
          <p:cNvPr id="22" name="er-fact-118"/>
          <p:cNvSpPr/>
          <p:nvPr/>
        </p:nvSpPr>
        <p:spPr>
          <a:xfrm>
            <a:off x="9019106" y="3877056"/>
            <a:ext cx="2623949" cy="1115568"/>
          </a:xfrm>
          <a:prstGeom prst="roundRect">
            <a:avLst>
              <a:gd name="adj" fmla="val 9836"/>
            </a:avLst>
          </a:prstGeom>
          <a:solidFill>
            <a:schemeClr val="bg2"/>
          </a:solidFill>
          <a:ln/>
        </p:spPr>
      </p:sp>
      <p:sp>
        <p:nvSpPr>
          <p:cNvPr id="23" name="text-119"/>
          <p:cNvSpPr txBox="1"/>
          <p:nvPr/>
        </p:nvSpPr>
        <p:spPr>
          <a:xfrm>
            <a:off x="9201986" y="3968496"/>
            <a:ext cx="2349629" cy="457200"/>
          </a:xfrm>
          <a:prstGeom prst="rect">
            <a:avLst/>
          </a:prstGeom>
          <a:noFill/>
          <a:ln/>
        </p:spPr>
        <p:txBody>
          <a:bodyPr wrap="square" lIns="0" tIns="0" rIns="0" bIns="0" rtlCol="0" anchor="ctr"/>
          <a:lstStyle/>
          <a:p>
            <a:pPr marL="0" indent="0">
              <a:buNone/>
            </a:pPr>
            <a:r>
              <a:rPr lang="en-US" sz="2600" b="1" dirty="0">
                <a:solidFill>
                  <a:schemeClr val="accent1"/>
                </a:solidFill>
              </a:rPr>
              <a:t>2 </a:t>
            </a:r>
            <a:r>
              <a:rPr lang="en-US" sz="1400" b="1" dirty="0">
                <a:solidFill>
                  <a:schemeClr val="tx1"/>
                </a:solidFill>
              </a:rPr>
              <a:t>derived attributes</a:t>
            </a:r>
            <a:endParaRPr lang="en-US" sz="1400" dirty="0"/>
          </a:p>
        </p:txBody>
      </p:sp>
      <p:sp>
        <p:nvSpPr>
          <p:cNvPr id="24" name="text-120"/>
          <p:cNvSpPr txBox="1"/>
          <p:nvPr/>
        </p:nvSpPr>
        <p:spPr>
          <a:xfrm>
            <a:off x="9201986" y="4462272"/>
            <a:ext cx="2303909" cy="475488"/>
          </a:xfrm>
          <a:prstGeom prst="rect">
            <a:avLst/>
          </a:prstGeom>
          <a:noFill/>
          <a:ln/>
        </p:spPr>
        <p:txBody>
          <a:bodyPr wrap="square" lIns="0" tIns="0" rIns="0" bIns="0" rtlCol="0" anchor="t"/>
          <a:lstStyle/>
          <a:p>
            <a:pPr marL="0" indent="0">
              <a:buNone/>
            </a:pPr>
            <a:r>
              <a:rPr lang="en-US" sz="1100" dirty="0">
                <a:solidFill>
                  <a:schemeClr val="tx2"/>
                </a:solidFill>
              </a:rPr>
              <a:t>current_location and the QR URL are computed, never stored</a:t>
            </a:r>
            <a:endParaRPr lang="en-US" sz="1100" dirty="0"/>
          </a:p>
        </p:txBody>
      </p:sp>
      <p:sp>
        <p:nvSpPr>
          <p:cNvPr id="25" name="er-fact-121"/>
          <p:cNvSpPr/>
          <p:nvPr/>
        </p:nvSpPr>
        <p:spPr>
          <a:xfrm>
            <a:off x="9019106" y="5129784"/>
            <a:ext cx="2623949" cy="1115568"/>
          </a:xfrm>
          <a:prstGeom prst="roundRect">
            <a:avLst>
              <a:gd name="adj" fmla="val 9836"/>
            </a:avLst>
          </a:prstGeom>
          <a:solidFill>
            <a:schemeClr val="bg2"/>
          </a:solidFill>
          <a:ln/>
        </p:spPr>
      </p:sp>
      <p:sp>
        <p:nvSpPr>
          <p:cNvPr id="26" name="text-122"/>
          <p:cNvSpPr txBox="1"/>
          <p:nvPr/>
        </p:nvSpPr>
        <p:spPr>
          <a:xfrm>
            <a:off x="9201986" y="5221224"/>
            <a:ext cx="2349629" cy="457200"/>
          </a:xfrm>
          <a:prstGeom prst="rect">
            <a:avLst/>
          </a:prstGeom>
          <a:noFill/>
          <a:ln/>
        </p:spPr>
        <p:txBody>
          <a:bodyPr wrap="square" lIns="0" tIns="0" rIns="0" bIns="0" rtlCol="0" anchor="ctr"/>
          <a:lstStyle/>
          <a:p>
            <a:pPr marL="0" indent="0">
              <a:buNone/>
            </a:pPr>
            <a:r>
              <a:rPr lang="en-US" sz="2600" b="1" dirty="0">
                <a:solidFill>
                  <a:schemeClr val="accent1"/>
                </a:solidFill>
              </a:rPr>
              <a:t>2 </a:t>
            </a:r>
            <a:r>
              <a:rPr lang="en-US" sz="1400" b="1" dirty="0">
                <a:solidFill>
                  <a:schemeClr val="tx1"/>
                </a:solidFill>
              </a:rPr>
              <a:t>composite attributes</a:t>
            </a:r>
            <a:endParaRPr lang="en-US" sz="1400" dirty="0"/>
          </a:p>
        </p:txBody>
      </p:sp>
      <p:sp>
        <p:nvSpPr>
          <p:cNvPr id="27" name="text-123"/>
          <p:cNvSpPr txBox="1"/>
          <p:nvPr/>
        </p:nvSpPr>
        <p:spPr>
          <a:xfrm>
            <a:off x="9201986" y="5715000"/>
            <a:ext cx="2303909" cy="475488"/>
          </a:xfrm>
          <a:prstGeom prst="rect">
            <a:avLst/>
          </a:prstGeom>
          <a:noFill/>
          <a:ln/>
        </p:spPr>
        <p:txBody>
          <a:bodyPr wrap="square" lIns="0" tIns="0" rIns="0" bIns="0" rtlCol="0" anchor="t"/>
          <a:lstStyle/>
          <a:p>
            <a:pPr marL="0" indent="0">
              <a:buNone/>
            </a:pPr>
            <a:r>
              <a:rPr lang="en-US" sz="1100" dirty="0">
                <a:solidFill>
                  <a:schemeClr val="tx2"/>
                </a:solidFill>
              </a:rPr>
              <a:t>sender, receiver = name + phone + address + city</a:t>
            </a:r>
            <a:endParaRPr lang="en-US" sz="1100" dirty="0"/>
          </a:p>
        </p:txBody>
      </p:sp>
      <p:sp>
        <p:nvSpPr>
          <p:cNvPr id="28"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7498080" cy="868680"/>
          </a:xfrm>
          <a:prstGeom prst="rect">
            <a:avLst/>
          </a:prstGeom>
          <a:noFill/>
          <a:ln/>
        </p:spPr>
        <p:txBody>
          <a:bodyPr wrap="square" lIns="0" tIns="0" rIns="0" bIns="0" rtlCol="0" anchor="ctr"/>
          <a:lstStyle/>
          <a:p>
            <a:pPr marL="0" indent="0" algn="l">
              <a:buNone/>
            </a:pPr>
            <a:r>
              <a:rPr lang="en-US" sz="2800" dirty="0">
                <a:solidFill>
                  <a:schemeClr val="tx1"/>
                </a:solidFill>
                <a:latin typeface="Segoe UI Semibold" pitchFamily="34" charset="0"/>
                <a:ea typeface="Segoe UI Semibold" pitchFamily="34" charset="-122"/>
                <a:cs typeface="Segoe UI Semibold" pitchFamily="34" charset="-120"/>
              </a:rPr>
              <a:t>Cardinality and participation rules</a:t>
            </a:r>
            <a:endParaRPr lang="en-US" sz="2800" dirty="0"/>
          </a:p>
        </p:txBody>
      </p:sp>
      <p:sp>
        <p:nvSpPr>
          <p:cNvPr id="3" name="tracker-rail-124"/>
          <p:cNvSpPr/>
          <p:nvPr/>
        </p:nvSpPr>
        <p:spPr>
          <a:xfrm>
            <a:off x="8458200" y="566928"/>
            <a:ext cx="2926080" cy="0"/>
          </a:xfrm>
          <a:prstGeom prst="line">
            <a:avLst/>
          </a:prstGeom>
          <a:noFill/>
          <a:ln w="31750">
            <a:solidFill>
              <a:srgbClr val="D1D5DB"/>
            </a:solidFill>
            <a:prstDash val="solid"/>
          </a:ln>
        </p:spPr>
      </p:sp>
      <p:sp>
        <p:nvSpPr>
          <p:cNvPr id="4" name="tracker-done-125"/>
          <p:cNvSpPr/>
          <p:nvPr/>
        </p:nvSpPr>
        <p:spPr>
          <a:xfrm>
            <a:off x="8458200" y="566928"/>
            <a:ext cx="731520" cy="0"/>
          </a:xfrm>
          <a:prstGeom prst="line">
            <a:avLst/>
          </a:prstGeom>
          <a:noFill/>
          <a:ln w="31750">
            <a:solidFill>
              <a:schemeClr val="accent1"/>
            </a:solidFill>
            <a:prstDash val="solid"/>
          </a:ln>
        </p:spPr>
      </p:sp>
      <p:sp>
        <p:nvSpPr>
          <p:cNvPr id="5" name="tracker-dot-126"/>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127"/>
          <p:cNvSpPr txBox="1"/>
          <p:nvPr/>
        </p:nvSpPr>
        <p:spPr>
          <a:xfrm>
            <a:off x="800100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Problem</a:t>
            </a:r>
            <a:endParaRPr lang="en-US" sz="1000" dirty="0"/>
          </a:p>
        </p:txBody>
      </p:sp>
      <p:sp>
        <p:nvSpPr>
          <p:cNvPr id="7" name="tracker-dot-128"/>
          <p:cNvSpPr/>
          <p:nvPr/>
        </p:nvSpPr>
        <p:spPr>
          <a:xfrm>
            <a:off x="9070848" y="448056"/>
            <a:ext cx="237744" cy="237744"/>
          </a:xfrm>
          <a:prstGeom prst="ellipse">
            <a:avLst/>
          </a:prstGeom>
          <a:solidFill>
            <a:schemeClr val="accent1"/>
          </a:solidFill>
          <a:ln w="19050">
            <a:solidFill>
              <a:schemeClr val="accent1"/>
            </a:solidFill>
            <a:prstDash val="solid"/>
          </a:ln>
        </p:spPr>
      </p:sp>
      <p:sp>
        <p:nvSpPr>
          <p:cNvPr id="8" name="text-129"/>
          <p:cNvSpPr txBox="1"/>
          <p:nvPr/>
        </p:nvSpPr>
        <p:spPr>
          <a:xfrm>
            <a:off x="8732520" y="749808"/>
            <a:ext cx="914400" cy="228600"/>
          </a:xfrm>
          <a:prstGeom prst="rect">
            <a:avLst/>
          </a:prstGeom>
          <a:noFill/>
          <a:ln/>
        </p:spPr>
        <p:txBody>
          <a:bodyPr wrap="square" lIns="0" tIns="0" rIns="0" bIns="0" rtlCol="0" anchor="t"/>
          <a:lstStyle/>
          <a:p>
            <a:pPr marL="0" indent="0" algn="ctr">
              <a:buNone/>
            </a:pPr>
            <a:r>
              <a:rPr lang="en-US" sz="1000" b="1" dirty="0">
                <a:solidFill>
                  <a:schemeClr val="accent1"/>
                </a:solidFill>
              </a:rPr>
              <a:t>ER &amp; Schema</a:t>
            </a:r>
            <a:endParaRPr lang="en-US" sz="1000" dirty="0"/>
          </a:p>
        </p:txBody>
      </p:sp>
      <p:sp>
        <p:nvSpPr>
          <p:cNvPr id="9" name="tracker-dot-130"/>
          <p:cNvSpPr/>
          <p:nvPr/>
        </p:nvSpPr>
        <p:spPr>
          <a:xfrm>
            <a:off x="9848088" y="493776"/>
            <a:ext cx="146304" cy="146304"/>
          </a:xfrm>
          <a:prstGeom prst="ellipse">
            <a:avLst/>
          </a:prstGeom>
          <a:solidFill>
            <a:schemeClr val="bg1"/>
          </a:solidFill>
          <a:ln w="19050">
            <a:solidFill>
              <a:schemeClr val="accent6"/>
            </a:solidFill>
            <a:prstDash val="solid"/>
          </a:ln>
        </p:spPr>
      </p:sp>
      <p:sp>
        <p:nvSpPr>
          <p:cNvPr id="10" name="text-131"/>
          <p:cNvSpPr txBox="1"/>
          <p:nvPr/>
        </p:nvSpPr>
        <p:spPr>
          <a:xfrm>
            <a:off x="946404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Database</a:t>
            </a:r>
            <a:endParaRPr lang="en-US" sz="1000" dirty="0"/>
          </a:p>
        </p:txBody>
      </p:sp>
      <p:sp>
        <p:nvSpPr>
          <p:cNvPr id="11" name="tracker-dot-132"/>
          <p:cNvSpPr/>
          <p:nvPr/>
        </p:nvSpPr>
        <p:spPr>
          <a:xfrm>
            <a:off x="10579608" y="493776"/>
            <a:ext cx="146304" cy="146304"/>
          </a:xfrm>
          <a:prstGeom prst="ellipse">
            <a:avLst/>
          </a:prstGeom>
          <a:solidFill>
            <a:schemeClr val="bg1"/>
          </a:solidFill>
          <a:ln w="19050">
            <a:solidFill>
              <a:schemeClr val="accent6"/>
            </a:solidFill>
            <a:prstDash val="solid"/>
          </a:ln>
        </p:spPr>
      </p:sp>
      <p:sp>
        <p:nvSpPr>
          <p:cNvPr id="12" name="text-133"/>
          <p:cNvSpPr txBox="1"/>
          <p:nvPr/>
        </p:nvSpPr>
        <p:spPr>
          <a:xfrm>
            <a:off x="1019556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UI Demo</a:t>
            </a:r>
            <a:endParaRPr lang="en-US" sz="1000" dirty="0"/>
          </a:p>
        </p:txBody>
      </p:sp>
      <p:sp>
        <p:nvSpPr>
          <p:cNvPr id="13" name="tracker-dot-134"/>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135"/>
          <p:cNvSpPr txBox="1"/>
          <p:nvPr/>
        </p:nvSpPr>
        <p:spPr>
          <a:xfrm>
            <a:off x="1092708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Q&amp;A</a:t>
            </a:r>
            <a:endParaRPr lang="en-US" sz="1000" dirty="0"/>
          </a:p>
        </p:txBody>
      </p:sp>
      <p:graphicFrame>
        <p:nvGraphicFramePr>
          <p:cNvPr id="15" name="cardinality-table"/>
          <p:cNvGraphicFramePr>
            <a:graphicFrameLocks noGrp="1"/>
          </p:cNvGraphicFramePr>
          <p:nvPr>
            <p:extLst>
              <p:ext uri="{D42A27DB-BD31-4B8C-83A1-F6EECF244321}">
                <p14:modId xmlns:p14="http://schemas.microsoft.com/office/powerpoint/2010/main" val="1579011935"/>
              </p:ext>
            </p:extLst>
          </p:nvPr>
        </p:nvGraphicFramePr>
        <p:xfrm>
          <a:off x="548640" y="1417320"/>
          <a:ext cx="7223760" cy="2743200"/>
        </p:xfrm>
        <a:graphic>
          <a:graphicData uri="http://schemas.openxmlformats.org/drawingml/2006/table">
            <a:tbl>
              <a:tblPr/>
              <a:tblGrid>
                <a:gridCol w="1417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548640">
                <a:tc>
                  <a:txBody>
                    <a:bodyPr/>
                    <a:lstStyle/>
                    <a:p>
                      <a:pPr marL="0" indent="0">
                        <a:buNone/>
                      </a:pPr>
                      <a:r>
                        <a:rPr lang="en-US" sz="1300" b="1" dirty="0">
                          <a:solidFill>
                            <a:schemeClr val="bg1"/>
                          </a:solidFill>
                        </a:rPr>
                        <a:t>Relationship</a:t>
                      </a:r>
                      <a:endParaRPr lang="en-US" sz="1300" dirty="0"/>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Entities</a:t>
                      </a:r>
                      <a:endParaRPr lang="en-US" sz="1300" dirty="0"/>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Cardinality</a:t>
                      </a:r>
                      <a:endParaRPr lang="en-US" sz="1300" dirty="0"/>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tx1"/>
                    </a:solidFill>
                  </a:tcPr>
                </a:tc>
                <a:tc>
                  <a:txBody>
                    <a:bodyPr/>
                    <a:lstStyle/>
                    <a:p>
                      <a:pPr marL="0" indent="0">
                        <a:buNone/>
                      </a:pPr>
                      <a:r>
                        <a:rPr lang="en-US" sz="1300" b="1" dirty="0">
                          <a:solidFill>
                            <a:schemeClr val="bg1"/>
                          </a:solidFill>
                        </a:rPr>
                        <a:t>Participation</a:t>
                      </a:r>
                      <a:endParaRPr lang="en-US" sz="1300" dirty="0"/>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48640">
                <a:tc>
                  <a:txBody>
                    <a:bodyPr/>
                    <a:lstStyle/>
                    <a:p>
                      <a:pPr marL="0" indent="0">
                        <a:buNone/>
                      </a:pPr>
                      <a:r>
                        <a:rPr lang="en-US" sz="1300" b="1" dirty="0">
                          <a:solidFill>
                            <a:schemeClr val="tx1"/>
                          </a:solidFill>
                          <a:latin typeface="Consolas" pitchFamily="34" charset="0"/>
                          <a:ea typeface="Consolas" pitchFamily="34" charset="-122"/>
                          <a:cs typeface="Consolas" pitchFamily="34" charset="-120"/>
                        </a:rPr>
                        <a:t>BOOKS</a:t>
                      </a:r>
                      <a:endParaRPr lang="en-US" sz="1300" dirty="0">
                        <a:latin typeface="Consolas" charset="0"/>
                        <a:ea typeface="Consolas" charset="0"/>
                        <a:cs typeface="Consolas" charset="0"/>
                      </a:endParaRPr>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USERS – PARCELS</a:t>
                      </a:r>
                      <a:endParaRPr lang="en-US" sz="1300" dirty="0"/>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marL="0" indent="0">
                        <a:buNone/>
                      </a:pPr>
                      <a:r>
                        <a:rPr lang="en-US" sz="1300" dirty="0">
                          <a:solidFill>
                            <a:schemeClr val="accent1"/>
                          </a:solidFill>
                        </a:rPr>
                        <a:t>1 : N</a:t>
                      </a:r>
                      <a:endParaRPr lang="en-US" sz="1300" dirty="0"/>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Parcel total</a:t>
                      </a:r>
                      <a:endParaRPr lang="en-US" sz="1300" dirty="0"/>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48640">
                <a:tc>
                  <a:txBody>
                    <a:bodyPr/>
                    <a:lstStyle/>
                    <a:p>
                      <a:pPr marL="0" indent="0">
                        <a:buNone/>
                      </a:pPr>
                      <a:r>
                        <a:rPr lang="en-US" sz="1300" b="1" dirty="0">
                          <a:solidFill>
                            <a:schemeClr val="tx1"/>
                          </a:solidFill>
                          <a:latin typeface="Consolas" pitchFamily="34" charset="0"/>
                          <a:ea typeface="Consolas" pitchFamily="34" charset="-122"/>
                          <a:cs typeface="Consolas" pitchFamily="34" charset="-120"/>
                        </a:rPr>
                        <a:t>HAS</a:t>
                      </a:r>
                      <a:endParaRPr lang="en-US" sz="1300" dirty="0">
                        <a:latin typeface="Consolas" charset="0"/>
                        <a:ea typeface="Consolas" charset="0"/>
                        <a:cs typeface="Consolas" charset="0"/>
                      </a:endParaRPr>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PARCELS – TRACKING_HISTORY</a:t>
                      </a:r>
                      <a:endParaRPr lang="en-US" sz="1300" dirty="0"/>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marL="0" indent="0">
                        <a:buNone/>
                      </a:pPr>
                      <a:r>
                        <a:rPr lang="en-US" sz="1300" dirty="0">
                          <a:solidFill>
                            <a:schemeClr val="accent1"/>
                          </a:solidFill>
                        </a:rPr>
                        <a:t>1 : N</a:t>
                      </a:r>
                      <a:endParaRPr lang="en-US" sz="1300" dirty="0"/>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Both total</a:t>
                      </a:r>
                      <a:endParaRPr lang="en-US" sz="1300" dirty="0"/>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48640">
                <a:tc>
                  <a:txBody>
                    <a:bodyPr/>
                    <a:lstStyle/>
                    <a:p>
                      <a:pPr marL="0" indent="0">
                        <a:buNone/>
                      </a:pPr>
                      <a:r>
                        <a:rPr lang="en-US" sz="1300" b="1" dirty="0">
                          <a:solidFill>
                            <a:schemeClr val="tx1"/>
                          </a:solidFill>
                          <a:latin typeface="Consolas" pitchFamily="34" charset="0"/>
                          <a:ea typeface="Consolas" pitchFamily="34" charset="-122"/>
                          <a:cs typeface="Consolas" pitchFamily="34" charset="-120"/>
                        </a:rPr>
                        <a:t>UPDATES</a:t>
                      </a:r>
                      <a:endParaRPr lang="en-US" sz="1300" dirty="0">
                        <a:latin typeface="Consolas" charset="0"/>
                        <a:ea typeface="Consolas" charset="0"/>
                        <a:cs typeface="Consolas" charset="0"/>
                      </a:endParaRPr>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USERS – TRACKING_HISTORY</a:t>
                      </a:r>
                      <a:endParaRPr lang="en-US" sz="1300" dirty="0"/>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marL="0" indent="0">
                        <a:buNone/>
                      </a:pPr>
                      <a:r>
                        <a:rPr lang="en-US" sz="1300" dirty="0">
                          <a:solidFill>
                            <a:schemeClr val="accent1"/>
                          </a:solidFill>
                        </a:rPr>
                        <a:t>1 : N</a:t>
                      </a:r>
                      <a:endParaRPr lang="en-US" sz="1300" dirty="0"/>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Partial (FK can be NULL)</a:t>
                      </a:r>
                      <a:endParaRPr lang="en-US" sz="1300" dirty="0"/>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48640">
                <a:tc>
                  <a:txBody>
                    <a:bodyPr/>
                    <a:lstStyle/>
                    <a:p>
                      <a:pPr marL="0" indent="0">
                        <a:buNone/>
                      </a:pPr>
                      <a:r>
                        <a:rPr lang="en-US" sz="1300" b="1" dirty="0">
                          <a:solidFill>
                            <a:schemeClr val="tx1"/>
                          </a:solidFill>
                          <a:latin typeface="Consolas" pitchFamily="34" charset="0"/>
                          <a:ea typeface="Consolas" pitchFamily="34" charset="-122"/>
                          <a:cs typeface="Consolas" pitchFamily="34" charset="-120"/>
                        </a:rPr>
                        <a:t>PAID_BY</a:t>
                      </a:r>
                      <a:endParaRPr lang="en-US" sz="1300" dirty="0">
                        <a:latin typeface="Consolas" charset="0"/>
                        <a:ea typeface="Consolas" charset="0"/>
                        <a:cs typeface="Consolas" charset="0"/>
                      </a:endParaRPr>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PARCELS – PAYMENTS</a:t>
                      </a:r>
                      <a:endParaRPr lang="en-US" sz="1300" dirty="0"/>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marL="0" indent="0">
                        <a:buNone/>
                      </a:pPr>
                      <a:r>
                        <a:rPr lang="en-US" sz="1300" dirty="0">
                          <a:solidFill>
                            <a:schemeClr val="accent1"/>
                          </a:solidFill>
                        </a:rPr>
                        <a:t>1 : N</a:t>
                      </a:r>
                      <a:endParaRPr lang="en-US" sz="1300" dirty="0"/>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Both total</a:t>
                      </a:r>
                      <a:endParaRPr lang="en-US" sz="1300" dirty="0"/>
                    </a:p>
                  </a:txBody>
                  <a:tcPr marL="109728"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16" name="paidby-card-136"/>
          <p:cNvSpPr/>
          <p:nvPr/>
        </p:nvSpPr>
        <p:spPr>
          <a:xfrm>
            <a:off x="548640" y="4526280"/>
            <a:ext cx="7223760" cy="1463040"/>
          </a:xfrm>
          <a:prstGeom prst="roundRect">
            <a:avLst>
              <a:gd name="adj" fmla="val 7500"/>
            </a:avLst>
          </a:prstGeom>
          <a:solidFill>
            <a:schemeClr val="bg2"/>
          </a:solidFill>
          <a:ln/>
        </p:spPr>
      </p:sp>
      <p:pic>
        <p:nvPicPr>
          <p:cNvPr id="17" name="icon-LuReceipt-137" descr="C:\Users\srest\AppData\Local\Temp\claude\C--Users-srest\52e86171-7f3f-4f9f-8710-1b05dd1b2558\scratchpad\deck\icons\LuReceipt_o.png"/>
          <p:cNvPicPr>
            <a:picLocks noChangeAspect="1"/>
          </p:cNvPicPr>
          <p:nvPr/>
        </p:nvPicPr>
        <p:blipFill>
          <a:blip r:embed="rId3"/>
          <a:stretch>
            <a:fillRect/>
          </a:stretch>
        </p:blipFill>
        <p:spPr>
          <a:xfrm>
            <a:off x="777240" y="4754880"/>
            <a:ext cx="384048" cy="384048"/>
          </a:xfrm>
          <a:prstGeom prst="rect">
            <a:avLst/>
          </a:prstGeom>
        </p:spPr>
      </p:pic>
      <p:sp>
        <p:nvSpPr>
          <p:cNvPr id="18" name="text-138"/>
          <p:cNvSpPr txBox="1"/>
          <p:nvPr/>
        </p:nvSpPr>
        <p:spPr>
          <a:xfrm>
            <a:off x="1325880" y="4709160"/>
            <a:ext cx="6217920" cy="1188720"/>
          </a:xfrm>
          <a:prstGeom prst="rect">
            <a:avLst/>
          </a:prstGeom>
          <a:noFill/>
          <a:ln/>
        </p:spPr>
        <p:txBody>
          <a:bodyPr wrap="square" lIns="0" tIns="0" rIns="0" bIns="0" rtlCol="0" anchor="t"/>
          <a:lstStyle/>
          <a:p>
            <a:pPr marL="0" indent="0">
              <a:spcAft>
                <a:spcPts val="400"/>
              </a:spcAft>
              <a:buNone/>
            </a:pPr>
            <a:r>
              <a:rPr lang="en-US" sz="1300" b="1" dirty="0">
                <a:solidFill>
                  <a:schemeClr val="tx1"/>
                </a:solidFill>
              </a:rPr>
              <a:t>Why PAID_BY is 1 : N, not 1 : 1</a:t>
            </a:r>
            <a:endParaRPr lang="en-US" sz="1300" dirty="0"/>
          </a:p>
          <a:p>
            <a:pPr marL="0" indent="0">
              <a:spcAft>
                <a:spcPts val="400"/>
              </a:spcAft>
              <a:buNone/>
            </a:pPr>
            <a:r>
              <a:rPr lang="en-US" sz="1300" dirty="0">
                <a:solidFill>
                  <a:schemeClr val="tx2"/>
                </a:solidFill>
              </a:rPr>
              <a:t>Every booking creates exactly one payment row today, but the design also allows a retry or a refund row later without changing the schema.</a:t>
            </a:r>
            <a:endParaRPr lang="en-US" sz="1300" dirty="0"/>
          </a:p>
        </p:txBody>
      </p:sp>
      <p:sp>
        <p:nvSpPr>
          <p:cNvPr id="19" name="rule-card-139"/>
          <p:cNvSpPr/>
          <p:nvPr/>
        </p:nvSpPr>
        <p:spPr>
          <a:xfrm>
            <a:off x="8092440" y="1417320"/>
            <a:ext cx="3550615" cy="1444752"/>
          </a:xfrm>
          <a:prstGeom prst="roundRect">
            <a:avLst>
              <a:gd name="adj" fmla="val 7595"/>
            </a:avLst>
          </a:prstGeom>
          <a:solidFill>
            <a:schemeClr val="bg1"/>
          </a:solidFill>
          <a:ln/>
          <a:effectLst>
            <a:outerShdw blurRad="101600" dist="25400" dir="5400000" algn="bl" rotWithShape="0">
              <a:srgbClr val="000000">
                <a:alpha val="10000"/>
              </a:srgbClr>
            </a:outerShdw>
          </a:effectLst>
        </p:spPr>
      </p:sp>
      <p:sp>
        <p:nvSpPr>
          <p:cNvPr id="20" name="badge-140"/>
          <p:cNvSpPr/>
          <p:nvPr/>
        </p:nvSpPr>
        <p:spPr>
          <a:xfrm>
            <a:off x="8293608" y="1618488"/>
            <a:ext cx="457200" cy="457200"/>
          </a:xfrm>
          <a:prstGeom prst="ellipse">
            <a:avLst/>
          </a:prstGeom>
          <a:solidFill>
            <a:schemeClr val="accent1"/>
          </a:solidFill>
          <a:ln/>
        </p:spPr>
      </p:sp>
      <p:pic>
        <p:nvPicPr>
          <p:cNvPr id="21" name="icon-LuLink-141" descr="C:\Users\srest\AppData\Local\Temp\claude\C--Users-srest\52e86171-7f3f-4f9f-8710-1b05dd1b2558\scratchpad\deck\icons\LuLink_w.png"/>
          <p:cNvPicPr>
            <a:picLocks noChangeAspect="1"/>
          </p:cNvPicPr>
          <p:nvPr/>
        </p:nvPicPr>
        <p:blipFill>
          <a:blip r:embed="rId4"/>
          <a:stretch>
            <a:fillRect/>
          </a:stretch>
        </p:blipFill>
        <p:spPr>
          <a:xfrm>
            <a:off x="8394192" y="1719072"/>
            <a:ext cx="256032" cy="256032"/>
          </a:xfrm>
          <a:prstGeom prst="rect">
            <a:avLst/>
          </a:prstGeom>
        </p:spPr>
      </p:pic>
      <p:sp>
        <p:nvSpPr>
          <p:cNvPr id="22" name="text-142"/>
          <p:cNvSpPr txBox="1"/>
          <p:nvPr/>
        </p:nvSpPr>
        <p:spPr>
          <a:xfrm>
            <a:off x="8869680" y="1664208"/>
            <a:ext cx="2636215" cy="365760"/>
          </a:xfrm>
          <a:prstGeom prst="rect">
            <a:avLst/>
          </a:prstGeom>
          <a:noFill/>
          <a:ln/>
        </p:spPr>
        <p:txBody>
          <a:bodyPr wrap="square" lIns="0" tIns="0" rIns="0" bIns="0" rtlCol="0" anchor="t"/>
          <a:lstStyle/>
          <a:p>
            <a:pPr marL="0" indent="0">
              <a:buNone/>
            </a:pPr>
            <a:r>
              <a:rPr lang="en-US" sz="1400" b="1" dirty="0">
                <a:solidFill>
                  <a:schemeClr val="tx1"/>
                </a:solidFill>
              </a:rPr>
              <a:t>Total = NOT NULL foreign key</a:t>
            </a:r>
            <a:endParaRPr lang="en-US" sz="1400" dirty="0"/>
          </a:p>
        </p:txBody>
      </p:sp>
      <p:sp>
        <p:nvSpPr>
          <p:cNvPr id="23" name="text-143"/>
          <p:cNvSpPr txBox="1"/>
          <p:nvPr/>
        </p:nvSpPr>
        <p:spPr>
          <a:xfrm>
            <a:off x="8293608" y="2167128"/>
            <a:ext cx="3184855" cy="658368"/>
          </a:xfrm>
          <a:prstGeom prst="rect">
            <a:avLst/>
          </a:prstGeom>
          <a:noFill/>
          <a:ln/>
        </p:spPr>
        <p:txBody>
          <a:bodyPr wrap="square" lIns="0" tIns="0" rIns="0" bIns="0" rtlCol="0" anchor="t"/>
          <a:lstStyle/>
          <a:p>
            <a:pPr marL="0" indent="0">
              <a:buNone/>
            </a:pPr>
            <a:r>
              <a:rPr lang="en-US" sz="1100" dirty="0">
                <a:solidFill>
                  <a:schemeClr val="tx2"/>
                </a:solidFill>
              </a:rPr>
              <a:t>parcels.customer_id, tracking_history.parcel_id and payments.parcel_id are NOT NULL, so a child row cannot exist without its parent.</a:t>
            </a:r>
            <a:endParaRPr lang="en-US" sz="1100" dirty="0"/>
          </a:p>
        </p:txBody>
      </p:sp>
      <p:sp>
        <p:nvSpPr>
          <p:cNvPr id="24" name="rule-card-144"/>
          <p:cNvSpPr/>
          <p:nvPr/>
        </p:nvSpPr>
        <p:spPr>
          <a:xfrm>
            <a:off x="8092440" y="2999232"/>
            <a:ext cx="3550615" cy="1444752"/>
          </a:xfrm>
          <a:prstGeom prst="roundRect">
            <a:avLst>
              <a:gd name="adj" fmla="val 7595"/>
            </a:avLst>
          </a:prstGeom>
          <a:solidFill>
            <a:schemeClr val="bg1"/>
          </a:solidFill>
          <a:ln/>
          <a:effectLst>
            <a:outerShdw blurRad="101600" dist="25400" dir="5400000" algn="bl" rotWithShape="0">
              <a:srgbClr val="000000">
                <a:alpha val="10000"/>
              </a:srgbClr>
            </a:outerShdw>
          </a:effectLst>
        </p:spPr>
      </p:sp>
      <p:sp>
        <p:nvSpPr>
          <p:cNvPr id="25" name="badge-145"/>
          <p:cNvSpPr/>
          <p:nvPr/>
        </p:nvSpPr>
        <p:spPr>
          <a:xfrm>
            <a:off x="8293608" y="3200400"/>
            <a:ext cx="457200" cy="457200"/>
          </a:xfrm>
          <a:prstGeom prst="ellipse">
            <a:avLst/>
          </a:prstGeom>
          <a:solidFill>
            <a:schemeClr val="accent1"/>
          </a:solidFill>
          <a:ln/>
        </p:spPr>
      </p:sp>
      <p:pic>
        <p:nvPicPr>
          <p:cNvPr id="26" name="icon-LuZap-146" descr="C:\Users\srest\AppData\Local\Temp\claude\C--Users-srest\52e86171-7f3f-4f9f-8710-1b05dd1b2558\scratchpad\deck\icons\LuZap_w.png"/>
          <p:cNvPicPr>
            <a:picLocks noChangeAspect="1"/>
          </p:cNvPicPr>
          <p:nvPr/>
        </p:nvPicPr>
        <p:blipFill>
          <a:blip r:embed="rId5"/>
          <a:stretch>
            <a:fillRect/>
          </a:stretch>
        </p:blipFill>
        <p:spPr>
          <a:xfrm>
            <a:off x="8394192" y="3300984"/>
            <a:ext cx="256032" cy="256032"/>
          </a:xfrm>
          <a:prstGeom prst="rect">
            <a:avLst/>
          </a:prstGeom>
        </p:spPr>
      </p:pic>
      <p:sp>
        <p:nvSpPr>
          <p:cNvPr id="27" name="text-147"/>
          <p:cNvSpPr txBox="1"/>
          <p:nvPr/>
        </p:nvSpPr>
        <p:spPr>
          <a:xfrm>
            <a:off x="8869680" y="3246120"/>
            <a:ext cx="2636215" cy="365760"/>
          </a:xfrm>
          <a:prstGeom prst="rect">
            <a:avLst/>
          </a:prstGeom>
          <a:noFill/>
          <a:ln/>
        </p:spPr>
        <p:txBody>
          <a:bodyPr wrap="square" lIns="0" tIns="0" rIns="0" bIns="0" rtlCol="0" anchor="t"/>
          <a:lstStyle/>
          <a:p>
            <a:pPr marL="0" indent="0">
              <a:buNone/>
            </a:pPr>
            <a:r>
              <a:rPr lang="en-US" sz="1400" b="1" dirty="0">
                <a:solidFill>
                  <a:schemeClr val="tx1"/>
                </a:solidFill>
              </a:rPr>
              <a:t>HAS is total on both sides</a:t>
            </a:r>
            <a:endParaRPr lang="en-US" sz="1400" dirty="0"/>
          </a:p>
        </p:txBody>
      </p:sp>
      <p:sp>
        <p:nvSpPr>
          <p:cNvPr id="28" name="text-148"/>
          <p:cNvSpPr txBox="1"/>
          <p:nvPr/>
        </p:nvSpPr>
        <p:spPr>
          <a:xfrm>
            <a:off x="8293608" y="3749040"/>
            <a:ext cx="3184855" cy="658368"/>
          </a:xfrm>
          <a:prstGeom prst="rect">
            <a:avLst/>
          </a:prstGeom>
          <a:noFill/>
          <a:ln/>
        </p:spPr>
        <p:txBody>
          <a:bodyPr wrap="square" lIns="0" tIns="0" rIns="0" bIns="0" rtlCol="0" anchor="t"/>
          <a:lstStyle/>
          <a:p>
            <a:pPr marL="0" indent="0">
              <a:buNone/>
            </a:pPr>
            <a:r>
              <a:rPr lang="en-US" sz="1100" dirty="0">
                <a:solidFill>
                  <a:schemeClr val="tx2"/>
                </a:solidFill>
              </a:rPr>
              <a:t>The booking transaction inserts each parcel together with its first 'Booked' history row, so no parcel is ever without history.</a:t>
            </a:r>
            <a:endParaRPr lang="en-US" sz="1100" dirty="0"/>
          </a:p>
        </p:txBody>
      </p:sp>
      <p:sp>
        <p:nvSpPr>
          <p:cNvPr id="29" name="rule-card-149"/>
          <p:cNvSpPr/>
          <p:nvPr/>
        </p:nvSpPr>
        <p:spPr>
          <a:xfrm>
            <a:off x="8092440" y="4581144"/>
            <a:ext cx="3550615" cy="1444752"/>
          </a:xfrm>
          <a:prstGeom prst="roundRect">
            <a:avLst>
              <a:gd name="adj" fmla="val 7595"/>
            </a:avLst>
          </a:prstGeom>
          <a:solidFill>
            <a:schemeClr val="bg1"/>
          </a:solidFill>
          <a:ln/>
          <a:effectLst>
            <a:outerShdw blurRad="101600" dist="25400" dir="5400000" algn="bl" rotWithShape="0">
              <a:srgbClr val="000000">
                <a:alpha val="10000"/>
              </a:srgbClr>
            </a:outerShdw>
          </a:effectLst>
        </p:spPr>
      </p:sp>
      <p:sp>
        <p:nvSpPr>
          <p:cNvPr id="30" name="badge-150"/>
          <p:cNvSpPr/>
          <p:nvPr/>
        </p:nvSpPr>
        <p:spPr>
          <a:xfrm>
            <a:off x="8293608" y="4782312"/>
            <a:ext cx="457200" cy="457200"/>
          </a:xfrm>
          <a:prstGeom prst="ellipse">
            <a:avLst/>
          </a:prstGeom>
          <a:solidFill>
            <a:schemeClr val="accent1"/>
          </a:solidFill>
          <a:ln/>
        </p:spPr>
      </p:sp>
      <p:pic>
        <p:nvPicPr>
          <p:cNvPr id="31" name="icon-LuKeyRound-151" descr="C:\Users\srest\AppData\Local\Temp\claude\C--Users-srest\52e86171-7f3f-4f9f-8710-1b05dd1b2558\scratchpad\deck\icons\LuKeyRound_w.png"/>
          <p:cNvPicPr>
            <a:picLocks noChangeAspect="1"/>
          </p:cNvPicPr>
          <p:nvPr/>
        </p:nvPicPr>
        <p:blipFill>
          <a:blip r:embed="rId6"/>
          <a:stretch>
            <a:fillRect/>
          </a:stretch>
        </p:blipFill>
        <p:spPr>
          <a:xfrm>
            <a:off x="8394192" y="4882896"/>
            <a:ext cx="256032" cy="256032"/>
          </a:xfrm>
          <a:prstGeom prst="rect">
            <a:avLst/>
          </a:prstGeom>
        </p:spPr>
      </p:pic>
      <p:sp>
        <p:nvSpPr>
          <p:cNvPr id="32" name="text-152"/>
          <p:cNvSpPr txBox="1"/>
          <p:nvPr/>
        </p:nvSpPr>
        <p:spPr>
          <a:xfrm>
            <a:off x="8869680" y="4828032"/>
            <a:ext cx="2636215" cy="365760"/>
          </a:xfrm>
          <a:prstGeom prst="rect">
            <a:avLst/>
          </a:prstGeom>
          <a:noFill/>
          <a:ln/>
        </p:spPr>
        <p:txBody>
          <a:bodyPr wrap="square" lIns="0" tIns="0" rIns="0" bIns="0" rtlCol="0" anchor="t"/>
          <a:lstStyle/>
          <a:p>
            <a:pPr marL="0" indent="0">
              <a:buNone/>
            </a:pPr>
            <a:r>
              <a:rPr lang="en-US" sz="1400" b="1" dirty="0">
                <a:solidFill>
                  <a:schemeClr val="tx1"/>
                </a:solidFill>
              </a:rPr>
              <a:t>Partial = nullable foreign key</a:t>
            </a:r>
            <a:endParaRPr lang="en-US" sz="1400" dirty="0"/>
          </a:p>
        </p:txBody>
      </p:sp>
      <p:sp>
        <p:nvSpPr>
          <p:cNvPr id="33" name="text-153"/>
          <p:cNvSpPr txBox="1"/>
          <p:nvPr/>
        </p:nvSpPr>
        <p:spPr>
          <a:xfrm>
            <a:off x="8293608" y="5330952"/>
            <a:ext cx="3184855" cy="658368"/>
          </a:xfrm>
          <a:prstGeom prst="rect">
            <a:avLst/>
          </a:prstGeom>
          <a:noFill/>
          <a:ln/>
        </p:spPr>
        <p:txBody>
          <a:bodyPr wrap="square" lIns="0" tIns="0" rIns="0" bIns="0" rtlCol="0" anchor="t"/>
          <a:lstStyle/>
          <a:p>
            <a:pPr marL="0" indent="0">
              <a:buNone/>
            </a:pPr>
            <a:r>
              <a:rPr lang="en-US" sz="1100" dirty="0">
                <a:solidFill>
                  <a:schemeClr val="tx2"/>
                </a:solidFill>
              </a:rPr>
              <a:t>tracking_history.updated_by can be NULL (ON DELETE SET NULL), so history survives if an admin account is removed.</a:t>
            </a:r>
            <a:endParaRPr lang="en-US" sz="1100" dirty="0"/>
          </a:p>
        </p:txBody>
      </p:sp>
      <p:sp>
        <p:nvSpPr>
          <p:cNvPr id="34"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7498080" cy="868680"/>
          </a:xfrm>
          <a:prstGeom prst="rect">
            <a:avLst/>
          </a:prstGeom>
          <a:noFill/>
          <a:ln/>
        </p:spPr>
        <p:txBody>
          <a:bodyPr wrap="square" lIns="0" tIns="0" rIns="0" bIns="0" rtlCol="0" anchor="ctr"/>
          <a:lstStyle/>
          <a:p>
            <a:pPr marL="0" indent="0" algn="l">
              <a:buNone/>
            </a:pPr>
            <a:r>
              <a:rPr lang="en-US" sz="2800" dirty="0">
                <a:solidFill>
                  <a:schemeClr val="tx1"/>
                </a:solidFill>
                <a:latin typeface="Segoe UI Semibold" pitchFamily="34" charset="0"/>
                <a:ea typeface="Segoe UI Semibold" pitchFamily="34" charset="-122"/>
                <a:cs typeface="Segoe UI Semibold" pitchFamily="34" charset="-120"/>
              </a:rPr>
              <a:t>Relational schema: 4 tables and 1 view</a:t>
            </a:r>
            <a:endParaRPr lang="en-US" sz="2800" dirty="0"/>
          </a:p>
        </p:txBody>
      </p:sp>
      <p:sp>
        <p:nvSpPr>
          <p:cNvPr id="3" name="tracker-rail-154"/>
          <p:cNvSpPr/>
          <p:nvPr/>
        </p:nvSpPr>
        <p:spPr>
          <a:xfrm>
            <a:off x="8458200" y="566928"/>
            <a:ext cx="2926080" cy="0"/>
          </a:xfrm>
          <a:prstGeom prst="line">
            <a:avLst/>
          </a:prstGeom>
          <a:noFill/>
          <a:ln w="31750">
            <a:solidFill>
              <a:srgbClr val="D1D5DB"/>
            </a:solidFill>
            <a:prstDash val="solid"/>
          </a:ln>
        </p:spPr>
      </p:sp>
      <p:sp>
        <p:nvSpPr>
          <p:cNvPr id="4" name="tracker-done-155"/>
          <p:cNvSpPr/>
          <p:nvPr/>
        </p:nvSpPr>
        <p:spPr>
          <a:xfrm>
            <a:off x="8458200" y="566928"/>
            <a:ext cx="731520" cy="0"/>
          </a:xfrm>
          <a:prstGeom prst="line">
            <a:avLst/>
          </a:prstGeom>
          <a:noFill/>
          <a:ln w="31750">
            <a:solidFill>
              <a:schemeClr val="accent1"/>
            </a:solidFill>
            <a:prstDash val="solid"/>
          </a:ln>
        </p:spPr>
      </p:sp>
      <p:sp>
        <p:nvSpPr>
          <p:cNvPr id="5" name="tracker-dot-156"/>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157"/>
          <p:cNvSpPr txBox="1"/>
          <p:nvPr/>
        </p:nvSpPr>
        <p:spPr>
          <a:xfrm>
            <a:off x="800100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Problem</a:t>
            </a:r>
            <a:endParaRPr lang="en-US" sz="1000" dirty="0"/>
          </a:p>
        </p:txBody>
      </p:sp>
      <p:sp>
        <p:nvSpPr>
          <p:cNvPr id="7" name="tracker-dot-158"/>
          <p:cNvSpPr/>
          <p:nvPr/>
        </p:nvSpPr>
        <p:spPr>
          <a:xfrm>
            <a:off x="9070848" y="448056"/>
            <a:ext cx="237744" cy="237744"/>
          </a:xfrm>
          <a:prstGeom prst="ellipse">
            <a:avLst/>
          </a:prstGeom>
          <a:solidFill>
            <a:schemeClr val="accent1"/>
          </a:solidFill>
          <a:ln w="19050">
            <a:solidFill>
              <a:schemeClr val="accent1"/>
            </a:solidFill>
            <a:prstDash val="solid"/>
          </a:ln>
        </p:spPr>
      </p:sp>
      <p:sp>
        <p:nvSpPr>
          <p:cNvPr id="8" name="text-159"/>
          <p:cNvSpPr txBox="1"/>
          <p:nvPr/>
        </p:nvSpPr>
        <p:spPr>
          <a:xfrm>
            <a:off x="8732520" y="749808"/>
            <a:ext cx="914400" cy="228600"/>
          </a:xfrm>
          <a:prstGeom prst="rect">
            <a:avLst/>
          </a:prstGeom>
          <a:noFill/>
          <a:ln/>
        </p:spPr>
        <p:txBody>
          <a:bodyPr wrap="square" lIns="0" tIns="0" rIns="0" bIns="0" rtlCol="0" anchor="t"/>
          <a:lstStyle/>
          <a:p>
            <a:pPr marL="0" indent="0" algn="ctr">
              <a:buNone/>
            </a:pPr>
            <a:r>
              <a:rPr lang="en-US" sz="1000" b="1" dirty="0">
                <a:solidFill>
                  <a:schemeClr val="accent1"/>
                </a:solidFill>
              </a:rPr>
              <a:t>ER &amp; Schema</a:t>
            </a:r>
            <a:endParaRPr lang="en-US" sz="1000" dirty="0"/>
          </a:p>
        </p:txBody>
      </p:sp>
      <p:sp>
        <p:nvSpPr>
          <p:cNvPr id="9" name="tracker-dot-160"/>
          <p:cNvSpPr/>
          <p:nvPr/>
        </p:nvSpPr>
        <p:spPr>
          <a:xfrm>
            <a:off x="9848088" y="493776"/>
            <a:ext cx="146304" cy="146304"/>
          </a:xfrm>
          <a:prstGeom prst="ellipse">
            <a:avLst/>
          </a:prstGeom>
          <a:solidFill>
            <a:schemeClr val="bg1"/>
          </a:solidFill>
          <a:ln w="19050">
            <a:solidFill>
              <a:schemeClr val="accent6"/>
            </a:solidFill>
            <a:prstDash val="solid"/>
          </a:ln>
        </p:spPr>
      </p:sp>
      <p:sp>
        <p:nvSpPr>
          <p:cNvPr id="10" name="text-161"/>
          <p:cNvSpPr txBox="1"/>
          <p:nvPr/>
        </p:nvSpPr>
        <p:spPr>
          <a:xfrm>
            <a:off x="946404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Database</a:t>
            </a:r>
            <a:endParaRPr lang="en-US" sz="1000" dirty="0"/>
          </a:p>
        </p:txBody>
      </p:sp>
      <p:sp>
        <p:nvSpPr>
          <p:cNvPr id="11" name="tracker-dot-162"/>
          <p:cNvSpPr/>
          <p:nvPr/>
        </p:nvSpPr>
        <p:spPr>
          <a:xfrm>
            <a:off x="10579608" y="493776"/>
            <a:ext cx="146304" cy="146304"/>
          </a:xfrm>
          <a:prstGeom prst="ellipse">
            <a:avLst/>
          </a:prstGeom>
          <a:solidFill>
            <a:schemeClr val="bg1"/>
          </a:solidFill>
          <a:ln w="19050">
            <a:solidFill>
              <a:schemeClr val="accent6"/>
            </a:solidFill>
            <a:prstDash val="solid"/>
          </a:ln>
        </p:spPr>
      </p:sp>
      <p:sp>
        <p:nvSpPr>
          <p:cNvPr id="12" name="text-163"/>
          <p:cNvSpPr txBox="1"/>
          <p:nvPr/>
        </p:nvSpPr>
        <p:spPr>
          <a:xfrm>
            <a:off x="1019556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UI Demo</a:t>
            </a:r>
            <a:endParaRPr lang="en-US" sz="1000" dirty="0"/>
          </a:p>
        </p:txBody>
      </p:sp>
      <p:sp>
        <p:nvSpPr>
          <p:cNvPr id="13" name="tracker-dot-164"/>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165"/>
          <p:cNvSpPr txBox="1"/>
          <p:nvPr/>
        </p:nvSpPr>
        <p:spPr>
          <a:xfrm>
            <a:off x="1092708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Q&amp;A</a:t>
            </a:r>
            <a:endParaRPr lang="en-US" sz="1000" dirty="0"/>
          </a:p>
        </p:txBody>
      </p:sp>
      <p:sp>
        <p:nvSpPr>
          <p:cNvPr id="15" name="schema-users-166"/>
          <p:cNvSpPr/>
          <p:nvPr/>
        </p:nvSpPr>
        <p:spPr>
          <a:xfrm>
            <a:off x="548640" y="1417320"/>
            <a:ext cx="2615184" cy="1572768"/>
          </a:xfrm>
          <a:prstGeom prst="roundRect">
            <a:avLst>
              <a:gd name="adj" fmla="val 6977"/>
            </a:avLst>
          </a:prstGeom>
          <a:solidFill>
            <a:schemeClr val="bg1"/>
          </a:solidFill>
          <a:ln w="12700">
            <a:solidFill>
              <a:srgbClr val="F4F5F7"/>
            </a:solidFill>
            <a:prstDash val="solid"/>
          </a:ln>
          <a:effectLst>
            <a:outerShdw blurRad="101600" dist="25400" dir="5400000" algn="bl" rotWithShape="0">
              <a:srgbClr val="000000">
                <a:alpha val="10000"/>
              </a:srgbClr>
            </a:outerShdw>
          </a:effectLst>
        </p:spPr>
      </p:sp>
      <p:sp>
        <p:nvSpPr>
          <p:cNvPr id="16" name="schema-head-167"/>
          <p:cNvSpPr/>
          <p:nvPr/>
        </p:nvSpPr>
        <p:spPr>
          <a:xfrm>
            <a:off x="548640" y="1417320"/>
            <a:ext cx="2615184" cy="384048"/>
          </a:xfrm>
          <a:prstGeom prst="roundRect">
            <a:avLst>
              <a:gd name="adj" fmla="val 28571"/>
            </a:avLst>
          </a:prstGeom>
          <a:solidFill>
            <a:schemeClr val="tx1"/>
          </a:solidFill>
          <a:ln/>
        </p:spPr>
      </p:sp>
      <p:sp>
        <p:nvSpPr>
          <p:cNvPr id="17" name="schema-head-fill-168"/>
          <p:cNvSpPr/>
          <p:nvPr/>
        </p:nvSpPr>
        <p:spPr>
          <a:xfrm>
            <a:off x="548640" y="1673352"/>
            <a:ext cx="2615184" cy="128016"/>
          </a:xfrm>
          <a:prstGeom prst="rect">
            <a:avLst/>
          </a:prstGeom>
          <a:solidFill>
            <a:schemeClr val="tx1"/>
          </a:solidFill>
          <a:ln/>
        </p:spPr>
      </p:sp>
      <p:sp>
        <p:nvSpPr>
          <p:cNvPr id="18" name="text-169"/>
          <p:cNvSpPr txBox="1"/>
          <p:nvPr/>
        </p:nvSpPr>
        <p:spPr>
          <a:xfrm>
            <a:off x="685800" y="1417320"/>
            <a:ext cx="2340864" cy="384048"/>
          </a:xfrm>
          <a:prstGeom prst="rect">
            <a:avLst/>
          </a:prstGeom>
          <a:noFill/>
          <a:ln/>
        </p:spPr>
        <p:txBody>
          <a:bodyPr wrap="square" lIns="0" tIns="0" rIns="0" bIns="0" rtlCol="0" anchor="ctr"/>
          <a:lstStyle/>
          <a:p>
            <a:pPr marL="0" indent="0">
              <a:buNone/>
            </a:pPr>
            <a:r>
              <a:rPr lang="en-US" sz="1400" b="1" dirty="0">
                <a:solidFill>
                  <a:schemeClr val="bg1"/>
                </a:solidFill>
                <a:latin typeface="Consolas" pitchFamily="34" charset="0"/>
                <a:ea typeface="Consolas" pitchFamily="34" charset="-122"/>
                <a:cs typeface="Consolas" pitchFamily="34" charset="-120"/>
              </a:rPr>
              <a:t>users</a:t>
            </a:r>
            <a:endParaRPr lang="en-US" sz="1400" dirty="0"/>
          </a:p>
        </p:txBody>
      </p:sp>
      <p:sp>
        <p:nvSpPr>
          <p:cNvPr id="19" name="tag-PK-170"/>
          <p:cNvSpPr/>
          <p:nvPr/>
        </p:nvSpPr>
        <p:spPr>
          <a:xfrm>
            <a:off x="685800" y="1929384"/>
            <a:ext cx="329184" cy="182880"/>
          </a:xfrm>
          <a:prstGeom prst="roundRect">
            <a:avLst>
              <a:gd name="adj" fmla="val 20000"/>
            </a:avLst>
          </a:prstGeom>
          <a:solidFill>
            <a:schemeClr val="accent1"/>
          </a:solidFill>
          <a:ln/>
        </p:spPr>
      </p:sp>
      <p:sp>
        <p:nvSpPr>
          <p:cNvPr id="20" name="text-171"/>
          <p:cNvSpPr txBox="1"/>
          <p:nvPr/>
        </p:nvSpPr>
        <p:spPr>
          <a:xfrm>
            <a:off x="685800" y="1929384"/>
            <a:ext cx="329184" cy="182880"/>
          </a:xfrm>
          <a:prstGeom prst="rect">
            <a:avLst/>
          </a:prstGeom>
          <a:noFill/>
          <a:ln/>
        </p:spPr>
        <p:txBody>
          <a:bodyPr wrap="square" lIns="0" tIns="0" rIns="0" bIns="0" rtlCol="0" anchor="ctr"/>
          <a:lstStyle/>
          <a:p>
            <a:pPr marL="0" indent="0" algn="ctr">
              <a:buNone/>
            </a:pPr>
            <a:r>
              <a:rPr lang="en-US" sz="800" b="1" dirty="0">
                <a:solidFill>
                  <a:schemeClr val="bg1"/>
                </a:solidFill>
              </a:rPr>
              <a:t>PK</a:t>
            </a:r>
            <a:endParaRPr lang="en-US" sz="800" dirty="0"/>
          </a:p>
        </p:txBody>
      </p:sp>
      <p:sp>
        <p:nvSpPr>
          <p:cNvPr id="21" name="text-172"/>
          <p:cNvSpPr txBox="1"/>
          <p:nvPr/>
        </p:nvSpPr>
        <p:spPr>
          <a:xfrm>
            <a:off x="1097280" y="1892808"/>
            <a:ext cx="1554480" cy="256032"/>
          </a:xfrm>
          <a:prstGeom prst="rect">
            <a:avLst/>
          </a:prstGeom>
          <a:noFill/>
          <a:ln/>
        </p:spPr>
        <p:txBody>
          <a:bodyPr wrap="square" lIns="0" tIns="0" rIns="0" bIns="0" rtlCol="0" anchor="ctr"/>
          <a:lstStyle/>
          <a:p>
            <a:pPr marL="0" indent="0">
              <a:buNone/>
            </a:pPr>
            <a:r>
              <a:rPr lang="en-US" sz="1100" b="1" u="sng" dirty="0">
                <a:solidFill>
                  <a:schemeClr val="tx1"/>
                </a:solidFill>
                <a:latin typeface="Consolas" pitchFamily="34" charset="0"/>
                <a:ea typeface="Consolas" pitchFamily="34" charset="-122"/>
                <a:cs typeface="Consolas" pitchFamily="34" charset="-120"/>
              </a:rPr>
              <a:t>user_id</a:t>
            </a:r>
            <a:endParaRPr lang="en-US" sz="1100" dirty="0"/>
          </a:p>
        </p:txBody>
      </p:sp>
      <p:sp>
        <p:nvSpPr>
          <p:cNvPr id="22" name="tag-UQ-173"/>
          <p:cNvSpPr/>
          <p:nvPr/>
        </p:nvSpPr>
        <p:spPr>
          <a:xfrm>
            <a:off x="685800" y="2203704"/>
            <a:ext cx="329184" cy="182880"/>
          </a:xfrm>
          <a:prstGeom prst="roundRect">
            <a:avLst>
              <a:gd name="adj" fmla="val 20000"/>
            </a:avLst>
          </a:prstGeom>
          <a:solidFill>
            <a:schemeClr val="bg2"/>
          </a:solidFill>
          <a:ln/>
        </p:spPr>
      </p:sp>
      <p:sp>
        <p:nvSpPr>
          <p:cNvPr id="23" name="text-174"/>
          <p:cNvSpPr txBox="1"/>
          <p:nvPr/>
        </p:nvSpPr>
        <p:spPr>
          <a:xfrm>
            <a:off x="685800" y="2203704"/>
            <a:ext cx="329184" cy="182880"/>
          </a:xfrm>
          <a:prstGeom prst="rect">
            <a:avLst/>
          </a:prstGeom>
          <a:noFill/>
          <a:ln/>
        </p:spPr>
        <p:txBody>
          <a:bodyPr wrap="square" lIns="0" tIns="0" rIns="0" bIns="0" rtlCol="0" anchor="ctr"/>
          <a:lstStyle/>
          <a:p>
            <a:pPr marL="0" indent="0" algn="ctr">
              <a:buNone/>
            </a:pPr>
            <a:r>
              <a:rPr lang="en-US" sz="800" b="1" dirty="0">
                <a:solidFill>
                  <a:schemeClr val="tx2"/>
                </a:solidFill>
              </a:rPr>
              <a:t>UQ</a:t>
            </a:r>
            <a:endParaRPr lang="en-US" sz="800" dirty="0"/>
          </a:p>
        </p:txBody>
      </p:sp>
      <p:sp>
        <p:nvSpPr>
          <p:cNvPr id="24" name="text-175"/>
          <p:cNvSpPr txBox="1"/>
          <p:nvPr/>
        </p:nvSpPr>
        <p:spPr>
          <a:xfrm>
            <a:off x="1097280" y="2167128"/>
            <a:ext cx="1554480" cy="256032"/>
          </a:xfrm>
          <a:prstGeom prst="rect">
            <a:avLst/>
          </a:prstGeom>
          <a:noFill/>
          <a:ln/>
        </p:spPr>
        <p:txBody>
          <a:bodyPr wrap="square" lIns="0" tIns="0" rIns="0" bIns="0" rtlCol="0" anchor="ctr"/>
          <a:lstStyle/>
          <a:p>
            <a:pPr marL="0" indent="0">
              <a:buNone/>
            </a:pPr>
            <a:r>
              <a:rPr lang="en-US" sz="1100" dirty="0">
                <a:solidFill>
                  <a:schemeClr val="tx1"/>
                </a:solidFill>
                <a:latin typeface="Consolas" pitchFamily="34" charset="0"/>
                <a:ea typeface="Consolas" pitchFamily="34" charset="-122"/>
                <a:cs typeface="Consolas" pitchFamily="34" charset="-120"/>
              </a:rPr>
              <a:t>email</a:t>
            </a:r>
            <a:endParaRPr lang="en-US" sz="1100" dirty="0"/>
          </a:p>
        </p:txBody>
      </p:sp>
      <p:sp>
        <p:nvSpPr>
          <p:cNvPr id="25" name="text-176"/>
          <p:cNvSpPr txBox="1"/>
          <p:nvPr/>
        </p:nvSpPr>
        <p:spPr>
          <a:xfrm>
            <a:off x="685800" y="2441448"/>
            <a:ext cx="2340864" cy="448056"/>
          </a:xfrm>
          <a:prstGeom prst="rect">
            <a:avLst/>
          </a:prstGeom>
          <a:noFill/>
          <a:ln/>
        </p:spPr>
        <p:txBody>
          <a:bodyPr wrap="square" lIns="0" tIns="0" rIns="0" bIns="0" rtlCol="0" anchor="t"/>
          <a:lstStyle/>
          <a:p>
            <a:pPr marL="0" indent="0">
              <a:buNone/>
            </a:pPr>
            <a:r>
              <a:rPr lang="en-US" sz="1000" i="1" dirty="0">
                <a:solidFill>
                  <a:schemeClr val="accent6"/>
                </a:solidFill>
              </a:rPr>
              <a:t>name, phone, password_hash, role (ENUM), created_at</a:t>
            </a:r>
            <a:endParaRPr lang="en-US" sz="1000" dirty="0"/>
          </a:p>
        </p:txBody>
      </p:sp>
      <p:sp>
        <p:nvSpPr>
          <p:cNvPr id="26" name="schema-parcels-177"/>
          <p:cNvSpPr/>
          <p:nvPr/>
        </p:nvSpPr>
        <p:spPr>
          <a:xfrm>
            <a:off x="3374136" y="1417320"/>
            <a:ext cx="2615184" cy="3566160"/>
          </a:xfrm>
          <a:prstGeom prst="roundRect">
            <a:avLst>
              <a:gd name="adj" fmla="val 4196"/>
            </a:avLst>
          </a:prstGeom>
          <a:solidFill>
            <a:schemeClr val="bg1"/>
          </a:solidFill>
          <a:ln w="12700">
            <a:solidFill>
              <a:srgbClr val="F4F5F7"/>
            </a:solidFill>
            <a:prstDash val="solid"/>
          </a:ln>
          <a:effectLst>
            <a:outerShdw blurRad="101600" dist="25400" dir="5400000" algn="bl" rotWithShape="0">
              <a:srgbClr val="000000">
                <a:alpha val="10000"/>
              </a:srgbClr>
            </a:outerShdw>
          </a:effectLst>
        </p:spPr>
      </p:sp>
      <p:sp>
        <p:nvSpPr>
          <p:cNvPr id="27" name="schema-head-178"/>
          <p:cNvSpPr/>
          <p:nvPr/>
        </p:nvSpPr>
        <p:spPr>
          <a:xfrm>
            <a:off x="3374136" y="1417320"/>
            <a:ext cx="2615184" cy="384048"/>
          </a:xfrm>
          <a:prstGeom prst="roundRect">
            <a:avLst>
              <a:gd name="adj" fmla="val 28571"/>
            </a:avLst>
          </a:prstGeom>
          <a:solidFill>
            <a:schemeClr val="tx1"/>
          </a:solidFill>
          <a:ln/>
        </p:spPr>
      </p:sp>
      <p:sp>
        <p:nvSpPr>
          <p:cNvPr id="28" name="schema-head-fill-179"/>
          <p:cNvSpPr/>
          <p:nvPr/>
        </p:nvSpPr>
        <p:spPr>
          <a:xfrm>
            <a:off x="3374136" y="1673352"/>
            <a:ext cx="2615184" cy="128016"/>
          </a:xfrm>
          <a:prstGeom prst="rect">
            <a:avLst/>
          </a:prstGeom>
          <a:solidFill>
            <a:schemeClr val="tx1"/>
          </a:solidFill>
          <a:ln/>
        </p:spPr>
      </p:sp>
      <p:sp>
        <p:nvSpPr>
          <p:cNvPr id="29" name="text-180"/>
          <p:cNvSpPr txBox="1"/>
          <p:nvPr/>
        </p:nvSpPr>
        <p:spPr>
          <a:xfrm>
            <a:off x="3511296" y="1417320"/>
            <a:ext cx="2340864" cy="384048"/>
          </a:xfrm>
          <a:prstGeom prst="rect">
            <a:avLst/>
          </a:prstGeom>
          <a:noFill/>
          <a:ln/>
        </p:spPr>
        <p:txBody>
          <a:bodyPr wrap="square" lIns="0" tIns="0" rIns="0" bIns="0" rtlCol="0" anchor="ctr"/>
          <a:lstStyle/>
          <a:p>
            <a:pPr marL="0" indent="0">
              <a:buNone/>
            </a:pPr>
            <a:r>
              <a:rPr lang="en-US" sz="1400" b="1" dirty="0">
                <a:solidFill>
                  <a:schemeClr val="bg1"/>
                </a:solidFill>
                <a:latin typeface="Consolas" pitchFamily="34" charset="0"/>
                <a:ea typeface="Consolas" pitchFamily="34" charset="-122"/>
                <a:cs typeface="Consolas" pitchFamily="34" charset="-120"/>
              </a:rPr>
              <a:t>parcels</a:t>
            </a:r>
            <a:endParaRPr lang="en-US" sz="1400" dirty="0"/>
          </a:p>
        </p:txBody>
      </p:sp>
      <p:sp>
        <p:nvSpPr>
          <p:cNvPr id="30" name="tag-PK-181"/>
          <p:cNvSpPr/>
          <p:nvPr/>
        </p:nvSpPr>
        <p:spPr>
          <a:xfrm>
            <a:off x="3511296" y="1929384"/>
            <a:ext cx="329184" cy="182880"/>
          </a:xfrm>
          <a:prstGeom prst="roundRect">
            <a:avLst>
              <a:gd name="adj" fmla="val 20000"/>
            </a:avLst>
          </a:prstGeom>
          <a:solidFill>
            <a:schemeClr val="accent1"/>
          </a:solidFill>
          <a:ln/>
        </p:spPr>
      </p:sp>
      <p:sp>
        <p:nvSpPr>
          <p:cNvPr id="31" name="text-182"/>
          <p:cNvSpPr txBox="1"/>
          <p:nvPr/>
        </p:nvSpPr>
        <p:spPr>
          <a:xfrm>
            <a:off x="3511296" y="1929384"/>
            <a:ext cx="329184" cy="182880"/>
          </a:xfrm>
          <a:prstGeom prst="rect">
            <a:avLst/>
          </a:prstGeom>
          <a:noFill/>
          <a:ln/>
        </p:spPr>
        <p:txBody>
          <a:bodyPr wrap="square" lIns="0" tIns="0" rIns="0" bIns="0" rtlCol="0" anchor="ctr"/>
          <a:lstStyle/>
          <a:p>
            <a:pPr marL="0" indent="0" algn="ctr">
              <a:buNone/>
            </a:pPr>
            <a:r>
              <a:rPr lang="en-US" sz="800" b="1" dirty="0">
                <a:solidFill>
                  <a:schemeClr val="bg1"/>
                </a:solidFill>
              </a:rPr>
              <a:t>PK</a:t>
            </a:r>
            <a:endParaRPr lang="en-US" sz="800" dirty="0"/>
          </a:p>
        </p:txBody>
      </p:sp>
      <p:sp>
        <p:nvSpPr>
          <p:cNvPr id="32" name="text-183"/>
          <p:cNvSpPr txBox="1"/>
          <p:nvPr/>
        </p:nvSpPr>
        <p:spPr>
          <a:xfrm>
            <a:off x="3922776" y="1892808"/>
            <a:ext cx="1554480" cy="256032"/>
          </a:xfrm>
          <a:prstGeom prst="rect">
            <a:avLst/>
          </a:prstGeom>
          <a:noFill/>
          <a:ln/>
        </p:spPr>
        <p:txBody>
          <a:bodyPr wrap="square" lIns="0" tIns="0" rIns="0" bIns="0" rtlCol="0" anchor="ctr"/>
          <a:lstStyle/>
          <a:p>
            <a:pPr marL="0" indent="0">
              <a:buNone/>
            </a:pPr>
            <a:r>
              <a:rPr lang="en-US" sz="1100" b="1" u="sng" dirty="0">
                <a:solidFill>
                  <a:schemeClr val="tx1"/>
                </a:solidFill>
                <a:latin typeface="Consolas" pitchFamily="34" charset="0"/>
                <a:ea typeface="Consolas" pitchFamily="34" charset="-122"/>
                <a:cs typeface="Consolas" pitchFamily="34" charset="-120"/>
              </a:rPr>
              <a:t>parcel_id</a:t>
            </a:r>
            <a:endParaRPr lang="en-US" sz="1100" dirty="0"/>
          </a:p>
        </p:txBody>
      </p:sp>
      <p:sp>
        <p:nvSpPr>
          <p:cNvPr id="33" name="tag-UQ-184"/>
          <p:cNvSpPr/>
          <p:nvPr/>
        </p:nvSpPr>
        <p:spPr>
          <a:xfrm>
            <a:off x="3511296" y="2203704"/>
            <a:ext cx="329184" cy="182880"/>
          </a:xfrm>
          <a:prstGeom prst="roundRect">
            <a:avLst>
              <a:gd name="adj" fmla="val 20000"/>
            </a:avLst>
          </a:prstGeom>
          <a:solidFill>
            <a:schemeClr val="bg2"/>
          </a:solidFill>
          <a:ln/>
        </p:spPr>
      </p:sp>
      <p:sp>
        <p:nvSpPr>
          <p:cNvPr id="34" name="text-185"/>
          <p:cNvSpPr txBox="1"/>
          <p:nvPr/>
        </p:nvSpPr>
        <p:spPr>
          <a:xfrm>
            <a:off x="3511296" y="2203704"/>
            <a:ext cx="329184" cy="182880"/>
          </a:xfrm>
          <a:prstGeom prst="rect">
            <a:avLst/>
          </a:prstGeom>
          <a:noFill/>
          <a:ln/>
        </p:spPr>
        <p:txBody>
          <a:bodyPr wrap="square" lIns="0" tIns="0" rIns="0" bIns="0" rtlCol="0" anchor="ctr"/>
          <a:lstStyle/>
          <a:p>
            <a:pPr marL="0" indent="0" algn="ctr">
              <a:buNone/>
            </a:pPr>
            <a:r>
              <a:rPr lang="en-US" sz="800" b="1" dirty="0">
                <a:solidFill>
                  <a:schemeClr val="tx2"/>
                </a:solidFill>
              </a:rPr>
              <a:t>UQ</a:t>
            </a:r>
            <a:endParaRPr lang="en-US" sz="800" dirty="0"/>
          </a:p>
        </p:txBody>
      </p:sp>
      <p:sp>
        <p:nvSpPr>
          <p:cNvPr id="35" name="text-186"/>
          <p:cNvSpPr txBox="1"/>
          <p:nvPr/>
        </p:nvSpPr>
        <p:spPr>
          <a:xfrm>
            <a:off x="3922776" y="2167128"/>
            <a:ext cx="1554480" cy="256032"/>
          </a:xfrm>
          <a:prstGeom prst="rect">
            <a:avLst/>
          </a:prstGeom>
          <a:noFill/>
          <a:ln/>
        </p:spPr>
        <p:txBody>
          <a:bodyPr wrap="square" lIns="0" tIns="0" rIns="0" bIns="0" rtlCol="0" anchor="ctr"/>
          <a:lstStyle/>
          <a:p>
            <a:pPr marL="0" indent="0">
              <a:buNone/>
            </a:pPr>
            <a:r>
              <a:rPr lang="en-US" sz="1100" dirty="0">
                <a:solidFill>
                  <a:schemeClr val="tx1"/>
                </a:solidFill>
                <a:latin typeface="Consolas" pitchFamily="34" charset="0"/>
                <a:ea typeface="Consolas" pitchFamily="34" charset="-122"/>
                <a:cs typeface="Consolas" pitchFamily="34" charset="-120"/>
              </a:rPr>
              <a:t>tracking_id</a:t>
            </a:r>
            <a:endParaRPr lang="en-US" sz="1100" dirty="0"/>
          </a:p>
        </p:txBody>
      </p:sp>
      <p:sp>
        <p:nvSpPr>
          <p:cNvPr id="36" name="tag-FK-187"/>
          <p:cNvSpPr/>
          <p:nvPr/>
        </p:nvSpPr>
        <p:spPr>
          <a:xfrm>
            <a:off x="3511296" y="2478024"/>
            <a:ext cx="329184" cy="182880"/>
          </a:xfrm>
          <a:prstGeom prst="roundRect">
            <a:avLst>
              <a:gd name="adj" fmla="val 20000"/>
            </a:avLst>
          </a:prstGeom>
          <a:solidFill>
            <a:schemeClr val="tx2"/>
          </a:solidFill>
          <a:ln/>
        </p:spPr>
      </p:sp>
      <p:sp>
        <p:nvSpPr>
          <p:cNvPr id="37" name="text-188"/>
          <p:cNvSpPr txBox="1"/>
          <p:nvPr/>
        </p:nvSpPr>
        <p:spPr>
          <a:xfrm>
            <a:off x="3511296" y="2478024"/>
            <a:ext cx="329184" cy="182880"/>
          </a:xfrm>
          <a:prstGeom prst="rect">
            <a:avLst/>
          </a:prstGeom>
          <a:noFill/>
          <a:ln/>
        </p:spPr>
        <p:txBody>
          <a:bodyPr wrap="square" lIns="0" tIns="0" rIns="0" bIns="0" rtlCol="0" anchor="ctr"/>
          <a:lstStyle/>
          <a:p>
            <a:pPr marL="0" indent="0" algn="ctr">
              <a:buNone/>
            </a:pPr>
            <a:r>
              <a:rPr lang="en-US" sz="800" b="1" dirty="0">
                <a:solidFill>
                  <a:schemeClr val="bg1"/>
                </a:solidFill>
              </a:rPr>
              <a:t>FK</a:t>
            </a:r>
            <a:endParaRPr lang="en-US" sz="800" dirty="0"/>
          </a:p>
        </p:txBody>
      </p:sp>
      <p:sp>
        <p:nvSpPr>
          <p:cNvPr id="38" name="text-189"/>
          <p:cNvSpPr txBox="1"/>
          <p:nvPr/>
        </p:nvSpPr>
        <p:spPr>
          <a:xfrm>
            <a:off x="3922776" y="2441448"/>
            <a:ext cx="1554480" cy="256032"/>
          </a:xfrm>
          <a:prstGeom prst="rect">
            <a:avLst/>
          </a:prstGeom>
          <a:noFill/>
          <a:ln/>
        </p:spPr>
        <p:txBody>
          <a:bodyPr wrap="square" lIns="0" tIns="0" rIns="0" bIns="0" rtlCol="0" anchor="ctr"/>
          <a:lstStyle/>
          <a:p>
            <a:pPr marL="0" indent="0">
              <a:buNone/>
            </a:pPr>
            <a:r>
              <a:rPr lang="en-US" sz="1100" dirty="0">
                <a:solidFill>
                  <a:schemeClr val="tx1"/>
                </a:solidFill>
                <a:latin typeface="Consolas" pitchFamily="34" charset="0"/>
                <a:ea typeface="Consolas" pitchFamily="34" charset="-122"/>
                <a:cs typeface="Consolas" pitchFamily="34" charset="-120"/>
              </a:rPr>
              <a:t>customer_id</a:t>
            </a:r>
            <a:endParaRPr lang="en-US" sz="1100" dirty="0"/>
          </a:p>
        </p:txBody>
      </p:sp>
      <p:sp>
        <p:nvSpPr>
          <p:cNvPr id="39" name="text-190"/>
          <p:cNvSpPr txBox="1"/>
          <p:nvPr/>
        </p:nvSpPr>
        <p:spPr>
          <a:xfrm>
            <a:off x="4791456" y="2441448"/>
            <a:ext cx="1060704" cy="256032"/>
          </a:xfrm>
          <a:prstGeom prst="rect">
            <a:avLst/>
          </a:prstGeom>
          <a:noFill/>
          <a:ln/>
        </p:spPr>
        <p:txBody>
          <a:bodyPr wrap="square" lIns="0" tIns="0" rIns="0" bIns="0" rtlCol="0" anchor="ctr"/>
          <a:lstStyle/>
          <a:p>
            <a:pPr marL="0" indent="0" algn="r">
              <a:buNone/>
            </a:pPr>
            <a:r>
              <a:rPr lang="en-US" sz="1000" dirty="0">
                <a:solidFill>
                  <a:schemeClr val="accent1"/>
                </a:solidFill>
              </a:rPr>
              <a:t>→ users</a:t>
            </a:r>
            <a:endParaRPr lang="en-US" sz="1000" dirty="0"/>
          </a:p>
        </p:txBody>
      </p:sp>
      <p:sp>
        <p:nvSpPr>
          <p:cNvPr id="40" name="text-191"/>
          <p:cNvSpPr txBox="1"/>
          <p:nvPr/>
        </p:nvSpPr>
        <p:spPr>
          <a:xfrm>
            <a:off x="3511296" y="2715768"/>
            <a:ext cx="2340864" cy="448056"/>
          </a:xfrm>
          <a:prstGeom prst="rect">
            <a:avLst/>
          </a:prstGeom>
          <a:noFill/>
          <a:ln/>
        </p:spPr>
        <p:txBody>
          <a:bodyPr wrap="square" lIns="0" tIns="0" rIns="0" bIns="0" rtlCol="0" anchor="t"/>
          <a:lstStyle/>
          <a:p>
            <a:pPr marL="0" indent="0">
              <a:buNone/>
            </a:pPr>
            <a:r>
              <a:rPr lang="en-US" sz="1000" i="1" dirty="0">
                <a:solidFill>
                  <a:schemeClr val="accent6"/>
                </a:solidFill>
              </a:rPr>
              <a:t>sender_name, sender_phone, sender_address, sender_city</a:t>
            </a:r>
            <a:endParaRPr lang="en-US" sz="1000" dirty="0"/>
          </a:p>
        </p:txBody>
      </p:sp>
      <p:sp>
        <p:nvSpPr>
          <p:cNvPr id="41" name="text-192"/>
          <p:cNvSpPr txBox="1"/>
          <p:nvPr/>
        </p:nvSpPr>
        <p:spPr>
          <a:xfrm>
            <a:off x="3511296" y="3172968"/>
            <a:ext cx="2340864" cy="649224"/>
          </a:xfrm>
          <a:prstGeom prst="rect">
            <a:avLst/>
          </a:prstGeom>
          <a:noFill/>
          <a:ln/>
        </p:spPr>
        <p:txBody>
          <a:bodyPr wrap="square" lIns="0" tIns="0" rIns="0" bIns="0" rtlCol="0" anchor="t"/>
          <a:lstStyle/>
          <a:p>
            <a:pPr marL="0" indent="0">
              <a:buNone/>
            </a:pPr>
            <a:r>
              <a:rPr lang="en-US" sz="1000" i="1" dirty="0">
                <a:solidFill>
                  <a:schemeClr val="accent6"/>
                </a:solidFill>
              </a:rPr>
              <a:t>receiver_name, receiver_phone, receiver_address, receiver_city</a:t>
            </a:r>
            <a:endParaRPr lang="en-US" sz="1000" dirty="0"/>
          </a:p>
        </p:txBody>
      </p:sp>
      <p:sp>
        <p:nvSpPr>
          <p:cNvPr id="42" name="text-193"/>
          <p:cNvSpPr txBox="1"/>
          <p:nvPr/>
        </p:nvSpPr>
        <p:spPr>
          <a:xfrm>
            <a:off x="3511296" y="3831336"/>
            <a:ext cx="2340864" cy="1051560"/>
          </a:xfrm>
          <a:prstGeom prst="rect">
            <a:avLst/>
          </a:prstGeom>
          <a:noFill/>
          <a:ln/>
        </p:spPr>
        <p:txBody>
          <a:bodyPr wrap="square" lIns="0" tIns="0" rIns="0" bIns="0" rtlCol="0" anchor="t"/>
          <a:lstStyle/>
          <a:p>
            <a:pPr marL="0" indent="0">
              <a:buNone/>
            </a:pPr>
            <a:r>
              <a:rPr lang="en-US" sz="1000" i="1" dirty="0">
                <a:solidFill>
                  <a:schemeClr val="accent6"/>
                </a:solidFill>
              </a:rPr>
              <a:t>parcel_type, weight_kg, booking_date, expected_delivery_date, delivery_charge, payment_status, current_status, created_at</a:t>
            </a:r>
            <a:endParaRPr lang="en-US" sz="1000" dirty="0"/>
          </a:p>
        </p:txBody>
      </p:sp>
      <p:sp>
        <p:nvSpPr>
          <p:cNvPr id="43" name="schema-tracking_history-194"/>
          <p:cNvSpPr/>
          <p:nvPr/>
        </p:nvSpPr>
        <p:spPr>
          <a:xfrm>
            <a:off x="6199632" y="1417320"/>
            <a:ext cx="2615184" cy="1847088"/>
          </a:xfrm>
          <a:prstGeom prst="roundRect">
            <a:avLst>
              <a:gd name="adj" fmla="val 5941"/>
            </a:avLst>
          </a:prstGeom>
          <a:solidFill>
            <a:schemeClr val="bg1"/>
          </a:solidFill>
          <a:ln w="12700">
            <a:solidFill>
              <a:srgbClr val="F4F5F7"/>
            </a:solidFill>
            <a:prstDash val="solid"/>
          </a:ln>
          <a:effectLst>
            <a:outerShdw blurRad="101600" dist="25400" dir="5400000" algn="bl" rotWithShape="0">
              <a:srgbClr val="000000">
                <a:alpha val="10000"/>
              </a:srgbClr>
            </a:outerShdw>
          </a:effectLst>
        </p:spPr>
      </p:sp>
      <p:sp>
        <p:nvSpPr>
          <p:cNvPr id="44" name="schema-head-195"/>
          <p:cNvSpPr/>
          <p:nvPr/>
        </p:nvSpPr>
        <p:spPr>
          <a:xfrm>
            <a:off x="6199632" y="1417320"/>
            <a:ext cx="2615184" cy="384048"/>
          </a:xfrm>
          <a:prstGeom prst="roundRect">
            <a:avLst>
              <a:gd name="adj" fmla="val 28571"/>
            </a:avLst>
          </a:prstGeom>
          <a:solidFill>
            <a:schemeClr val="tx1"/>
          </a:solidFill>
          <a:ln/>
        </p:spPr>
      </p:sp>
      <p:sp>
        <p:nvSpPr>
          <p:cNvPr id="45" name="schema-head-fill-196"/>
          <p:cNvSpPr/>
          <p:nvPr/>
        </p:nvSpPr>
        <p:spPr>
          <a:xfrm>
            <a:off x="6199632" y="1673352"/>
            <a:ext cx="2615184" cy="128016"/>
          </a:xfrm>
          <a:prstGeom prst="rect">
            <a:avLst/>
          </a:prstGeom>
          <a:solidFill>
            <a:schemeClr val="tx1"/>
          </a:solidFill>
          <a:ln/>
        </p:spPr>
      </p:sp>
      <p:sp>
        <p:nvSpPr>
          <p:cNvPr id="46" name="text-197"/>
          <p:cNvSpPr txBox="1"/>
          <p:nvPr/>
        </p:nvSpPr>
        <p:spPr>
          <a:xfrm>
            <a:off x="6336792" y="1417320"/>
            <a:ext cx="2340864" cy="384048"/>
          </a:xfrm>
          <a:prstGeom prst="rect">
            <a:avLst/>
          </a:prstGeom>
          <a:noFill/>
          <a:ln/>
        </p:spPr>
        <p:txBody>
          <a:bodyPr wrap="square" lIns="0" tIns="0" rIns="0" bIns="0" rtlCol="0" anchor="ctr"/>
          <a:lstStyle/>
          <a:p>
            <a:pPr marL="0" indent="0">
              <a:buNone/>
            </a:pPr>
            <a:r>
              <a:rPr lang="en-US" sz="1400" b="1" dirty="0">
                <a:solidFill>
                  <a:schemeClr val="bg1"/>
                </a:solidFill>
                <a:latin typeface="Consolas" pitchFamily="34" charset="0"/>
                <a:ea typeface="Consolas" pitchFamily="34" charset="-122"/>
                <a:cs typeface="Consolas" pitchFamily="34" charset="-120"/>
              </a:rPr>
              <a:t>tracking_history</a:t>
            </a:r>
            <a:endParaRPr lang="en-US" sz="1400" dirty="0"/>
          </a:p>
        </p:txBody>
      </p:sp>
      <p:sp>
        <p:nvSpPr>
          <p:cNvPr id="47" name="tag-PK-198"/>
          <p:cNvSpPr/>
          <p:nvPr/>
        </p:nvSpPr>
        <p:spPr>
          <a:xfrm>
            <a:off x="6336792" y="1929384"/>
            <a:ext cx="329184" cy="182880"/>
          </a:xfrm>
          <a:prstGeom prst="roundRect">
            <a:avLst>
              <a:gd name="adj" fmla="val 20000"/>
            </a:avLst>
          </a:prstGeom>
          <a:solidFill>
            <a:schemeClr val="accent1"/>
          </a:solidFill>
          <a:ln/>
        </p:spPr>
      </p:sp>
      <p:sp>
        <p:nvSpPr>
          <p:cNvPr id="48" name="text-199"/>
          <p:cNvSpPr txBox="1"/>
          <p:nvPr/>
        </p:nvSpPr>
        <p:spPr>
          <a:xfrm>
            <a:off x="6336792" y="1929384"/>
            <a:ext cx="329184" cy="182880"/>
          </a:xfrm>
          <a:prstGeom prst="rect">
            <a:avLst/>
          </a:prstGeom>
          <a:noFill/>
          <a:ln/>
        </p:spPr>
        <p:txBody>
          <a:bodyPr wrap="square" lIns="0" tIns="0" rIns="0" bIns="0" rtlCol="0" anchor="ctr"/>
          <a:lstStyle/>
          <a:p>
            <a:pPr marL="0" indent="0" algn="ctr">
              <a:buNone/>
            </a:pPr>
            <a:r>
              <a:rPr lang="en-US" sz="800" b="1" dirty="0">
                <a:solidFill>
                  <a:schemeClr val="bg1"/>
                </a:solidFill>
              </a:rPr>
              <a:t>PK</a:t>
            </a:r>
            <a:endParaRPr lang="en-US" sz="800" dirty="0"/>
          </a:p>
        </p:txBody>
      </p:sp>
      <p:sp>
        <p:nvSpPr>
          <p:cNvPr id="49" name="text-200"/>
          <p:cNvSpPr txBox="1"/>
          <p:nvPr/>
        </p:nvSpPr>
        <p:spPr>
          <a:xfrm>
            <a:off x="6748272" y="1892808"/>
            <a:ext cx="1554480" cy="256032"/>
          </a:xfrm>
          <a:prstGeom prst="rect">
            <a:avLst/>
          </a:prstGeom>
          <a:noFill/>
          <a:ln/>
        </p:spPr>
        <p:txBody>
          <a:bodyPr wrap="square" lIns="0" tIns="0" rIns="0" bIns="0" rtlCol="0" anchor="ctr"/>
          <a:lstStyle/>
          <a:p>
            <a:pPr marL="0" indent="0">
              <a:buNone/>
            </a:pPr>
            <a:r>
              <a:rPr lang="en-US" sz="1100" b="1" u="sng" dirty="0">
                <a:solidFill>
                  <a:schemeClr val="tx1"/>
                </a:solidFill>
                <a:latin typeface="Consolas" pitchFamily="34" charset="0"/>
                <a:ea typeface="Consolas" pitchFamily="34" charset="-122"/>
                <a:cs typeface="Consolas" pitchFamily="34" charset="-120"/>
              </a:rPr>
              <a:t>history_id</a:t>
            </a:r>
            <a:endParaRPr lang="en-US" sz="1100" dirty="0"/>
          </a:p>
        </p:txBody>
      </p:sp>
      <p:sp>
        <p:nvSpPr>
          <p:cNvPr id="50" name="tag-FK-201"/>
          <p:cNvSpPr/>
          <p:nvPr/>
        </p:nvSpPr>
        <p:spPr>
          <a:xfrm>
            <a:off x="6336792" y="2203704"/>
            <a:ext cx="329184" cy="182880"/>
          </a:xfrm>
          <a:prstGeom prst="roundRect">
            <a:avLst>
              <a:gd name="adj" fmla="val 20000"/>
            </a:avLst>
          </a:prstGeom>
          <a:solidFill>
            <a:schemeClr val="tx2"/>
          </a:solidFill>
          <a:ln/>
        </p:spPr>
      </p:sp>
      <p:sp>
        <p:nvSpPr>
          <p:cNvPr id="51" name="text-202"/>
          <p:cNvSpPr txBox="1"/>
          <p:nvPr/>
        </p:nvSpPr>
        <p:spPr>
          <a:xfrm>
            <a:off x="6336792" y="2203704"/>
            <a:ext cx="329184" cy="182880"/>
          </a:xfrm>
          <a:prstGeom prst="rect">
            <a:avLst/>
          </a:prstGeom>
          <a:noFill/>
          <a:ln/>
        </p:spPr>
        <p:txBody>
          <a:bodyPr wrap="square" lIns="0" tIns="0" rIns="0" bIns="0" rtlCol="0" anchor="ctr"/>
          <a:lstStyle/>
          <a:p>
            <a:pPr marL="0" indent="0" algn="ctr">
              <a:buNone/>
            </a:pPr>
            <a:r>
              <a:rPr lang="en-US" sz="800" b="1" dirty="0">
                <a:solidFill>
                  <a:schemeClr val="bg1"/>
                </a:solidFill>
              </a:rPr>
              <a:t>FK</a:t>
            </a:r>
            <a:endParaRPr lang="en-US" sz="800" dirty="0"/>
          </a:p>
        </p:txBody>
      </p:sp>
      <p:sp>
        <p:nvSpPr>
          <p:cNvPr id="52" name="text-203"/>
          <p:cNvSpPr txBox="1"/>
          <p:nvPr/>
        </p:nvSpPr>
        <p:spPr>
          <a:xfrm>
            <a:off x="6748272" y="2167128"/>
            <a:ext cx="1554480" cy="256032"/>
          </a:xfrm>
          <a:prstGeom prst="rect">
            <a:avLst/>
          </a:prstGeom>
          <a:noFill/>
          <a:ln/>
        </p:spPr>
        <p:txBody>
          <a:bodyPr wrap="square" lIns="0" tIns="0" rIns="0" bIns="0" rtlCol="0" anchor="ctr"/>
          <a:lstStyle/>
          <a:p>
            <a:pPr marL="0" indent="0">
              <a:buNone/>
            </a:pPr>
            <a:r>
              <a:rPr lang="en-US" sz="1100" dirty="0">
                <a:solidFill>
                  <a:schemeClr val="tx1"/>
                </a:solidFill>
                <a:latin typeface="Consolas" pitchFamily="34" charset="0"/>
                <a:ea typeface="Consolas" pitchFamily="34" charset="-122"/>
                <a:cs typeface="Consolas" pitchFamily="34" charset="-120"/>
              </a:rPr>
              <a:t>parcel_id</a:t>
            </a:r>
            <a:endParaRPr lang="en-US" sz="1100" dirty="0"/>
          </a:p>
        </p:txBody>
      </p:sp>
      <p:sp>
        <p:nvSpPr>
          <p:cNvPr id="53" name="text-204"/>
          <p:cNvSpPr txBox="1"/>
          <p:nvPr/>
        </p:nvSpPr>
        <p:spPr>
          <a:xfrm>
            <a:off x="7616952" y="2167128"/>
            <a:ext cx="1060704" cy="256032"/>
          </a:xfrm>
          <a:prstGeom prst="rect">
            <a:avLst/>
          </a:prstGeom>
          <a:noFill/>
          <a:ln/>
        </p:spPr>
        <p:txBody>
          <a:bodyPr wrap="square" lIns="0" tIns="0" rIns="0" bIns="0" rtlCol="0" anchor="ctr"/>
          <a:lstStyle/>
          <a:p>
            <a:pPr marL="0" indent="0" algn="r">
              <a:buNone/>
            </a:pPr>
            <a:r>
              <a:rPr lang="en-US" sz="1000" dirty="0">
                <a:solidFill>
                  <a:schemeClr val="accent1"/>
                </a:solidFill>
              </a:rPr>
              <a:t>→ parcels</a:t>
            </a:r>
            <a:endParaRPr lang="en-US" sz="1000" dirty="0"/>
          </a:p>
        </p:txBody>
      </p:sp>
      <p:sp>
        <p:nvSpPr>
          <p:cNvPr id="54" name="tag-FK-205"/>
          <p:cNvSpPr/>
          <p:nvPr/>
        </p:nvSpPr>
        <p:spPr>
          <a:xfrm>
            <a:off x="6336792" y="2478024"/>
            <a:ext cx="329184" cy="182880"/>
          </a:xfrm>
          <a:prstGeom prst="roundRect">
            <a:avLst>
              <a:gd name="adj" fmla="val 20000"/>
            </a:avLst>
          </a:prstGeom>
          <a:solidFill>
            <a:schemeClr val="tx2"/>
          </a:solidFill>
          <a:ln/>
        </p:spPr>
      </p:sp>
      <p:sp>
        <p:nvSpPr>
          <p:cNvPr id="55" name="text-206"/>
          <p:cNvSpPr txBox="1"/>
          <p:nvPr/>
        </p:nvSpPr>
        <p:spPr>
          <a:xfrm>
            <a:off x="6336792" y="2478024"/>
            <a:ext cx="329184" cy="182880"/>
          </a:xfrm>
          <a:prstGeom prst="rect">
            <a:avLst/>
          </a:prstGeom>
          <a:noFill/>
          <a:ln/>
        </p:spPr>
        <p:txBody>
          <a:bodyPr wrap="square" lIns="0" tIns="0" rIns="0" bIns="0" rtlCol="0" anchor="ctr"/>
          <a:lstStyle/>
          <a:p>
            <a:pPr marL="0" indent="0" algn="ctr">
              <a:buNone/>
            </a:pPr>
            <a:r>
              <a:rPr lang="en-US" sz="800" b="1" dirty="0">
                <a:solidFill>
                  <a:schemeClr val="bg1"/>
                </a:solidFill>
              </a:rPr>
              <a:t>FK</a:t>
            </a:r>
            <a:endParaRPr lang="en-US" sz="800" dirty="0"/>
          </a:p>
        </p:txBody>
      </p:sp>
      <p:sp>
        <p:nvSpPr>
          <p:cNvPr id="56" name="text-207"/>
          <p:cNvSpPr txBox="1"/>
          <p:nvPr/>
        </p:nvSpPr>
        <p:spPr>
          <a:xfrm>
            <a:off x="6748272" y="2441448"/>
            <a:ext cx="1554480" cy="256032"/>
          </a:xfrm>
          <a:prstGeom prst="rect">
            <a:avLst/>
          </a:prstGeom>
          <a:noFill/>
          <a:ln/>
        </p:spPr>
        <p:txBody>
          <a:bodyPr wrap="square" lIns="0" tIns="0" rIns="0" bIns="0" rtlCol="0" anchor="ctr"/>
          <a:lstStyle/>
          <a:p>
            <a:pPr marL="0" indent="0">
              <a:buNone/>
            </a:pPr>
            <a:r>
              <a:rPr lang="en-US" sz="1100" dirty="0">
                <a:solidFill>
                  <a:schemeClr val="tx1"/>
                </a:solidFill>
                <a:latin typeface="Consolas" pitchFamily="34" charset="0"/>
                <a:ea typeface="Consolas" pitchFamily="34" charset="-122"/>
                <a:cs typeface="Consolas" pitchFamily="34" charset="-120"/>
              </a:rPr>
              <a:t>updated_by</a:t>
            </a:r>
            <a:endParaRPr lang="en-US" sz="1100" dirty="0"/>
          </a:p>
        </p:txBody>
      </p:sp>
      <p:sp>
        <p:nvSpPr>
          <p:cNvPr id="57" name="text-208"/>
          <p:cNvSpPr txBox="1"/>
          <p:nvPr/>
        </p:nvSpPr>
        <p:spPr>
          <a:xfrm>
            <a:off x="7616952" y="2441448"/>
            <a:ext cx="1060704" cy="256032"/>
          </a:xfrm>
          <a:prstGeom prst="rect">
            <a:avLst/>
          </a:prstGeom>
          <a:noFill/>
          <a:ln/>
        </p:spPr>
        <p:txBody>
          <a:bodyPr wrap="square" lIns="0" tIns="0" rIns="0" bIns="0" rtlCol="0" anchor="ctr"/>
          <a:lstStyle/>
          <a:p>
            <a:pPr marL="0" indent="0" algn="r">
              <a:buNone/>
            </a:pPr>
            <a:r>
              <a:rPr lang="en-US" sz="1000" dirty="0">
                <a:solidFill>
                  <a:schemeClr val="accent1"/>
                </a:solidFill>
              </a:rPr>
              <a:t>→ users</a:t>
            </a:r>
            <a:endParaRPr lang="en-US" sz="1000" dirty="0"/>
          </a:p>
        </p:txBody>
      </p:sp>
      <p:sp>
        <p:nvSpPr>
          <p:cNvPr id="58" name="text-209"/>
          <p:cNvSpPr txBox="1"/>
          <p:nvPr/>
        </p:nvSpPr>
        <p:spPr>
          <a:xfrm>
            <a:off x="6336792" y="2715768"/>
            <a:ext cx="2340864" cy="448056"/>
          </a:xfrm>
          <a:prstGeom prst="rect">
            <a:avLst/>
          </a:prstGeom>
          <a:noFill/>
          <a:ln/>
        </p:spPr>
        <p:txBody>
          <a:bodyPr wrap="square" lIns="0" tIns="0" rIns="0" bIns="0" rtlCol="0" anchor="t"/>
          <a:lstStyle/>
          <a:p>
            <a:pPr marL="0" indent="0">
              <a:buNone/>
            </a:pPr>
            <a:r>
              <a:rPr lang="en-US" sz="1000" i="1" dirty="0">
                <a:solidFill>
                  <a:schemeClr val="accent6"/>
                </a:solidFill>
              </a:rPr>
              <a:t>status, location, remarks, created_at</a:t>
            </a:r>
            <a:endParaRPr lang="en-US" sz="1000" dirty="0"/>
          </a:p>
        </p:txBody>
      </p:sp>
      <p:sp>
        <p:nvSpPr>
          <p:cNvPr id="59" name="schema-payments-210"/>
          <p:cNvSpPr/>
          <p:nvPr/>
        </p:nvSpPr>
        <p:spPr>
          <a:xfrm>
            <a:off x="9025128" y="1417320"/>
            <a:ext cx="2615184" cy="1847088"/>
          </a:xfrm>
          <a:prstGeom prst="roundRect">
            <a:avLst>
              <a:gd name="adj" fmla="val 5941"/>
            </a:avLst>
          </a:prstGeom>
          <a:solidFill>
            <a:schemeClr val="bg1"/>
          </a:solidFill>
          <a:ln w="12700">
            <a:solidFill>
              <a:srgbClr val="F4F5F7"/>
            </a:solidFill>
            <a:prstDash val="solid"/>
          </a:ln>
          <a:effectLst>
            <a:outerShdw blurRad="101600" dist="25400" dir="5400000" algn="bl" rotWithShape="0">
              <a:srgbClr val="000000">
                <a:alpha val="10000"/>
              </a:srgbClr>
            </a:outerShdw>
          </a:effectLst>
        </p:spPr>
      </p:sp>
      <p:sp>
        <p:nvSpPr>
          <p:cNvPr id="60" name="schema-head-211"/>
          <p:cNvSpPr/>
          <p:nvPr/>
        </p:nvSpPr>
        <p:spPr>
          <a:xfrm>
            <a:off x="9025128" y="1417320"/>
            <a:ext cx="2615184" cy="384048"/>
          </a:xfrm>
          <a:prstGeom prst="roundRect">
            <a:avLst>
              <a:gd name="adj" fmla="val 28571"/>
            </a:avLst>
          </a:prstGeom>
          <a:solidFill>
            <a:schemeClr val="tx1"/>
          </a:solidFill>
          <a:ln/>
        </p:spPr>
      </p:sp>
      <p:sp>
        <p:nvSpPr>
          <p:cNvPr id="61" name="schema-head-fill-212"/>
          <p:cNvSpPr/>
          <p:nvPr/>
        </p:nvSpPr>
        <p:spPr>
          <a:xfrm>
            <a:off x="9025128" y="1673352"/>
            <a:ext cx="2615184" cy="128016"/>
          </a:xfrm>
          <a:prstGeom prst="rect">
            <a:avLst/>
          </a:prstGeom>
          <a:solidFill>
            <a:schemeClr val="tx1"/>
          </a:solidFill>
          <a:ln/>
        </p:spPr>
      </p:sp>
      <p:sp>
        <p:nvSpPr>
          <p:cNvPr id="62" name="text-213"/>
          <p:cNvSpPr txBox="1"/>
          <p:nvPr/>
        </p:nvSpPr>
        <p:spPr>
          <a:xfrm>
            <a:off x="9162288" y="1417320"/>
            <a:ext cx="2340864" cy="384048"/>
          </a:xfrm>
          <a:prstGeom prst="rect">
            <a:avLst/>
          </a:prstGeom>
          <a:noFill/>
          <a:ln/>
        </p:spPr>
        <p:txBody>
          <a:bodyPr wrap="square" lIns="0" tIns="0" rIns="0" bIns="0" rtlCol="0" anchor="ctr"/>
          <a:lstStyle/>
          <a:p>
            <a:pPr marL="0" indent="0">
              <a:buNone/>
            </a:pPr>
            <a:r>
              <a:rPr lang="en-US" sz="1400" b="1" dirty="0">
                <a:solidFill>
                  <a:schemeClr val="bg1"/>
                </a:solidFill>
                <a:latin typeface="Consolas" pitchFamily="34" charset="0"/>
                <a:ea typeface="Consolas" pitchFamily="34" charset="-122"/>
                <a:cs typeface="Consolas" pitchFamily="34" charset="-120"/>
              </a:rPr>
              <a:t>payments</a:t>
            </a:r>
            <a:endParaRPr lang="en-US" sz="1400" dirty="0"/>
          </a:p>
        </p:txBody>
      </p:sp>
      <p:sp>
        <p:nvSpPr>
          <p:cNvPr id="63" name="tag-PK-214"/>
          <p:cNvSpPr/>
          <p:nvPr/>
        </p:nvSpPr>
        <p:spPr>
          <a:xfrm>
            <a:off x="9162288" y="1929384"/>
            <a:ext cx="329184" cy="182880"/>
          </a:xfrm>
          <a:prstGeom prst="roundRect">
            <a:avLst>
              <a:gd name="adj" fmla="val 20000"/>
            </a:avLst>
          </a:prstGeom>
          <a:solidFill>
            <a:schemeClr val="accent1"/>
          </a:solidFill>
          <a:ln/>
        </p:spPr>
      </p:sp>
      <p:sp>
        <p:nvSpPr>
          <p:cNvPr id="64" name="text-215"/>
          <p:cNvSpPr txBox="1"/>
          <p:nvPr/>
        </p:nvSpPr>
        <p:spPr>
          <a:xfrm>
            <a:off x="9162288" y="1929384"/>
            <a:ext cx="329184" cy="182880"/>
          </a:xfrm>
          <a:prstGeom prst="rect">
            <a:avLst/>
          </a:prstGeom>
          <a:noFill/>
          <a:ln/>
        </p:spPr>
        <p:txBody>
          <a:bodyPr wrap="square" lIns="0" tIns="0" rIns="0" bIns="0" rtlCol="0" anchor="ctr"/>
          <a:lstStyle/>
          <a:p>
            <a:pPr marL="0" indent="0" algn="ctr">
              <a:buNone/>
            </a:pPr>
            <a:r>
              <a:rPr lang="en-US" sz="800" b="1" dirty="0">
                <a:solidFill>
                  <a:schemeClr val="bg1"/>
                </a:solidFill>
              </a:rPr>
              <a:t>PK</a:t>
            </a:r>
            <a:endParaRPr lang="en-US" sz="800" dirty="0"/>
          </a:p>
        </p:txBody>
      </p:sp>
      <p:sp>
        <p:nvSpPr>
          <p:cNvPr id="65" name="text-216"/>
          <p:cNvSpPr txBox="1"/>
          <p:nvPr/>
        </p:nvSpPr>
        <p:spPr>
          <a:xfrm>
            <a:off x="9573768" y="1892808"/>
            <a:ext cx="1554480" cy="256032"/>
          </a:xfrm>
          <a:prstGeom prst="rect">
            <a:avLst/>
          </a:prstGeom>
          <a:noFill/>
          <a:ln/>
        </p:spPr>
        <p:txBody>
          <a:bodyPr wrap="square" lIns="0" tIns="0" rIns="0" bIns="0" rtlCol="0" anchor="ctr"/>
          <a:lstStyle/>
          <a:p>
            <a:pPr marL="0" indent="0">
              <a:buNone/>
            </a:pPr>
            <a:r>
              <a:rPr lang="en-US" sz="1100" b="1" u="sng" dirty="0">
                <a:solidFill>
                  <a:schemeClr val="tx1"/>
                </a:solidFill>
                <a:latin typeface="Consolas" pitchFamily="34" charset="0"/>
                <a:ea typeface="Consolas" pitchFamily="34" charset="-122"/>
                <a:cs typeface="Consolas" pitchFamily="34" charset="-120"/>
              </a:rPr>
              <a:t>payment_id</a:t>
            </a:r>
            <a:endParaRPr lang="en-US" sz="1100" dirty="0"/>
          </a:p>
        </p:txBody>
      </p:sp>
      <p:sp>
        <p:nvSpPr>
          <p:cNvPr id="66" name="tag-FK-217"/>
          <p:cNvSpPr/>
          <p:nvPr/>
        </p:nvSpPr>
        <p:spPr>
          <a:xfrm>
            <a:off x="9162288" y="2203704"/>
            <a:ext cx="329184" cy="182880"/>
          </a:xfrm>
          <a:prstGeom prst="roundRect">
            <a:avLst>
              <a:gd name="adj" fmla="val 20000"/>
            </a:avLst>
          </a:prstGeom>
          <a:solidFill>
            <a:schemeClr val="tx2"/>
          </a:solidFill>
          <a:ln/>
        </p:spPr>
      </p:sp>
      <p:sp>
        <p:nvSpPr>
          <p:cNvPr id="67" name="text-218"/>
          <p:cNvSpPr txBox="1"/>
          <p:nvPr/>
        </p:nvSpPr>
        <p:spPr>
          <a:xfrm>
            <a:off x="9162288" y="2203704"/>
            <a:ext cx="329184" cy="182880"/>
          </a:xfrm>
          <a:prstGeom prst="rect">
            <a:avLst/>
          </a:prstGeom>
          <a:noFill/>
          <a:ln/>
        </p:spPr>
        <p:txBody>
          <a:bodyPr wrap="square" lIns="0" tIns="0" rIns="0" bIns="0" rtlCol="0" anchor="ctr"/>
          <a:lstStyle/>
          <a:p>
            <a:pPr marL="0" indent="0" algn="ctr">
              <a:buNone/>
            </a:pPr>
            <a:r>
              <a:rPr lang="en-US" sz="800" b="1" dirty="0">
                <a:solidFill>
                  <a:schemeClr val="bg1"/>
                </a:solidFill>
              </a:rPr>
              <a:t>FK</a:t>
            </a:r>
            <a:endParaRPr lang="en-US" sz="800" dirty="0"/>
          </a:p>
        </p:txBody>
      </p:sp>
      <p:sp>
        <p:nvSpPr>
          <p:cNvPr id="68" name="text-219"/>
          <p:cNvSpPr txBox="1"/>
          <p:nvPr/>
        </p:nvSpPr>
        <p:spPr>
          <a:xfrm>
            <a:off x="9573768" y="2167128"/>
            <a:ext cx="1554480" cy="256032"/>
          </a:xfrm>
          <a:prstGeom prst="rect">
            <a:avLst/>
          </a:prstGeom>
          <a:noFill/>
          <a:ln/>
        </p:spPr>
        <p:txBody>
          <a:bodyPr wrap="square" lIns="0" tIns="0" rIns="0" bIns="0" rtlCol="0" anchor="ctr"/>
          <a:lstStyle/>
          <a:p>
            <a:pPr marL="0" indent="0">
              <a:buNone/>
            </a:pPr>
            <a:r>
              <a:rPr lang="en-US" sz="1100" dirty="0">
                <a:solidFill>
                  <a:schemeClr val="tx1"/>
                </a:solidFill>
                <a:latin typeface="Consolas" pitchFamily="34" charset="0"/>
                <a:ea typeface="Consolas" pitchFamily="34" charset="-122"/>
                <a:cs typeface="Consolas" pitchFamily="34" charset="-120"/>
              </a:rPr>
              <a:t>parcel_id</a:t>
            </a:r>
            <a:endParaRPr lang="en-US" sz="1100" dirty="0"/>
          </a:p>
        </p:txBody>
      </p:sp>
      <p:sp>
        <p:nvSpPr>
          <p:cNvPr id="69" name="text-220"/>
          <p:cNvSpPr txBox="1"/>
          <p:nvPr/>
        </p:nvSpPr>
        <p:spPr>
          <a:xfrm>
            <a:off x="10442448" y="2167128"/>
            <a:ext cx="1060704" cy="256032"/>
          </a:xfrm>
          <a:prstGeom prst="rect">
            <a:avLst/>
          </a:prstGeom>
          <a:noFill/>
          <a:ln/>
        </p:spPr>
        <p:txBody>
          <a:bodyPr wrap="square" lIns="0" tIns="0" rIns="0" bIns="0" rtlCol="0" anchor="ctr"/>
          <a:lstStyle/>
          <a:p>
            <a:pPr marL="0" indent="0" algn="r">
              <a:buNone/>
            </a:pPr>
            <a:r>
              <a:rPr lang="en-US" sz="1000" dirty="0">
                <a:solidFill>
                  <a:schemeClr val="accent1"/>
                </a:solidFill>
              </a:rPr>
              <a:t>→ parcels</a:t>
            </a:r>
            <a:endParaRPr lang="en-US" sz="1000" dirty="0"/>
          </a:p>
        </p:txBody>
      </p:sp>
      <p:sp>
        <p:nvSpPr>
          <p:cNvPr id="70" name="tag-UQ-221"/>
          <p:cNvSpPr/>
          <p:nvPr/>
        </p:nvSpPr>
        <p:spPr>
          <a:xfrm>
            <a:off x="9162288" y="2478024"/>
            <a:ext cx="329184" cy="182880"/>
          </a:xfrm>
          <a:prstGeom prst="roundRect">
            <a:avLst>
              <a:gd name="adj" fmla="val 20000"/>
            </a:avLst>
          </a:prstGeom>
          <a:solidFill>
            <a:schemeClr val="bg2"/>
          </a:solidFill>
          <a:ln/>
        </p:spPr>
      </p:sp>
      <p:sp>
        <p:nvSpPr>
          <p:cNvPr id="71" name="text-222"/>
          <p:cNvSpPr txBox="1"/>
          <p:nvPr/>
        </p:nvSpPr>
        <p:spPr>
          <a:xfrm>
            <a:off x="9162288" y="2478024"/>
            <a:ext cx="329184" cy="182880"/>
          </a:xfrm>
          <a:prstGeom prst="rect">
            <a:avLst/>
          </a:prstGeom>
          <a:noFill/>
          <a:ln/>
        </p:spPr>
        <p:txBody>
          <a:bodyPr wrap="square" lIns="0" tIns="0" rIns="0" bIns="0" rtlCol="0" anchor="ctr"/>
          <a:lstStyle/>
          <a:p>
            <a:pPr marL="0" indent="0" algn="ctr">
              <a:buNone/>
            </a:pPr>
            <a:r>
              <a:rPr lang="en-US" sz="800" b="1" dirty="0">
                <a:solidFill>
                  <a:schemeClr val="tx2"/>
                </a:solidFill>
              </a:rPr>
              <a:t>UQ</a:t>
            </a:r>
            <a:endParaRPr lang="en-US" sz="800" dirty="0"/>
          </a:p>
        </p:txBody>
      </p:sp>
      <p:sp>
        <p:nvSpPr>
          <p:cNvPr id="72" name="text-223"/>
          <p:cNvSpPr txBox="1"/>
          <p:nvPr/>
        </p:nvSpPr>
        <p:spPr>
          <a:xfrm>
            <a:off x="9573768" y="2441448"/>
            <a:ext cx="1554480" cy="256032"/>
          </a:xfrm>
          <a:prstGeom prst="rect">
            <a:avLst/>
          </a:prstGeom>
          <a:noFill/>
          <a:ln/>
        </p:spPr>
        <p:txBody>
          <a:bodyPr wrap="square" lIns="0" tIns="0" rIns="0" bIns="0" rtlCol="0" anchor="ctr"/>
          <a:lstStyle/>
          <a:p>
            <a:pPr marL="0" indent="0">
              <a:buNone/>
            </a:pPr>
            <a:r>
              <a:rPr lang="en-US" sz="1100" dirty="0">
                <a:solidFill>
                  <a:schemeClr val="tx1"/>
                </a:solidFill>
                <a:latin typeface="Consolas" pitchFamily="34" charset="0"/>
                <a:ea typeface="Consolas" pitchFamily="34" charset="-122"/>
                <a:cs typeface="Consolas" pitchFamily="34" charset="-120"/>
              </a:rPr>
              <a:t>transaction_ref</a:t>
            </a:r>
            <a:endParaRPr lang="en-US" sz="1100" dirty="0"/>
          </a:p>
        </p:txBody>
      </p:sp>
      <p:sp>
        <p:nvSpPr>
          <p:cNvPr id="73" name="text-224"/>
          <p:cNvSpPr txBox="1"/>
          <p:nvPr/>
        </p:nvSpPr>
        <p:spPr>
          <a:xfrm>
            <a:off x="9162288" y="2715768"/>
            <a:ext cx="2340864" cy="448056"/>
          </a:xfrm>
          <a:prstGeom prst="rect">
            <a:avLst/>
          </a:prstGeom>
          <a:noFill/>
          <a:ln/>
        </p:spPr>
        <p:txBody>
          <a:bodyPr wrap="square" lIns="0" tIns="0" rIns="0" bIns="0" rtlCol="0" anchor="t"/>
          <a:lstStyle/>
          <a:p>
            <a:pPr marL="0" indent="0">
              <a:buNone/>
            </a:pPr>
            <a:r>
              <a:rPr lang="en-US" sz="1000" i="1" dirty="0">
                <a:solidFill>
                  <a:schemeClr val="accent6"/>
                </a:solidFill>
              </a:rPr>
              <a:t>amount, payment_method, payment_status, payment_date</a:t>
            </a:r>
            <a:endParaRPr lang="en-US" sz="1000" dirty="0"/>
          </a:p>
        </p:txBody>
      </p:sp>
      <p:sp>
        <p:nvSpPr>
          <p:cNvPr id="74" name="view-card-225"/>
          <p:cNvSpPr/>
          <p:nvPr/>
        </p:nvSpPr>
        <p:spPr>
          <a:xfrm>
            <a:off x="548640" y="3108960"/>
            <a:ext cx="2615184" cy="1371600"/>
          </a:xfrm>
          <a:prstGeom prst="roundRect">
            <a:avLst>
              <a:gd name="adj" fmla="val 8000"/>
            </a:avLst>
          </a:prstGeom>
          <a:solidFill>
            <a:schemeClr val="accent1">
              <a:alpha val="10000"/>
            </a:schemeClr>
          </a:solidFill>
          <a:ln/>
        </p:spPr>
      </p:sp>
      <p:sp>
        <p:nvSpPr>
          <p:cNvPr id="75" name="text-226"/>
          <p:cNvSpPr txBox="1"/>
          <p:nvPr/>
        </p:nvSpPr>
        <p:spPr>
          <a:xfrm>
            <a:off x="731520" y="3273552"/>
            <a:ext cx="914400" cy="228600"/>
          </a:xfrm>
          <a:prstGeom prst="rect">
            <a:avLst/>
          </a:prstGeom>
          <a:noFill/>
          <a:ln/>
        </p:spPr>
        <p:txBody>
          <a:bodyPr wrap="square" lIns="0" tIns="0" rIns="0" bIns="0" rtlCol="0" anchor="t"/>
          <a:lstStyle/>
          <a:p>
            <a:pPr marL="0" indent="0">
              <a:buNone/>
            </a:pPr>
            <a:r>
              <a:rPr lang="en-US" sz="1000" b="1" kern="0" spc="150" dirty="0">
                <a:solidFill>
                  <a:schemeClr val="accent5"/>
                </a:solidFill>
              </a:rPr>
              <a:t>VIEW</a:t>
            </a:r>
            <a:endParaRPr lang="en-US" sz="1000" dirty="0"/>
          </a:p>
        </p:txBody>
      </p:sp>
      <p:sp>
        <p:nvSpPr>
          <p:cNvPr id="76" name="text-227"/>
          <p:cNvSpPr txBox="1"/>
          <p:nvPr/>
        </p:nvSpPr>
        <p:spPr>
          <a:xfrm>
            <a:off x="731520" y="3520440"/>
            <a:ext cx="2249424" cy="274320"/>
          </a:xfrm>
          <a:prstGeom prst="rect">
            <a:avLst/>
          </a:prstGeom>
          <a:noFill/>
          <a:ln/>
        </p:spPr>
        <p:txBody>
          <a:bodyPr wrap="square" lIns="0" tIns="0" rIns="0" bIns="0" rtlCol="0" anchor="t"/>
          <a:lstStyle/>
          <a:p>
            <a:pPr marL="0" indent="0">
              <a:buNone/>
            </a:pPr>
            <a:r>
              <a:rPr lang="en-US" sz="1300" b="1" dirty="0">
                <a:solidFill>
                  <a:schemeClr val="tx1"/>
                </a:solidFill>
                <a:latin typeface="Consolas" pitchFamily="34" charset="0"/>
                <a:ea typeface="Consolas" pitchFamily="34" charset="-122"/>
                <a:cs typeface="Consolas" pitchFamily="34" charset="-120"/>
              </a:rPr>
              <a:t>v_parcel_overview</a:t>
            </a:r>
            <a:endParaRPr lang="en-US" sz="1300" dirty="0"/>
          </a:p>
        </p:txBody>
      </p:sp>
      <p:sp>
        <p:nvSpPr>
          <p:cNvPr id="77" name="text-228"/>
          <p:cNvSpPr txBox="1"/>
          <p:nvPr/>
        </p:nvSpPr>
        <p:spPr>
          <a:xfrm>
            <a:off x="731520" y="3840480"/>
            <a:ext cx="2249424" cy="548640"/>
          </a:xfrm>
          <a:prstGeom prst="rect">
            <a:avLst/>
          </a:prstGeom>
          <a:noFill/>
          <a:ln/>
        </p:spPr>
        <p:txBody>
          <a:bodyPr wrap="square" lIns="0" tIns="0" rIns="0" bIns="0" rtlCol="0" anchor="t"/>
          <a:lstStyle/>
          <a:p>
            <a:pPr marL="0" indent="0">
              <a:buNone/>
            </a:pPr>
            <a:r>
              <a:rPr lang="en-US" sz="1100" dirty="0">
                <a:solidFill>
                  <a:schemeClr val="tx2"/>
                </a:solidFill>
              </a:rPr>
              <a:t>parcels JOIN users, plus the latest location from a subquery</a:t>
            </a:r>
            <a:endParaRPr lang="en-US" sz="1100" dirty="0"/>
          </a:p>
        </p:txBody>
      </p:sp>
      <p:sp>
        <p:nvSpPr>
          <p:cNvPr id="78" name="keys-note-229"/>
          <p:cNvSpPr/>
          <p:nvPr/>
        </p:nvSpPr>
        <p:spPr>
          <a:xfrm>
            <a:off x="548640" y="5257800"/>
            <a:ext cx="11094415" cy="914400"/>
          </a:xfrm>
          <a:prstGeom prst="roundRect">
            <a:avLst>
              <a:gd name="adj" fmla="val 12000"/>
            </a:avLst>
          </a:prstGeom>
          <a:solidFill>
            <a:schemeClr val="bg2"/>
          </a:solidFill>
          <a:ln/>
        </p:spPr>
      </p:sp>
      <p:pic>
        <p:nvPicPr>
          <p:cNvPr id="79" name="icon-LuKeyRound-230" descr="C:\Users\srest\AppData\Local\Temp\claude\C--Users-srest\52e86171-7f3f-4f9f-8710-1b05dd1b2558\scratchpad\deck\icons\LuKeyRound_o.png"/>
          <p:cNvPicPr>
            <a:picLocks noChangeAspect="1"/>
          </p:cNvPicPr>
          <p:nvPr/>
        </p:nvPicPr>
        <p:blipFill>
          <a:blip r:embed="rId3"/>
          <a:stretch>
            <a:fillRect/>
          </a:stretch>
        </p:blipFill>
        <p:spPr>
          <a:xfrm>
            <a:off x="777240" y="5522976"/>
            <a:ext cx="384048" cy="384048"/>
          </a:xfrm>
          <a:prstGeom prst="rect">
            <a:avLst/>
          </a:prstGeom>
        </p:spPr>
      </p:pic>
      <p:sp>
        <p:nvSpPr>
          <p:cNvPr id="80" name="text-231"/>
          <p:cNvSpPr txBox="1"/>
          <p:nvPr/>
        </p:nvSpPr>
        <p:spPr>
          <a:xfrm>
            <a:off x="1325880" y="5257800"/>
            <a:ext cx="10088575" cy="914400"/>
          </a:xfrm>
          <a:prstGeom prst="rect">
            <a:avLst/>
          </a:prstGeom>
          <a:noFill/>
          <a:ln/>
        </p:spPr>
        <p:txBody>
          <a:bodyPr wrap="square" lIns="0" tIns="0" rIns="0" bIns="0" rtlCol="0" anchor="ctr"/>
          <a:lstStyle/>
          <a:p>
            <a:pPr marL="0" indent="0">
              <a:buNone/>
            </a:pPr>
            <a:r>
              <a:rPr lang="en-US" sz="1300" b="1" dirty="0">
                <a:solidFill>
                  <a:schemeClr val="tx1"/>
                </a:solidFill>
              </a:rPr>
              <a:t>Surrogate keys + business keys: </a:t>
            </a:r>
            <a:r>
              <a:rPr lang="en-US" sz="1300" dirty="0">
                <a:solidFill>
                  <a:schemeClr val="tx1"/>
                </a:solidFill>
              </a:rPr>
              <a:t>integer PKs keep joins small and stable; tracking_id, email and transaction_ref are the UNIQUE values people actually see. The QR code is never stored: it is generated from tracking_id.</a:t>
            </a:r>
            <a:endParaRPr lang="en-US" sz="1300" dirty="0"/>
          </a:p>
        </p:txBody>
      </p:sp>
      <p:sp>
        <p:nvSpPr>
          <p:cNvPr id="81"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7498080" cy="868680"/>
          </a:xfrm>
          <a:prstGeom prst="rect">
            <a:avLst/>
          </a:prstGeom>
          <a:noFill/>
          <a:ln/>
        </p:spPr>
        <p:txBody>
          <a:bodyPr wrap="square" lIns="0" tIns="0" rIns="0" bIns="0" rtlCol="0" anchor="ctr"/>
          <a:lstStyle/>
          <a:p>
            <a:pPr marL="0" indent="0" algn="l">
              <a:buNone/>
            </a:pPr>
            <a:r>
              <a:rPr lang="en-US" sz="2800" dirty="0">
                <a:solidFill>
                  <a:schemeClr val="tx1"/>
                </a:solidFill>
                <a:latin typeface="Segoe UI Semibold" pitchFamily="34" charset="0"/>
                <a:ea typeface="Segoe UI Semibold" pitchFamily="34" charset="-122"/>
                <a:cs typeface="Segoe UI Semibold" pitchFamily="34" charset="-120"/>
              </a:rPr>
              <a:t>Normalised step by step to 3NF (and BCNF)</a:t>
            </a:r>
            <a:endParaRPr lang="en-US" sz="2800" dirty="0"/>
          </a:p>
        </p:txBody>
      </p:sp>
      <p:sp>
        <p:nvSpPr>
          <p:cNvPr id="3" name="tracker-rail-232"/>
          <p:cNvSpPr/>
          <p:nvPr/>
        </p:nvSpPr>
        <p:spPr>
          <a:xfrm>
            <a:off x="8458200" y="566928"/>
            <a:ext cx="2926080" cy="0"/>
          </a:xfrm>
          <a:prstGeom prst="line">
            <a:avLst/>
          </a:prstGeom>
          <a:noFill/>
          <a:ln w="31750">
            <a:solidFill>
              <a:srgbClr val="D1D5DB"/>
            </a:solidFill>
            <a:prstDash val="solid"/>
          </a:ln>
        </p:spPr>
      </p:sp>
      <p:sp>
        <p:nvSpPr>
          <p:cNvPr id="4" name="tracker-done-233"/>
          <p:cNvSpPr/>
          <p:nvPr/>
        </p:nvSpPr>
        <p:spPr>
          <a:xfrm>
            <a:off x="8458200" y="566928"/>
            <a:ext cx="731520" cy="0"/>
          </a:xfrm>
          <a:prstGeom prst="line">
            <a:avLst/>
          </a:prstGeom>
          <a:noFill/>
          <a:ln w="31750">
            <a:solidFill>
              <a:schemeClr val="accent1"/>
            </a:solidFill>
            <a:prstDash val="solid"/>
          </a:ln>
        </p:spPr>
      </p:sp>
      <p:sp>
        <p:nvSpPr>
          <p:cNvPr id="5" name="tracker-dot-234"/>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235"/>
          <p:cNvSpPr txBox="1"/>
          <p:nvPr/>
        </p:nvSpPr>
        <p:spPr>
          <a:xfrm>
            <a:off x="800100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Problem</a:t>
            </a:r>
            <a:endParaRPr lang="en-US" sz="1000" dirty="0"/>
          </a:p>
        </p:txBody>
      </p:sp>
      <p:sp>
        <p:nvSpPr>
          <p:cNvPr id="7" name="tracker-dot-236"/>
          <p:cNvSpPr/>
          <p:nvPr/>
        </p:nvSpPr>
        <p:spPr>
          <a:xfrm>
            <a:off x="9070848" y="448056"/>
            <a:ext cx="237744" cy="237744"/>
          </a:xfrm>
          <a:prstGeom prst="ellipse">
            <a:avLst/>
          </a:prstGeom>
          <a:solidFill>
            <a:schemeClr val="accent1"/>
          </a:solidFill>
          <a:ln w="19050">
            <a:solidFill>
              <a:schemeClr val="accent1"/>
            </a:solidFill>
            <a:prstDash val="solid"/>
          </a:ln>
        </p:spPr>
      </p:sp>
      <p:sp>
        <p:nvSpPr>
          <p:cNvPr id="8" name="text-237"/>
          <p:cNvSpPr txBox="1"/>
          <p:nvPr/>
        </p:nvSpPr>
        <p:spPr>
          <a:xfrm>
            <a:off x="8732520" y="749808"/>
            <a:ext cx="914400" cy="228600"/>
          </a:xfrm>
          <a:prstGeom prst="rect">
            <a:avLst/>
          </a:prstGeom>
          <a:noFill/>
          <a:ln/>
        </p:spPr>
        <p:txBody>
          <a:bodyPr wrap="square" lIns="0" tIns="0" rIns="0" bIns="0" rtlCol="0" anchor="t"/>
          <a:lstStyle/>
          <a:p>
            <a:pPr marL="0" indent="0" algn="ctr">
              <a:buNone/>
            </a:pPr>
            <a:r>
              <a:rPr lang="en-US" sz="1000" b="1" dirty="0">
                <a:solidFill>
                  <a:schemeClr val="accent1"/>
                </a:solidFill>
              </a:rPr>
              <a:t>ER &amp; Schema</a:t>
            </a:r>
            <a:endParaRPr lang="en-US" sz="1000" dirty="0"/>
          </a:p>
        </p:txBody>
      </p:sp>
      <p:sp>
        <p:nvSpPr>
          <p:cNvPr id="9" name="tracker-dot-238"/>
          <p:cNvSpPr/>
          <p:nvPr/>
        </p:nvSpPr>
        <p:spPr>
          <a:xfrm>
            <a:off x="9848088" y="493776"/>
            <a:ext cx="146304" cy="146304"/>
          </a:xfrm>
          <a:prstGeom prst="ellipse">
            <a:avLst/>
          </a:prstGeom>
          <a:solidFill>
            <a:schemeClr val="bg1"/>
          </a:solidFill>
          <a:ln w="19050">
            <a:solidFill>
              <a:schemeClr val="accent6"/>
            </a:solidFill>
            <a:prstDash val="solid"/>
          </a:ln>
        </p:spPr>
      </p:sp>
      <p:sp>
        <p:nvSpPr>
          <p:cNvPr id="10" name="text-239"/>
          <p:cNvSpPr txBox="1"/>
          <p:nvPr/>
        </p:nvSpPr>
        <p:spPr>
          <a:xfrm>
            <a:off x="946404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Database</a:t>
            </a:r>
            <a:endParaRPr lang="en-US" sz="1000" dirty="0"/>
          </a:p>
        </p:txBody>
      </p:sp>
      <p:sp>
        <p:nvSpPr>
          <p:cNvPr id="11" name="tracker-dot-240"/>
          <p:cNvSpPr/>
          <p:nvPr/>
        </p:nvSpPr>
        <p:spPr>
          <a:xfrm>
            <a:off x="10579608" y="493776"/>
            <a:ext cx="146304" cy="146304"/>
          </a:xfrm>
          <a:prstGeom prst="ellipse">
            <a:avLst/>
          </a:prstGeom>
          <a:solidFill>
            <a:schemeClr val="bg1"/>
          </a:solidFill>
          <a:ln w="19050">
            <a:solidFill>
              <a:schemeClr val="accent6"/>
            </a:solidFill>
            <a:prstDash val="solid"/>
          </a:ln>
        </p:spPr>
      </p:sp>
      <p:sp>
        <p:nvSpPr>
          <p:cNvPr id="12" name="text-241"/>
          <p:cNvSpPr txBox="1"/>
          <p:nvPr/>
        </p:nvSpPr>
        <p:spPr>
          <a:xfrm>
            <a:off x="1019556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UI Demo</a:t>
            </a:r>
            <a:endParaRPr lang="en-US" sz="1000" dirty="0"/>
          </a:p>
        </p:txBody>
      </p:sp>
      <p:sp>
        <p:nvSpPr>
          <p:cNvPr id="13" name="tracker-dot-242"/>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243"/>
          <p:cNvSpPr txBox="1"/>
          <p:nvPr/>
        </p:nvSpPr>
        <p:spPr>
          <a:xfrm>
            <a:off x="1092708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Q&amp;A</a:t>
            </a:r>
            <a:endParaRPr lang="en-US" sz="1000" dirty="0"/>
          </a:p>
        </p:txBody>
      </p:sp>
      <p:sp>
        <p:nvSpPr>
          <p:cNvPr id="15" name="text-244"/>
          <p:cNvSpPr txBox="1"/>
          <p:nvPr/>
        </p:nvSpPr>
        <p:spPr>
          <a:xfrm>
            <a:off x="548640" y="1417320"/>
            <a:ext cx="5486400" cy="274320"/>
          </a:xfrm>
          <a:prstGeom prst="rect">
            <a:avLst/>
          </a:prstGeom>
          <a:noFill/>
          <a:ln/>
        </p:spPr>
        <p:txBody>
          <a:bodyPr wrap="square" lIns="0" tIns="0" rIns="0" bIns="0" rtlCol="0" anchor="t"/>
          <a:lstStyle/>
          <a:p>
            <a:pPr marL="0" indent="0">
              <a:buNone/>
            </a:pPr>
            <a:r>
              <a:rPr lang="en-US" sz="1100" b="1" kern="0" spc="150" dirty="0">
                <a:solidFill>
                  <a:schemeClr val="accent1"/>
                </a:solidFill>
              </a:rPr>
              <a:t>STARTING POINT: THE PAPER REGISTER</a:t>
            </a:r>
            <a:endParaRPr lang="en-US" sz="1100" dirty="0"/>
          </a:p>
        </p:txBody>
      </p:sp>
      <p:sp>
        <p:nvSpPr>
          <p:cNvPr id="16" name="unf-card-245"/>
          <p:cNvSpPr/>
          <p:nvPr/>
        </p:nvSpPr>
        <p:spPr>
          <a:xfrm>
            <a:off x="548640" y="1737360"/>
            <a:ext cx="11094415" cy="566928"/>
          </a:xfrm>
          <a:prstGeom prst="roundRect">
            <a:avLst>
              <a:gd name="adj" fmla="val 19355"/>
            </a:avLst>
          </a:prstGeom>
          <a:solidFill>
            <a:schemeClr val="bg2"/>
          </a:solidFill>
          <a:ln/>
        </p:spPr>
      </p:sp>
      <p:sp>
        <p:nvSpPr>
          <p:cNvPr id="17" name="text-246"/>
          <p:cNvSpPr txBox="1"/>
          <p:nvPr/>
        </p:nvSpPr>
        <p:spPr>
          <a:xfrm>
            <a:off x="777240" y="1737360"/>
            <a:ext cx="10637215" cy="566928"/>
          </a:xfrm>
          <a:prstGeom prst="rect">
            <a:avLst/>
          </a:prstGeom>
          <a:noFill/>
          <a:ln/>
        </p:spPr>
        <p:txBody>
          <a:bodyPr wrap="square" lIns="0" tIns="0" rIns="0" bIns="0" rtlCol="0" anchor="ctr"/>
          <a:lstStyle/>
          <a:p>
            <a:pPr marL="0" indent="0">
              <a:buNone/>
            </a:pPr>
            <a:r>
              <a:rPr lang="en-US" sz="1200" dirty="0">
                <a:solidFill>
                  <a:schemeClr val="tx2"/>
                </a:solidFill>
                <a:latin typeface="Consolas" pitchFamily="34" charset="0"/>
                <a:ea typeface="Consolas" pitchFamily="34" charset="-122"/>
                <a:cs typeface="Consolas" pitchFamily="34" charset="-120"/>
              </a:rPr>
              <a:t>BOOKING( tracking_id, customer_name, customer_email, sender…, receiver…, weight, charge, status_1, location_1, status_2, location_2 …, pay_mode, txn_ref )</a:t>
            </a:r>
            <a:endParaRPr lang="en-US" sz="1200" dirty="0"/>
          </a:p>
        </p:txBody>
      </p:sp>
      <p:sp>
        <p:nvSpPr>
          <p:cNvPr id="18" name="nf-card-247"/>
          <p:cNvSpPr/>
          <p:nvPr/>
        </p:nvSpPr>
        <p:spPr>
          <a:xfrm>
            <a:off x="548640" y="2606040"/>
            <a:ext cx="3520440" cy="2788920"/>
          </a:xfrm>
          <a:prstGeom prst="roundRect">
            <a:avLst>
              <a:gd name="adj" fmla="val 3934"/>
            </a:avLst>
          </a:prstGeom>
          <a:solidFill>
            <a:schemeClr val="bg1"/>
          </a:solidFill>
          <a:ln/>
          <a:effectLst>
            <a:outerShdw blurRad="101600" dist="25400" dir="5400000" algn="bl" rotWithShape="0">
              <a:srgbClr val="000000">
                <a:alpha val="10000"/>
              </a:srgbClr>
            </a:outerShdw>
          </a:effectLst>
        </p:spPr>
      </p:sp>
      <p:sp>
        <p:nvSpPr>
          <p:cNvPr id="19" name="nf-badge-248"/>
          <p:cNvSpPr/>
          <p:nvPr/>
        </p:nvSpPr>
        <p:spPr>
          <a:xfrm>
            <a:off x="777240" y="2834640"/>
            <a:ext cx="731520" cy="731520"/>
          </a:xfrm>
          <a:prstGeom prst="ellipse">
            <a:avLst/>
          </a:prstGeom>
          <a:solidFill>
            <a:schemeClr val="tx1"/>
          </a:solidFill>
          <a:ln/>
        </p:spPr>
      </p:sp>
      <p:sp>
        <p:nvSpPr>
          <p:cNvPr id="20" name="text-249"/>
          <p:cNvSpPr txBox="1"/>
          <p:nvPr/>
        </p:nvSpPr>
        <p:spPr>
          <a:xfrm>
            <a:off x="777240" y="2834640"/>
            <a:ext cx="731520" cy="731520"/>
          </a:xfrm>
          <a:prstGeom prst="rect">
            <a:avLst/>
          </a:prstGeom>
          <a:noFill/>
          <a:ln/>
        </p:spPr>
        <p:txBody>
          <a:bodyPr wrap="square" lIns="0" tIns="0" rIns="0" bIns="0" rtlCol="0" anchor="ctr"/>
          <a:lstStyle/>
          <a:p>
            <a:pPr marL="0" indent="0" algn="ctr">
              <a:buNone/>
            </a:pPr>
            <a:r>
              <a:rPr lang="en-US" sz="1700" b="1" dirty="0">
                <a:solidFill>
                  <a:schemeClr val="bg1"/>
                </a:solidFill>
              </a:rPr>
              <a:t>1NF</a:t>
            </a:r>
            <a:endParaRPr lang="en-US" sz="1700" dirty="0"/>
          </a:p>
        </p:txBody>
      </p:sp>
      <p:sp>
        <p:nvSpPr>
          <p:cNvPr id="21" name="text-250"/>
          <p:cNvSpPr txBox="1"/>
          <p:nvPr/>
        </p:nvSpPr>
        <p:spPr>
          <a:xfrm>
            <a:off x="1645920" y="2880360"/>
            <a:ext cx="2240280" cy="640080"/>
          </a:xfrm>
          <a:prstGeom prst="rect">
            <a:avLst/>
          </a:prstGeom>
          <a:noFill/>
          <a:ln/>
        </p:spPr>
        <p:txBody>
          <a:bodyPr wrap="square" lIns="0" tIns="0" rIns="0" bIns="0" rtlCol="0" anchor="ctr"/>
          <a:lstStyle/>
          <a:p>
            <a:pPr marL="0" indent="0">
              <a:buNone/>
            </a:pPr>
            <a:r>
              <a:rPr lang="en-US" sz="1500" b="1" dirty="0">
                <a:solidFill>
                  <a:schemeClr val="tx1"/>
                </a:solidFill>
              </a:rPr>
              <a:t>Atomic values, no repeating groups</a:t>
            </a:r>
            <a:endParaRPr lang="en-US" sz="1500" dirty="0"/>
          </a:p>
        </p:txBody>
      </p:sp>
      <p:sp>
        <p:nvSpPr>
          <p:cNvPr id="22" name="text-251"/>
          <p:cNvSpPr txBox="1"/>
          <p:nvPr/>
        </p:nvSpPr>
        <p:spPr>
          <a:xfrm>
            <a:off x="777240" y="3749040"/>
            <a:ext cx="3108960" cy="1508760"/>
          </a:xfrm>
          <a:prstGeom prst="rect">
            <a:avLst/>
          </a:prstGeom>
          <a:noFill/>
          <a:ln/>
        </p:spPr>
        <p:txBody>
          <a:bodyPr wrap="square" lIns="0" tIns="0" rIns="0" bIns="0" rtlCol="0" anchor="t"/>
          <a:lstStyle/>
          <a:p>
            <a:pPr marL="0" indent="0">
              <a:lnSpc>
                <a:spcPct val="110000"/>
              </a:lnSpc>
              <a:spcAft>
                <a:spcPts val="400"/>
              </a:spcAft>
              <a:buNone/>
            </a:pPr>
            <a:r>
              <a:rPr lang="en-US" sz="1200" dirty="0">
                <a:solidFill>
                  <a:schemeClr val="tx2"/>
                </a:solidFill>
              </a:rPr>
              <a:t>status_1, location_1, status_2 … is a repeating group → one row per event in TRACKING_HISTORY.</a:t>
            </a:r>
            <a:endParaRPr lang="en-US" sz="1200" dirty="0"/>
          </a:p>
          <a:p>
            <a:pPr marL="0" indent="0">
              <a:lnSpc>
                <a:spcPct val="110000"/>
              </a:lnSpc>
              <a:spcAft>
                <a:spcPts val="400"/>
              </a:spcAft>
              <a:buNone/>
            </a:pPr>
            <a:r>
              <a:rPr lang="en-US" sz="1200" dirty="0">
                <a:solidFill>
                  <a:schemeClr val="tx2"/>
                </a:solidFill>
              </a:rPr>
              <a:t>Every column holds a single value.</a:t>
            </a:r>
            <a:endParaRPr lang="en-US" sz="1200" dirty="0"/>
          </a:p>
        </p:txBody>
      </p:sp>
      <p:sp>
        <p:nvSpPr>
          <p:cNvPr id="23" name="nf-arrow-252"/>
          <p:cNvSpPr/>
          <p:nvPr/>
        </p:nvSpPr>
        <p:spPr>
          <a:xfrm>
            <a:off x="4101084" y="3909060"/>
            <a:ext cx="201168" cy="182880"/>
          </a:xfrm>
          <a:prstGeom prst="rightArrow">
            <a:avLst/>
          </a:prstGeom>
          <a:solidFill>
            <a:schemeClr val="accent1"/>
          </a:solidFill>
          <a:ln/>
        </p:spPr>
      </p:sp>
      <p:sp>
        <p:nvSpPr>
          <p:cNvPr id="24" name="nf-card-253"/>
          <p:cNvSpPr/>
          <p:nvPr/>
        </p:nvSpPr>
        <p:spPr>
          <a:xfrm>
            <a:off x="4334256" y="2606040"/>
            <a:ext cx="3520440" cy="2788920"/>
          </a:xfrm>
          <a:prstGeom prst="roundRect">
            <a:avLst>
              <a:gd name="adj" fmla="val 3934"/>
            </a:avLst>
          </a:prstGeom>
          <a:solidFill>
            <a:schemeClr val="bg1"/>
          </a:solidFill>
          <a:ln/>
          <a:effectLst>
            <a:outerShdw blurRad="101600" dist="25400" dir="5400000" algn="bl" rotWithShape="0">
              <a:srgbClr val="000000">
                <a:alpha val="10000"/>
              </a:srgbClr>
            </a:outerShdw>
          </a:effectLst>
        </p:spPr>
      </p:sp>
      <p:sp>
        <p:nvSpPr>
          <p:cNvPr id="25" name="nf-badge-254"/>
          <p:cNvSpPr/>
          <p:nvPr/>
        </p:nvSpPr>
        <p:spPr>
          <a:xfrm>
            <a:off x="4562856" y="2834640"/>
            <a:ext cx="731520" cy="731520"/>
          </a:xfrm>
          <a:prstGeom prst="ellipse">
            <a:avLst/>
          </a:prstGeom>
          <a:solidFill>
            <a:schemeClr val="tx1"/>
          </a:solidFill>
          <a:ln/>
        </p:spPr>
      </p:sp>
      <p:sp>
        <p:nvSpPr>
          <p:cNvPr id="26" name="text-255"/>
          <p:cNvSpPr txBox="1"/>
          <p:nvPr/>
        </p:nvSpPr>
        <p:spPr>
          <a:xfrm>
            <a:off x="4562856" y="2834640"/>
            <a:ext cx="731520" cy="731520"/>
          </a:xfrm>
          <a:prstGeom prst="rect">
            <a:avLst/>
          </a:prstGeom>
          <a:noFill/>
          <a:ln/>
        </p:spPr>
        <p:txBody>
          <a:bodyPr wrap="square" lIns="0" tIns="0" rIns="0" bIns="0" rtlCol="0" anchor="ctr"/>
          <a:lstStyle/>
          <a:p>
            <a:pPr marL="0" indent="0" algn="ctr">
              <a:buNone/>
            </a:pPr>
            <a:r>
              <a:rPr lang="en-US" sz="1700" b="1" dirty="0">
                <a:solidFill>
                  <a:schemeClr val="bg1"/>
                </a:solidFill>
              </a:rPr>
              <a:t>2NF</a:t>
            </a:r>
            <a:endParaRPr lang="en-US" sz="1700" dirty="0"/>
          </a:p>
        </p:txBody>
      </p:sp>
      <p:sp>
        <p:nvSpPr>
          <p:cNvPr id="27" name="text-256"/>
          <p:cNvSpPr txBox="1"/>
          <p:nvPr/>
        </p:nvSpPr>
        <p:spPr>
          <a:xfrm>
            <a:off x="5431536" y="2880360"/>
            <a:ext cx="2240280" cy="640080"/>
          </a:xfrm>
          <a:prstGeom prst="rect">
            <a:avLst/>
          </a:prstGeom>
          <a:noFill/>
          <a:ln/>
        </p:spPr>
        <p:txBody>
          <a:bodyPr wrap="square" lIns="0" tIns="0" rIns="0" bIns="0" rtlCol="0" anchor="ctr"/>
          <a:lstStyle/>
          <a:p>
            <a:pPr marL="0" indent="0">
              <a:buNone/>
            </a:pPr>
            <a:r>
              <a:rPr lang="en-US" sz="1500" b="1" dirty="0">
                <a:solidFill>
                  <a:schemeClr val="tx1"/>
                </a:solidFill>
              </a:rPr>
              <a:t>No partial dependencies</a:t>
            </a:r>
            <a:endParaRPr lang="en-US" sz="1500" dirty="0"/>
          </a:p>
        </p:txBody>
      </p:sp>
      <p:sp>
        <p:nvSpPr>
          <p:cNvPr id="28" name="text-257"/>
          <p:cNvSpPr txBox="1"/>
          <p:nvPr/>
        </p:nvSpPr>
        <p:spPr>
          <a:xfrm>
            <a:off x="4562856" y="3749040"/>
            <a:ext cx="3108960" cy="1508760"/>
          </a:xfrm>
          <a:prstGeom prst="rect">
            <a:avLst/>
          </a:prstGeom>
          <a:noFill/>
          <a:ln/>
        </p:spPr>
        <p:txBody>
          <a:bodyPr wrap="square" lIns="0" tIns="0" rIns="0" bIns="0" rtlCol="0" anchor="t"/>
          <a:lstStyle/>
          <a:p>
            <a:pPr marL="0" indent="0">
              <a:lnSpc>
                <a:spcPct val="110000"/>
              </a:lnSpc>
              <a:spcAft>
                <a:spcPts val="400"/>
              </a:spcAft>
              <a:buNone/>
            </a:pPr>
            <a:r>
              <a:rPr lang="en-US" sz="1200" dirty="0">
                <a:solidFill>
                  <a:schemeClr val="tx2"/>
                </a:solidFill>
              </a:rPr>
              <a:t>Keyed by (tracking_id, event time), the sender, receiver and weight depend on tracking_id alone → they stay in PARCELS; events get their own key, history_id.</a:t>
            </a:r>
            <a:endParaRPr lang="en-US" sz="1200" dirty="0"/>
          </a:p>
        </p:txBody>
      </p:sp>
      <p:sp>
        <p:nvSpPr>
          <p:cNvPr id="29" name="nf-arrow-258"/>
          <p:cNvSpPr/>
          <p:nvPr/>
        </p:nvSpPr>
        <p:spPr>
          <a:xfrm>
            <a:off x="7886700" y="3909060"/>
            <a:ext cx="201168" cy="182880"/>
          </a:xfrm>
          <a:prstGeom prst="rightArrow">
            <a:avLst/>
          </a:prstGeom>
          <a:solidFill>
            <a:schemeClr val="accent1"/>
          </a:solidFill>
          <a:ln/>
        </p:spPr>
      </p:sp>
      <p:sp>
        <p:nvSpPr>
          <p:cNvPr id="30" name="nf-card-259"/>
          <p:cNvSpPr/>
          <p:nvPr/>
        </p:nvSpPr>
        <p:spPr>
          <a:xfrm>
            <a:off x="8119872" y="2606040"/>
            <a:ext cx="3520440" cy="2788920"/>
          </a:xfrm>
          <a:prstGeom prst="roundRect">
            <a:avLst>
              <a:gd name="adj" fmla="val 3934"/>
            </a:avLst>
          </a:prstGeom>
          <a:solidFill>
            <a:schemeClr val="bg1"/>
          </a:solidFill>
          <a:ln/>
          <a:effectLst>
            <a:outerShdw blurRad="101600" dist="25400" dir="5400000" algn="bl" rotWithShape="0">
              <a:srgbClr val="000000">
                <a:alpha val="10000"/>
              </a:srgbClr>
            </a:outerShdw>
          </a:effectLst>
        </p:spPr>
      </p:sp>
      <p:sp>
        <p:nvSpPr>
          <p:cNvPr id="31" name="nf-badge-260"/>
          <p:cNvSpPr/>
          <p:nvPr/>
        </p:nvSpPr>
        <p:spPr>
          <a:xfrm>
            <a:off x="8348472" y="2834640"/>
            <a:ext cx="731520" cy="731520"/>
          </a:xfrm>
          <a:prstGeom prst="ellipse">
            <a:avLst/>
          </a:prstGeom>
          <a:solidFill>
            <a:schemeClr val="accent1"/>
          </a:solidFill>
          <a:ln/>
        </p:spPr>
      </p:sp>
      <p:sp>
        <p:nvSpPr>
          <p:cNvPr id="32" name="text-261"/>
          <p:cNvSpPr txBox="1"/>
          <p:nvPr/>
        </p:nvSpPr>
        <p:spPr>
          <a:xfrm>
            <a:off x="8348472" y="2834640"/>
            <a:ext cx="731520" cy="731520"/>
          </a:xfrm>
          <a:prstGeom prst="rect">
            <a:avLst/>
          </a:prstGeom>
          <a:noFill/>
          <a:ln/>
        </p:spPr>
        <p:txBody>
          <a:bodyPr wrap="square" lIns="0" tIns="0" rIns="0" bIns="0" rtlCol="0" anchor="ctr"/>
          <a:lstStyle/>
          <a:p>
            <a:pPr marL="0" indent="0" algn="ctr">
              <a:buNone/>
            </a:pPr>
            <a:r>
              <a:rPr lang="en-US" sz="1700" b="1" dirty="0">
                <a:solidFill>
                  <a:schemeClr val="bg1"/>
                </a:solidFill>
              </a:rPr>
              <a:t>3NF</a:t>
            </a:r>
            <a:endParaRPr lang="en-US" sz="1700" dirty="0"/>
          </a:p>
        </p:txBody>
      </p:sp>
      <p:sp>
        <p:nvSpPr>
          <p:cNvPr id="33" name="text-262"/>
          <p:cNvSpPr txBox="1"/>
          <p:nvPr/>
        </p:nvSpPr>
        <p:spPr>
          <a:xfrm>
            <a:off x="9217152" y="2880360"/>
            <a:ext cx="2240280" cy="640080"/>
          </a:xfrm>
          <a:prstGeom prst="rect">
            <a:avLst/>
          </a:prstGeom>
          <a:noFill/>
          <a:ln/>
        </p:spPr>
        <p:txBody>
          <a:bodyPr wrap="square" lIns="0" tIns="0" rIns="0" bIns="0" rtlCol="0" anchor="ctr"/>
          <a:lstStyle/>
          <a:p>
            <a:pPr marL="0" indent="0">
              <a:buNone/>
            </a:pPr>
            <a:r>
              <a:rPr lang="en-US" sz="1500" b="1" dirty="0">
                <a:solidFill>
                  <a:schemeClr val="tx1"/>
                </a:solidFill>
              </a:rPr>
              <a:t>No transitive dependencies</a:t>
            </a:r>
            <a:endParaRPr lang="en-US" sz="1500" dirty="0"/>
          </a:p>
        </p:txBody>
      </p:sp>
      <p:sp>
        <p:nvSpPr>
          <p:cNvPr id="34" name="text-263"/>
          <p:cNvSpPr txBox="1"/>
          <p:nvPr/>
        </p:nvSpPr>
        <p:spPr>
          <a:xfrm>
            <a:off x="8348472" y="3749040"/>
            <a:ext cx="3108960" cy="1508760"/>
          </a:xfrm>
          <a:prstGeom prst="rect">
            <a:avLst/>
          </a:prstGeom>
          <a:noFill/>
          <a:ln/>
        </p:spPr>
        <p:txBody>
          <a:bodyPr wrap="square" lIns="0" tIns="0" rIns="0" bIns="0" rtlCol="0" anchor="t"/>
          <a:lstStyle/>
          <a:p>
            <a:pPr marL="0" indent="0">
              <a:lnSpc>
                <a:spcPct val="110000"/>
              </a:lnSpc>
              <a:spcAft>
                <a:spcPts val="400"/>
              </a:spcAft>
              <a:buNone/>
            </a:pPr>
            <a:r>
              <a:rPr lang="en-US" sz="1200" dirty="0">
                <a:solidFill>
                  <a:schemeClr val="tx2"/>
                </a:solidFill>
              </a:rPr>
              <a:t>customer_id → name, email, phone  ⇒  USERS.</a:t>
            </a:r>
            <a:endParaRPr lang="en-US" sz="1200" dirty="0"/>
          </a:p>
          <a:p>
            <a:pPr marL="0" indent="0">
              <a:lnSpc>
                <a:spcPct val="110000"/>
              </a:lnSpc>
              <a:spcAft>
                <a:spcPts val="400"/>
              </a:spcAft>
              <a:buNone/>
            </a:pPr>
            <a:r>
              <a:rPr lang="en-US" sz="1200" dirty="0">
                <a:solidFill>
                  <a:schemeClr val="tx2"/>
                </a:solidFill>
              </a:rPr>
              <a:t>transaction_ref → amount, method  ⇒  PAYMENTS.</a:t>
            </a:r>
            <a:endParaRPr lang="en-US" sz="1200" dirty="0"/>
          </a:p>
          <a:p>
            <a:pPr marL="0" indent="0">
              <a:lnSpc>
                <a:spcPct val="110000"/>
              </a:lnSpc>
              <a:spcAft>
                <a:spcPts val="400"/>
              </a:spcAft>
              <a:buNone/>
            </a:pPr>
            <a:r>
              <a:rPr lang="en-US" sz="1200" dirty="0">
                <a:solidFill>
                  <a:schemeClr val="tx2"/>
                </a:solidFill>
              </a:rPr>
              <a:t>current_location and the QR URL are derived ⇒ computed, not stored.</a:t>
            </a:r>
            <a:endParaRPr lang="en-US" sz="1200" dirty="0"/>
          </a:p>
        </p:txBody>
      </p:sp>
      <p:sp>
        <p:nvSpPr>
          <p:cNvPr id="35" name="nf-result-264"/>
          <p:cNvSpPr/>
          <p:nvPr/>
        </p:nvSpPr>
        <p:spPr>
          <a:xfrm>
            <a:off x="548640" y="5550408"/>
            <a:ext cx="11094415" cy="667512"/>
          </a:xfrm>
          <a:prstGeom prst="roundRect">
            <a:avLst>
              <a:gd name="adj" fmla="val 16438"/>
            </a:avLst>
          </a:prstGeom>
          <a:solidFill>
            <a:schemeClr val="accent1">
              <a:alpha val="12000"/>
            </a:schemeClr>
          </a:solidFill>
          <a:ln/>
        </p:spPr>
      </p:sp>
      <p:sp>
        <p:nvSpPr>
          <p:cNvPr id="36" name="text-265"/>
          <p:cNvSpPr txBox="1"/>
          <p:nvPr/>
        </p:nvSpPr>
        <p:spPr>
          <a:xfrm>
            <a:off x="777240" y="5550408"/>
            <a:ext cx="10637215" cy="667512"/>
          </a:xfrm>
          <a:prstGeom prst="rect">
            <a:avLst/>
          </a:prstGeom>
          <a:noFill/>
          <a:ln/>
        </p:spPr>
        <p:txBody>
          <a:bodyPr wrap="square" lIns="0" tIns="0" rIns="0" bIns="0" rtlCol="0" anchor="ctr"/>
          <a:lstStyle/>
          <a:p>
            <a:pPr marL="0" indent="0">
              <a:buNone/>
            </a:pPr>
            <a:r>
              <a:rPr lang="en-US" sz="1300" b="1" dirty="0">
                <a:solidFill>
                  <a:schemeClr val="accent5"/>
                </a:solidFill>
              </a:rPr>
              <a:t>Result: </a:t>
            </a:r>
            <a:r>
              <a:rPr lang="en-US" sz="1300" dirty="0">
                <a:solidFill>
                  <a:schemeClr val="tx1"/>
                </a:solidFill>
              </a:rPr>
              <a:t>4 tables in 3NF, and BCNF because every determinant is a key. current_status and payment_status are kept as summary copies for fast dashboards, updated in the same transaction so they never disagree.</a:t>
            </a:r>
            <a:endParaRPr lang="en-US" sz="1300" dirty="0"/>
          </a:p>
        </p:txBody>
      </p:sp>
      <p:sp>
        <p:nvSpPr>
          <p:cNvPr id="37"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7498080" cy="868680"/>
          </a:xfrm>
          <a:prstGeom prst="rect">
            <a:avLst/>
          </a:prstGeom>
          <a:noFill/>
          <a:ln/>
        </p:spPr>
        <p:txBody>
          <a:bodyPr wrap="square" lIns="0" tIns="0" rIns="0" bIns="0" rtlCol="0" anchor="ctr"/>
          <a:lstStyle/>
          <a:p>
            <a:pPr marL="0" indent="0" algn="l">
              <a:buNone/>
            </a:pPr>
            <a:r>
              <a:rPr lang="en-US" sz="2800" dirty="0">
                <a:solidFill>
                  <a:schemeClr val="tx1"/>
                </a:solidFill>
                <a:latin typeface="Segoe UI Semibold" pitchFamily="34" charset="0"/>
                <a:ea typeface="Segoe UI Semibold" pitchFamily="34" charset="-122"/>
                <a:cs typeface="Segoe UI Semibold" pitchFamily="34" charset="-120"/>
              </a:rPr>
              <a:t>Database creation with full constraints</a:t>
            </a:r>
            <a:endParaRPr lang="en-US" sz="2800" dirty="0"/>
          </a:p>
        </p:txBody>
      </p:sp>
      <p:sp>
        <p:nvSpPr>
          <p:cNvPr id="3" name="tracker-rail-266"/>
          <p:cNvSpPr/>
          <p:nvPr/>
        </p:nvSpPr>
        <p:spPr>
          <a:xfrm>
            <a:off x="8458200" y="566928"/>
            <a:ext cx="2926080" cy="0"/>
          </a:xfrm>
          <a:prstGeom prst="line">
            <a:avLst/>
          </a:prstGeom>
          <a:noFill/>
          <a:ln w="31750">
            <a:solidFill>
              <a:srgbClr val="D1D5DB"/>
            </a:solidFill>
            <a:prstDash val="solid"/>
          </a:ln>
        </p:spPr>
      </p:sp>
      <p:sp>
        <p:nvSpPr>
          <p:cNvPr id="4" name="tracker-done-267"/>
          <p:cNvSpPr/>
          <p:nvPr/>
        </p:nvSpPr>
        <p:spPr>
          <a:xfrm>
            <a:off x="8458200" y="566928"/>
            <a:ext cx="1463040" cy="0"/>
          </a:xfrm>
          <a:prstGeom prst="line">
            <a:avLst/>
          </a:prstGeom>
          <a:noFill/>
          <a:ln w="31750">
            <a:solidFill>
              <a:schemeClr val="accent1"/>
            </a:solidFill>
            <a:prstDash val="solid"/>
          </a:ln>
        </p:spPr>
      </p:sp>
      <p:sp>
        <p:nvSpPr>
          <p:cNvPr id="5" name="tracker-dot-268"/>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269"/>
          <p:cNvSpPr txBox="1"/>
          <p:nvPr/>
        </p:nvSpPr>
        <p:spPr>
          <a:xfrm>
            <a:off x="800100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Problem</a:t>
            </a:r>
            <a:endParaRPr lang="en-US" sz="1000" dirty="0"/>
          </a:p>
        </p:txBody>
      </p:sp>
      <p:sp>
        <p:nvSpPr>
          <p:cNvPr id="7" name="tracker-dot-270"/>
          <p:cNvSpPr/>
          <p:nvPr/>
        </p:nvSpPr>
        <p:spPr>
          <a:xfrm>
            <a:off x="9116568" y="493776"/>
            <a:ext cx="146304" cy="146304"/>
          </a:xfrm>
          <a:prstGeom prst="ellipse">
            <a:avLst/>
          </a:prstGeom>
          <a:solidFill>
            <a:schemeClr val="accent1"/>
          </a:solidFill>
          <a:ln w="19050">
            <a:solidFill>
              <a:schemeClr val="accent1"/>
            </a:solidFill>
            <a:prstDash val="solid"/>
          </a:ln>
        </p:spPr>
      </p:sp>
      <p:sp>
        <p:nvSpPr>
          <p:cNvPr id="8" name="text-271"/>
          <p:cNvSpPr txBox="1"/>
          <p:nvPr/>
        </p:nvSpPr>
        <p:spPr>
          <a:xfrm>
            <a:off x="873252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ER &amp; Schema</a:t>
            </a:r>
            <a:endParaRPr lang="en-US" sz="1000" dirty="0"/>
          </a:p>
        </p:txBody>
      </p:sp>
      <p:sp>
        <p:nvSpPr>
          <p:cNvPr id="9" name="tracker-dot-272"/>
          <p:cNvSpPr/>
          <p:nvPr/>
        </p:nvSpPr>
        <p:spPr>
          <a:xfrm>
            <a:off x="9802368" y="448056"/>
            <a:ext cx="237744" cy="237744"/>
          </a:xfrm>
          <a:prstGeom prst="ellipse">
            <a:avLst/>
          </a:prstGeom>
          <a:solidFill>
            <a:schemeClr val="accent1"/>
          </a:solidFill>
          <a:ln w="19050">
            <a:solidFill>
              <a:schemeClr val="accent1"/>
            </a:solidFill>
            <a:prstDash val="solid"/>
          </a:ln>
        </p:spPr>
      </p:sp>
      <p:sp>
        <p:nvSpPr>
          <p:cNvPr id="10" name="text-273"/>
          <p:cNvSpPr txBox="1"/>
          <p:nvPr/>
        </p:nvSpPr>
        <p:spPr>
          <a:xfrm>
            <a:off x="9464040" y="749808"/>
            <a:ext cx="914400" cy="228600"/>
          </a:xfrm>
          <a:prstGeom prst="rect">
            <a:avLst/>
          </a:prstGeom>
          <a:noFill/>
          <a:ln/>
        </p:spPr>
        <p:txBody>
          <a:bodyPr wrap="square" lIns="0" tIns="0" rIns="0" bIns="0" rtlCol="0" anchor="t"/>
          <a:lstStyle/>
          <a:p>
            <a:pPr marL="0" indent="0" algn="ctr">
              <a:buNone/>
            </a:pPr>
            <a:r>
              <a:rPr lang="en-US" sz="1000" b="1" dirty="0">
                <a:solidFill>
                  <a:schemeClr val="accent1"/>
                </a:solidFill>
              </a:rPr>
              <a:t>Database</a:t>
            </a:r>
            <a:endParaRPr lang="en-US" sz="1000" dirty="0"/>
          </a:p>
        </p:txBody>
      </p:sp>
      <p:sp>
        <p:nvSpPr>
          <p:cNvPr id="11" name="tracker-dot-274"/>
          <p:cNvSpPr/>
          <p:nvPr/>
        </p:nvSpPr>
        <p:spPr>
          <a:xfrm>
            <a:off x="10579608" y="493776"/>
            <a:ext cx="146304" cy="146304"/>
          </a:xfrm>
          <a:prstGeom prst="ellipse">
            <a:avLst/>
          </a:prstGeom>
          <a:solidFill>
            <a:schemeClr val="bg1"/>
          </a:solidFill>
          <a:ln w="19050">
            <a:solidFill>
              <a:schemeClr val="accent6"/>
            </a:solidFill>
            <a:prstDash val="solid"/>
          </a:ln>
        </p:spPr>
      </p:sp>
      <p:sp>
        <p:nvSpPr>
          <p:cNvPr id="12" name="text-275"/>
          <p:cNvSpPr txBox="1"/>
          <p:nvPr/>
        </p:nvSpPr>
        <p:spPr>
          <a:xfrm>
            <a:off x="1019556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UI Demo</a:t>
            </a:r>
            <a:endParaRPr lang="en-US" sz="1000" dirty="0"/>
          </a:p>
        </p:txBody>
      </p:sp>
      <p:sp>
        <p:nvSpPr>
          <p:cNvPr id="13" name="tracker-dot-276"/>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277"/>
          <p:cNvSpPr txBox="1"/>
          <p:nvPr/>
        </p:nvSpPr>
        <p:spPr>
          <a:xfrm>
            <a:off x="1092708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Q&amp;A</a:t>
            </a:r>
            <a:endParaRPr lang="en-US" sz="1000" dirty="0"/>
          </a:p>
        </p:txBody>
      </p:sp>
      <p:sp>
        <p:nvSpPr>
          <p:cNvPr id="15" name="code-card-278"/>
          <p:cNvSpPr/>
          <p:nvPr/>
        </p:nvSpPr>
        <p:spPr>
          <a:xfrm>
            <a:off x="548640" y="1417320"/>
            <a:ext cx="6583680" cy="4800600"/>
          </a:xfrm>
          <a:prstGeom prst="roundRect">
            <a:avLst>
              <a:gd name="adj" fmla="val 2286"/>
            </a:avLst>
          </a:prstGeom>
          <a:solidFill>
            <a:schemeClr val="tx1"/>
          </a:solidFill>
          <a:ln/>
          <a:effectLst>
            <a:outerShdw blurRad="101600" dist="25400" dir="5400000" algn="bl" rotWithShape="0">
              <a:srgbClr val="000000">
                <a:alpha val="10000"/>
              </a:srgbClr>
            </a:outerShdw>
          </a:effectLst>
        </p:spPr>
      </p:sp>
      <p:sp>
        <p:nvSpPr>
          <p:cNvPr id="16" name="text-279"/>
          <p:cNvSpPr txBox="1"/>
          <p:nvPr/>
        </p:nvSpPr>
        <p:spPr>
          <a:xfrm>
            <a:off x="822960" y="1581912"/>
            <a:ext cx="2743200" cy="228600"/>
          </a:xfrm>
          <a:prstGeom prst="rect">
            <a:avLst/>
          </a:prstGeom>
          <a:noFill/>
          <a:ln/>
        </p:spPr>
        <p:txBody>
          <a:bodyPr wrap="square" lIns="0" tIns="0" rIns="0" bIns="0" rtlCol="0" anchor="t"/>
          <a:lstStyle/>
          <a:p>
            <a:pPr marL="0" indent="0">
              <a:buNone/>
            </a:pPr>
            <a:r>
              <a:rPr lang="en-US" sz="1000" b="1" kern="0" spc="150" dirty="0">
                <a:solidFill>
                  <a:schemeClr val="accent1"/>
                </a:solidFill>
              </a:rPr>
              <a:t>courier_management.sql</a:t>
            </a:r>
            <a:endParaRPr lang="en-US" sz="1000" dirty="0"/>
          </a:p>
        </p:txBody>
      </p:sp>
      <p:sp>
        <p:nvSpPr>
          <p:cNvPr id="17" name="code-280"/>
          <p:cNvSpPr txBox="1"/>
          <p:nvPr/>
        </p:nvSpPr>
        <p:spPr>
          <a:xfrm>
            <a:off x="822960" y="1874520"/>
            <a:ext cx="6126480" cy="4206240"/>
          </a:xfrm>
          <a:prstGeom prst="rect">
            <a:avLst/>
          </a:prstGeom>
          <a:noFill/>
          <a:ln/>
        </p:spPr>
        <p:txBody>
          <a:bodyPr wrap="square" lIns="0" tIns="0" rIns="0" bIns="0" rtlCol="0" anchor="t"/>
          <a:lstStyle/>
          <a:p>
            <a:pPr marL="0" indent="0">
              <a:lnSpc>
                <a:spcPct val="105000"/>
              </a:lnSpc>
              <a:buNone/>
            </a:pPr>
            <a:r>
              <a:rPr lang="en-US" sz="1200" dirty="0">
                <a:solidFill>
                  <a:schemeClr val="accent1"/>
                </a:solidFill>
                <a:latin typeface="Consolas" pitchFamily="34" charset="0"/>
                <a:ea typeface="Consolas" pitchFamily="34" charset="-122"/>
                <a:cs typeface="Consolas" pitchFamily="34" charset="-120"/>
              </a:rPr>
              <a:t>CREATE</a:t>
            </a: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TABLE</a:t>
            </a:r>
            <a:r>
              <a:rPr lang="en-US" sz="1200" dirty="0">
                <a:solidFill>
                  <a:schemeClr val="bg2"/>
                </a:solidFill>
                <a:latin typeface="Consolas" pitchFamily="34" charset="0"/>
                <a:ea typeface="Consolas" pitchFamily="34" charset="-122"/>
                <a:cs typeface="Consolas" pitchFamily="34" charset="-120"/>
              </a:rPr>
              <a:t> parcels (</a:t>
            </a:r>
            <a:endParaRPr lang="en-US" sz="1200" dirty="0"/>
          </a:p>
          <a:p>
            <a:pPr marL="0" indent="0">
              <a:lnSpc>
                <a:spcPct val="105000"/>
              </a:lnSpc>
              <a:buNone/>
            </a:pPr>
            <a:r>
              <a:rPr lang="en-US" sz="1200" dirty="0">
                <a:solidFill>
                  <a:schemeClr val="bg2"/>
                </a:solidFill>
                <a:latin typeface="Consolas" pitchFamily="34" charset="0"/>
                <a:ea typeface="Consolas" pitchFamily="34" charset="-122"/>
                <a:cs typeface="Consolas" pitchFamily="34" charset="-120"/>
              </a:rPr>
              <a:t>  parcel_id     </a:t>
            </a:r>
            <a:r>
              <a:rPr lang="en-US" sz="1200" dirty="0">
                <a:solidFill>
                  <a:schemeClr val="accent1"/>
                </a:solidFill>
                <a:latin typeface="Consolas" pitchFamily="34" charset="0"/>
                <a:ea typeface="Consolas" pitchFamily="34" charset="-122"/>
                <a:cs typeface="Consolas" pitchFamily="34" charset="-120"/>
              </a:rPr>
              <a:t>INT</a:t>
            </a: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UNSIGNED</a:t>
            </a: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AUTO_INCREMENT</a:t>
            </a: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PRIMARY</a:t>
            </a: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KEY</a:t>
            </a:r>
            <a:r>
              <a:rPr lang="en-US" sz="1200" dirty="0">
                <a:solidFill>
                  <a:schemeClr val="bg2"/>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chemeClr val="bg2"/>
                </a:solidFill>
                <a:latin typeface="Consolas" pitchFamily="34" charset="0"/>
                <a:ea typeface="Consolas" pitchFamily="34" charset="-122"/>
                <a:cs typeface="Consolas" pitchFamily="34" charset="-120"/>
              </a:rPr>
              <a:t>  tracking_id   </a:t>
            </a:r>
            <a:r>
              <a:rPr lang="en-US" sz="1200" dirty="0">
                <a:solidFill>
                  <a:schemeClr val="accent1"/>
                </a:solidFill>
                <a:latin typeface="Consolas" pitchFamily="34" charset="0"/>
                <a:ea typeface="Consolas" pitchFamily="34" charset="-122"/>
                <a:cs typeface="Consolas" pitchFamily="34" charset="-120"/>
              </a:rPr>
              <a:t>CHAR</a:t>
            </a:r>
            <a:r>
              <a:rPr lang="en-US" sz="1200" dirty="0">
                <a:solidFill>
                  <a:schemeClr val="bg2"/>
                </a:solidFill>
                <a:latin typeface="Consolas" pitchFamily="34" charset="0"/>
                <a:ea typeface="Consolas" pitchFamily="34" charset="-122"/>
                <a:cs typeface="Consolas" pitchFamily="34" charset="-120"/>
              </a:rPr>
              <a:t>(14) </a:t>
            </a:r>
            <a:r>
              <a:rPr lang="en-US" sz="1200" dirty="0">
                <a:solidFill>
                  <a:schemeClr val="accent1"/>
                </a:solidFill>
                <a:latin typeface="Consolas" pitchFamily="34" charset="0"/>
                <a:ea typeface="Consolas" pitchFamily="34" charset="-122"/>
                <a:cs typeface="Consolas" pitchFamily="34" charset="-120"/>
              </a:rPr>
              <a:t>NOT</a:t>
            </a: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NULL</a:t>
            </a:r>
            <a:r>
              <a:rPr lang="en-US" sz="1200" dirty="0">
                <a:solidFill>
                  <a:schemeClr val="bg2"/>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chemeClr val="bg2"/>
                </a:solidFill>
                <a:latin typeface="Consolas" pitchFamily="34" charset="0"/>
                <a:ea typeface="Consolas" pitchFamily="34" charset="-122"/>
                <a:cs typeface="Consolas" pitchFamily="34" charset="-120"/>
              </a:rPr>
              <a:t>  customer_id   </a:t>
            </a:r>
            <a:r>
              <a:rPr lang="en-US" sz="1200" dirty="0">
                <a:solidFill>
                  <a:schemeClr val="accent1"/>
                </a:solidFill>
                <a:latin typeface="Consolas" pitchFamily="34" charset="0"/>
                <a:ea typeface="Consolas" pitchFamily="34" charset="-122"/>
                <a:cs typeface="Consolas" pitchFamily="34" charset="-120"/>
              </a:rPr>
              <a:t>INT</a:t>
            </a: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UNSIGNED</a:t>
            </a: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NOT</a:t>
            </a: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NULL</a:t>
            </a:r>
            <a:r>
              <a:rPr lang="en-US" sz="1200" dirty="0">
                <a:solidFill>
                  <a:schemeClr val="bg2"/>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chemeClr val="bg2"/>
                </a:solidFill>
                <a:latin typeface="Consolas" pitchFamily="34" charset="0"/>
                <a:ea typeface="Consolas" pitchFamily="34" charset="-122"/>
                <a:cs typeface="Consolas" pitchFamily="34" charset="-120"/>
              </a:rPr>
              <a:t>  ...                                </a:t>
            </a:r>
            <a:r>
              <a:rPr lang="en-US" sz="1200" i="1" dirty="0">
                <a:solidFill>
                  <a:schemeClr val="accent6"/>
                </a:solidFill>
                <a:latin typeface="Consolas" pitchFamily="34" charset="0"/>
                <a:ea typeface="Consolas" pitchFamily="34" charset="-122"/>
                <a:cs typeface="Consolas" pitchFamily="34" charset="-120"/>
              </a:rPr>
              <a:t>-- sender + receiver columns</a:t>
            </a:r>
            <a:endParaRPr lang="en-US" sz="1200" dirty="0"/>
          </a:p>
          <a:p>
            <a:pPr marL="0" indent="0">
              <a:lnSpc>
                <a:spcPct val="105000"/>
              </a:lnSpc>
              <a:buNone/>
            </a:pPr>
            <a:r>
              <a:rPr lang="en-US" sz="1200" dirty="0">
                <a:solidFill>
                  <a:schemeClr val="bg2"/>
                </a:solidFill>
                <a:latin typeface="Consolas" pitchFamily="34" charset="0"/>
                <a:ea typeface="Consolas" pitchFamily="34" charset="-122"/>
                <a:cs typeface="Consolas" pitchFamily="34" charset="-120"/>
              </a:rPr>
              <a:t>  parcel_type   </a:t>
            </a:r>
            <a:r>
              <a:rPr lang="en-US" sz="1200" dirty="0">
                <a:solidFill>
                  <a:schemeClr val="accent1"/>
                </a:solidFill>
                <a:latin typeface="Consolas" pitchFamily="34" charset="0"/>
                <a:ea typeface="Consolas" pitchFamily="34" charset="-122"/>
                <a:cs typeface="Consolas" pitchFamily="34" charset="-120"/>
              </a:rPr>
              <a:t>ENUM</a:t>
            </a:r>
            <a:r>
              <a:rPr lang="en-US" sz="1200" dirty="0">
                <a:solidFill>
                  <a:schemeClr val="bg2"/>
                </a:solidFill>
                <a:latin typeface="Consolas" pitchFamily="34" charset="0"/>
                <a:ea typeface="Consolas" pitchFamily="34" charset="-122"/>
                <a:cs typeface="Consolas" pitchFamily="34" charset="-120"/>
              </a:rPr>
              <a:t>(</a:t>
            </a:r>
            <a:r>
              <a:rPr lang="en-US" sz="1200" dirty="0">
                <a:solidFill>
                  <a:srgbClr val="7DD3A8"/>
                </a:solidFill>
                <a:latin typeface="Consolas" pitchFamily="34" charset="0"/>
                <a:ea typeface="Consolas" pitchFamily="34" charset="-122"/>
                <a:cs typeface="Consolas" pitchFamily="34" charset="-120"/>
              </a:rPr>
              <a:t>'Document'</a:t>
            </a:r>
            <a:r>
              <a:rPr lang="en-US" sz="1200" dirty="0">
                <a:solidFill>
                  <a:schemeClr val="bg2"/>
                </a:solidFill>
                <a:latin typeface="Consolas" pitchFamily="34" charset="0"/>
                <a:ea typeface="Consolas" pitchFamily="34" charset="-122"/>
                <a:cs typeface="Consolas" pitchFamily="34" charset="-120"/>
              </a:rPr>
              <a:t>,</a:t>
            </a:r>
            <a:r>
              <a:rPr lang="en-US" sz="1200" dirty="0">
                <a:solidFill>
                  <a:srgbClr val="7DD3A8"/>
                </a:solidFill>
                <a:latin typeface="Consolas" pitchFamily="34" charset="0"/>
                <a:ea typeface="Consolas" pitchFamily="34" charset="-122"/>
                <a:cs typeface="Consolas" pitchFamily="34" charset="-120"/>
              </a:rPr>
              <a:t>'Package'</a:t>
            </a:r>
            <a:r>
              <a:rPr lang="en-US" sz="1200" dirty="0">
                <a:solidFill>
                  <a:schemeClr val="bg2"/>
                </a:solidFill>
                <a:latin typeface="Consolas" pitchFamily="34" charset="0"/>
                <a:ea typeface="Consolas" pitchFamily="34" charset="-122"/>
                <a:cs typeface="Consolas" pitchFamily="34" charset="-120"/>
              </a:rPr>
              <a:t>,</a:t>
            </a:r>
            <a:r>
              <a:rPr lang="en-US" sz="1200" dirty="0">
                <a:solidFill>
                  <a:srgbClr val="7DD3A8"/>
                </a:solidFill>
                <a:latin typeface="Consolas" pitchFamily="34" charset="0"/>
                <a:ea typeface="Consolas" pitchFamily="34" charset="-122"/>
                <a:cs typeface="Consolas" pitchFamily="34" charset="-120"/>
              </a:rPr>
              <a:t>'Electronics'</a:t>
            </a:r>
            <a:r>
              <a:rPr lang="en-US" sz="1200" dirty="0">
                <a:solidFill>
                  <a:schemeClr val="bg2"/>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chemeClr val="bg2"/>
                </a:solidFill>
                <a:latin typeface="Consolas" pitchFamily="34" charset="0"/>
                <a:ea typeface="Consolas" pitchFamily="34" charset="-122"/>
                <a:cs typeface="Consolas" pitchFamily="34" charset="-120"/>
              </a:rPr>
              <a:t>                     </a:t>
            </a:r>
            <a:r>
              <a:rPr lang="en-US" sz="1200" dirty="0">
                <a:solidFill>
                  <a:srgbClr val="7DD3A8"/>
                </a:solidFill>
                <a:latin typeface="Consolas" pitchFamily="34" charset="0"/>
                <a:ea typeface="Consolas" pitchFamily="34" charset="-122"/>
                <a:cs typeface="Consolas" pitchFamily="34" charset="-120"/>
              </a:rPr>
              <a:t>'Fragile'</a:t>
            </a:r>
            <a:r>
              <a:rPr lang="en-US" sz="1200" dirty="0">
                <a:solidFill>
                  <a:schemeClr val="bg2"/>
                </a:solidFill>
                <a:latin typeface="Consolas" pitchFamily="34" charset="0"/>
                <a:ea typeface="Consolas" pitchFamily="34" charset="-122"/>
                <a:cs typeface="Consolas" pitchFamily="34" charset="-120"/>
              </a:rPr>
              <a:t>,</a:t>
            </a:r>
            <a:r>
              <a:rPr lang="en-US" sz="1200" dirty="0">
                <a:solidFill>
                  <a:srgbClr val="7DD3A8"/>
                </a:solidFill>
                <a:latin typeface="Consolas" pitchFamily="34" charset="0"/>
                <a:ea typeface="Consolas" pitchFamily="34" charset="-122"/>
                <a:cs typeface="Consolas" pitchFamily="34" charset="-120"/>
              </a:rPr>
              <a:t>'Other'</a:t>
            </a: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NOT</a:t>
            </a: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NULL</a:t>
            </a:r>
            <a:r>
              <a:rPr lang="en-US" sz="1200" dirty="0">
                <a:solidFill>
                  <a:schemeClr val="bg2"/>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chemeClr val="bg2"/>
                </a:solidFill>
                <a:latin typeface="Consolas" pitchFamily="34" charset="0"/>
                <a:ea typeface="Consolas" pitchFamily="34" charset="-122"/>
                <a:cs typeface="Consolas" pitchFamily="34" charset="-120"/>
              </a:rPr>
              <a:t>  weight_kg     </a:t>
            </a:r>
            <a:r>
              <a:rPr lang="en-US" sz="1200" dirty="0">
                <a:solidFill>
                  <a:schemeClr val="accent1"/>
                </a:solidFill>
                <a:latin typeface="Consolas" pitchFamily="34" charset="0"/>
                <a:ea typeface="Consolas" pitchFamily="34" charset="-122"/>
                <a:cs typeface="Consolas" pitchFamily="34" charset="-120"/>
              </a:rPr>
              <a:t>DECIMAL</a:t>
            </a:r>
            <a:r>
              <a:rPr lang="en-US" sz="1200" dirty="0">
                <a:solidFill>
                  <a:schemeClr val="bg2"/>
                </a:solidFill>
                <a:latin typeface="Consolas" pitchFamily="34" charset="0"/>
                <a:ea typeface="Consolas" pitchFamily="34" charset="-122"/>
                <a:cs typeface="Consolas" pitchFamily="34" charset="-120"/>
              </a:rPr>
              <a:t>(6,2) </a:t>
            </a:r>
            <a:r>
              <a:rPr lang="en-US" sz="1200" dirty="0">
                <a:solidFill>
                  <a:schemeClr val="accent1"/>
                </a:solidFill>
                <a:latin typeface="Consolas" pitchFamily="34" charset="0"/>
                <a:ea typeface="Consolas" pitchFamily="34" charset="-122"/>
                <a:cs typeface="Consolas" pitchFamily="34" charset="-120"/>
              </a:rPr>
              <a:t>NOT</a:t>
            </a: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NULL</a:t>
            </a:r>
            <a:r>
              <a:rPr lang="en-US" sz="1200" dirty="0">
                <a:solidFill>
                  <a:schemeClr val="bg2"/>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chemeClr val="bg2"/>
                </a:solidFill>
                <a:latin typeface="Consolas" pitchFamily="34" charset="0"/>
                <a:ea typeface="Consolas" pitchFamily="34" charset="-122"/>
                <a:cs typeface="Consolas" pitchFamily="34" charset="-120"/>
              </a:rPr>
              <a:t>  current_status </a:t>
            </a:r>
            <a:r>
              <a:rPr lang="en-US" sz="1200" dirty="0">
                <a:solidFill>
                  <a:schemeClr val="accent1"/>
                </a:solidFill>
                <a:latin typeface="Consolas" pitchFamily="34" charset="0"/>
                <a:ea typeface="Consolas" pitchFamily="34" charset="-122"/>
                <a:cs typeface="Consolas" pitchFamily="34" charset="-120"/>
              </a:rPr>
              <a:t>ENUM</a:t>
            </a:r>
            <a:r>
              <a:rPr lang="en-US" sz="1200" dirty="0">
                <a:solidFill>
                  <a:schemeClr val="bg2"/>
                </a:solidFill>
                <a:latin typeface="Consolas" pitchFamily="34" charset="0"/>
                <a:ea typeface="Consolas" pitchFamily="34" charset="-122"/>
                <a:cs typeface="Consolas" pitchFamily="34" charset="-120"/>
              </a:rPr>
              <a:t>(</a:t>
            </a:r>
            <a:r>
              <a:rPr lang="en-US" sz="1200" dirty="0">
                <a:solidFill>
                  <a:srgbClr val="7DD3A8"/>
                </a:solidFill>
                <a:latin typeface="Consolas" pitchFamily="34" charset="0"/>
                <a:ea typeface="Consolas" pitchFamily="34" charset="-122"/>
                <a:cs typeface="Consolas" pitchFamily="34" charset="-120"/>
              </a:rPr>
              <a:t>'Booked'</a:t>
            </a:r>
            <a:r>
              <a:rPr lang="en-US" sz="1200" dirty="0">
                <a:solidFill>
                  <a:schemeClr val="bg2"/>
                </a:solidFill>
                <a:latin typeface="Consolas" pitchFamily="34" charset="0"/>
                <a:ea typeface="Consolas" pitchFamily="34" charset="-122"/>
                <a:cs typeface="Consolas" pitchFamily="34" charset="-120"/>
              </a:rPr>
              <a:t>, ... ,</a:t>
            </a:r>
            <a:r>
              <a:rPr lang="en-US" sz="1200" dirty="0">
                <a:solidFill>
                  <a:srgbClr val="7DD3A8"/>
                </a:solidFill>
                <a:latin typeface="Consolas" pitchFamily="34" charset="0"/>
                <a:ea typeface="Consolas" pitchFamily="34" charset="-122"/>
                <a:cs typeface="Consolas" pitchFamily="34" charset="-120"/>
              </a:rPr>
              <a:t>'Returned'</a:t>
            </a:r>
            <a:r>
              <a:rPr lang="en-US" sz="1200" dirty="0">
                <a:solidFill>
                  <a:schemeClr val="bg2"/>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NOT</a:t>
            </a: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NULL</a:t>
            </a: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DEFAULT</a:t>
            </a:r>
            <a:r>
              <a:rPr lang="en-US" sz="1200" dirty="0">
                <a:solidFill>
                  <a:schemeClr val="bg2"/>
                </a:solidFill>
                <a:latin typeface="Consolas" pitchFamily="34" charset="0"/>
                <a:ea typeface="Consolas" pitchFamily="34" charset="-122"/>
                <a:cs typeface="Consolas" pitchFamily="34" charset="-120"/>
              </a:rPr>
              <a:t> </a:t>
            </a:r>
            <a:r>
              <a:rPr lang="en-US" sz="1200" dirty="0">
                <a:solidFill>
                  <a:srgbClr val="7DD3A8"/>
                </a:solidFill>
                <a:latin typeface="Consolas" pitchFamily="34" charset="0"/>
                <a:ea typeface="Consolas" pitchFamily="34" charset="-122"/>
                <a:cs typeface="Consolas" pitchFamily="34" charset="-120"/>
              </a:rPr>
              <a:t>'Booked'</a:t>
            </a:r>
            <a:r>
              <a:rPr lang="en-US" sz="1200" dirty="0">
                <a:solidFill>
                  <a:schemeClr val="bg2"/>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CONSTRAINT</a:t>
            </a:r>
            <a:r>
              <a:rPr lang="en-US" sz="1200" dirty="0">
                <a:solidFill>
                  <a:schemeClr val="bg2"/>
                </a:solidFill>
                <a:latin typeface="Consolas" pitchFamily="34" charset="0"/>
                <a:ea typeface="Consolas" pitchFamily="34" charset="-122"/>
                <a:cs typeface="Consolas" pitchFamily="34" charset="-120"/>
              </a:rPr>
              <a:t> uq_parcels_tracking </a:t>
            </a:r>
            <a:r>
              <a:rPr lang="en-US" sz="1200" dirty="0">
                <a:solidFill>
                  <a:schemeClr val="accent1"/>
                </a:solidFill>
                <a:latin typeface="Consolas" pitchFamily="34" charset="0"/>
                <a:ea typeface="Consolas" pitchFamily="34" charset="-122"/>
                <a:cs typeface="Consolas" pitchFamily="34" charset="-120"/>
              </a:rPr>
              <a:t>UNIQUE</a:t>
            </a:r>
            <a:r>
              <a:rPr lang="en-US" sz="1200" dirty="0">
                <a:solidFill>
                  <a:schemeClr val="bg2"/>
                </a:solidFill>
                <a:latin typeface="Consolas" pitchFamily="34" charset="0"/>
                <a:ea typeface="Consolas" pitchFamily="34" charset="-122"/>
                <a:cs typeface="Consolas" pitchFamily="34" charset="-120"/>
              </a:rPr>
              <a:t> (tracking_id),</a:t>
            </a:r>
            <a:endParaRPr lang="en-US" sz="1200" dirty="0"/>
          </a:p>
          <a:p>
            <a:pPr marL="0" indent="0">
              <a:lnSpc>
                <a:spcPct val="105000"/>
              </a:lnSpc>
              <a:buNone/>
            </a:pP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CONSTRAINT</a:t>
            </a:r>
            <a:r>
              <a:rPr lang="en-US" sz="1200" dirty="0">
                <a:solidFill>
                  <a:schemeClr val="bg2"/>
                </a:solidFill>
                <a:latin typeface="Consolas" pitchFamily="34" charset="0"/>
                <a:ea typeface="Consolas" pitchFamily="34" charset="-122"/>
                <a:cs typeface="Consolas" pitchFamily="34" charset="-120"/>
              </a:rPr>
              <a:t> fk_parcels_customer </a:t>
            </a:r>
            <a:r>
              <a:rPr lang="en-US" sz="1200" dirty="0">
                <a:solidFill>
                  <a:schemeClr val="accent1"/>
                </a:solidFill>
                <a:latin typeface="Consolas" pitchFamily="34" charset="0"/>
                <a:ea typeface="Consolas" pitchFamily="34" charset="-122"/>
                <a:cs typeface="Consolas" pitchFamily="34" charset="-120"/>
              </a:rPr>
              <a:t>FOREIGN</a:t>
            </a: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KEY</a:t>
            </a:r>
            <a:r>
              <a:rPr lang="en-US" sz="1200" dirty="0">
                <a:solidFill>
                  <a:schemeClr val="bg2"/>
                </a:solidFill>
                <a:latin typeface="Consolas" pitchFamily="34" charset="0"/>
                <a:ea typeface="Consolas" pitchFamily="34" charset="-122"/>
                <a:cs typeface="Consolas" pitchFamily="34" charset="-120"/>
              </a:rPr>
              <a:t> (customer_id)</a:t>
            </a:r>
            <a:endParaRPr lang="en-US" sz="1200" dirty="0"/>
          </a:p>
          <a:p>
            <a:pPr marL="0" indent="0">
              <a:lnSpc>
                <a:spcPct val="105000"/>
              </a:lnSpc>
              <a:buNone/>
            </a:pP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REFERENCES</a:t>
            </a:r>
            <a:r>
              <a:rPr lang="en-US" sz="1200" dirty="0">
                <a:solidFill>
                  <a:schemeClr val="bg2"/>
                </a:solidFill>
                <a:latin typeface="Consolas" pitchFamily="34" charset="0"/>
                <a:ea typeface="Consolas" pitchFamily="34" charset="-122"/>
                <a:cs typeface="Consolas" pitchFamily="34" charset="-120"/>
              </a:rPr>
              <a:t> users (user_id) </a:t>
            </a:r>
            <a:r>
              <a:rPr lang="en-US" sz="1200" dirty="0">
                <a:solidFill>
                  <a:schemeClr val="accent1"/>
                </a:solidFill>
                <a:latin typeface="Consolas" pitchFamily="34" charset="0"/>
                <a:ea typeface="Consolas" pitchFamily="34" charset="-122"/>
                <a:cs typeface="Consolas" pitchFamily="34" charset="-120"/>
              </a:rPr>
              <a:t>ON</a:t>
            </a: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DELETE</a:t>
            </a: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RESTRICT</a:t>
            </a:r>
            <a:r>
              <a:rPr lang="en-US" sz="1200" dirty="0">
                <a:solidFill>
                  <a:schemeClr val="bg2"/>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CONSTRAINT</a:t>
            </a:r>
            <a:r>
              <a:rPr lang="en-US" sz="1200" dirty="0">
                <a:solidFill>
                  <a:schemeClr val="bg2"/>
                </a:solidFill>
                <a:latin typeface="Consolas" pitchFamily="34" charset="0"/>
                <a:ea typeface="Consolas" pitchFamily="34" charset="-122"/>
                <a:cs typeface="Consolas" pitchFamily="34" charset="-120"/>
              </a:rPr>
              <a:t> chk_parcels_weight</a:t>
            </a:r>
            <a:endParaRPr lang="en-US" sz="1200" dirty="0"/>
          </a:p>
          <a:p>
            <a:pPr marL="0" indent="0">
              <a:lnSpc>
                <a:spcPct val="105000"/>
              </a:lnSpc>
              <a:buNone/>
            </a:pP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CHECK</a:t>
            </a:r>
            <a:r>
              <a:rPr lang="en-US" sz="1200" dirty="0">
                <a:solidFill>
                  <a:schemeClr val="bg2"/>
                </a:solidFill>
                <a:latin typeface="Consolas" pitchFamily="34" charset="0"/>
                <a:ea typeface="Consolas" pitchFamily="34" charset="-122"/>
                <a:cs typeface="Consolas" pitchFamily="34" charset="-120"/>
              </a:rPr>
              <a:t> (weight_kg &gt; 0 </a:t>
            </a:r>
            <a:r>
              <a:rPr lang="en-US" sz="1200" dirty="0">
                <a:solidFill>
                  <a:schemeClr val="accent1"/>
                </a:solidFill>
                <a:latin typeface="Consolas" pitchFamily="34" charset="0"/>
                <a:ea typeface="Consolas" pitchFamily="34" charset="-122"/>
                <a:cs typeface="Consolas" pitchFamily="34" charset="-120"/>
              </a:rPr>
              <a:t>AND</a:t>
            </a:r>
            <a:r>
              <a:rPr lang="en-US" sz="1200" dirty="0">
                <a:solidFill>
                  <a:schemeClr val="bg2"/>
                </a:solidFill>
                <a:latin typeface="Consolas" pitchFamily="34" charset="0"/>
                <a:ea typeface="Consolas" pitchFamily="34" charset="-122"/>
                <a:cs typeface="Consolas" pitchFamily="34" charset="-120"/>
              </a:rPr>
              <a:t> weight_kg &lt;= 50)</a:t>
            </a:r>
            <a:endParaRPr lang="en-US" sz="1200" dirty="0"/>
          </a:p>
          <a:p>
            <a:pPr marL="0" indent="0">
              <a:lnSpc>
                <a:spcPct val="105000"/>
              </a:lnSpc>
              <a:buNone/>
            </a:pPr>
            <a:r>
              <a:rPr lang="en-US" sz="1200" dirty="0">
                <a:solidFill>
                  <a:schemeClr val="bg2"/>
                </a:solidFill>
                <a:latin typeface="Consolas" pitchFamily="34" charset="0"/>
                <a:ea typeface="Consolas" pitchFamily="34" charset="-122"/>
                <a:cs typeface="Consolas" pitchFamily="34" charset="-120"/>
              </a:rPr>
              <a:t>);</a:t>
            </a:r>
            <a:endParaRPr lang="en-US" sz="1200" dirty="0"/>
          </a:p>
        </p:txBody>
      </p:sp>
      <p:sp>
        <p:nvSpPr>
          <p:cNvPr id="18" name="stat-281"/>
          <p:cNvSpPr/>
          <p:nvPr/>
        </p:nvSpPr>
        <p:spPr>
          <a:xfrm>
            <a:off x="7406640" y="1417320"/>
            <a:ext cx="2003908" cy="886968"/>
          </a:xfrm>
          <a:prstGeom prst="roundRect">
            <a:avLst>
              <a:gd name="adj" fmla="val 12371"/>
            </a:avLst>
          </a:prstGeom>
          <a:solidFill>
            <a:schemeClr val="bg2"/>
          </a:solidFill>
          <a:ln/>
        </p:spPr>
      </p:sp>
      <p:sp>
        <p:nvSpPr>
          <p:cNvPr id="19" name="text-282"/>
          <p:cNvSpPr txBox="1"/>
          <p:nvPr/>
        </p:nvSpPr>
        <p:spPr>
          <a:xfrm>
            <a:off x="7589520" y="1490472"/>
            <a:ext cx="914400" cy="731520"/>
          </a:xfrm>
          <a:prstGeom prst="rect">
            <a:avLst/>
          </a:prstGeom>
          <a:noFill/>
          <a:ln/>
        </p:spPr>
        <p:txBody>
          <a:bodyPr wrap="square" lIns="0" tIns="0" rIns="0" bIns="0" rtlCol="0" anchor="ctr"/>
          <a:lstStyle/>
          <a:p>
            <a:pPr marL="0" indent="0">
              <a:buNone/>
            </a:pPr>
            <a:r>
              <a:rPr lang="en-US" sz="3400" b="1" dirty="0">
                <a:solidFill>
                  <a:schemeClr val="accent1"/>
                </a:solidFill>
              </a:rPr>
              <a:t>4</a:t>
            </a:r>
            <a:endParaRPr lang="en-US" sz="3400" dirty="0"/>
          </a:p>
        </p:txBody>
      </p:sp>
      <p:sp>
        <p:nvSpPr>
          <p:cNvPr id="20" name="text-283"/>
          <p:cNvSpPr txBox="1"/>
          <p:nvPr/>
        </p:nvSpPr>
        <p:spPr>
          <a:xfrm>
            <a:off x="8366760" y="1490472"/>
            <a:ext cx="998068" cy="731520"/>
          </a:xfrm>
          <a:prstGeom prst="rect">
            <a:avLst/>
          </a:prstGeom>
          <a:noFill/>
          <a:ln/>
        </p:spPr>
        <p:txBody>
          <a:bodyPr wrap="square" lIns="0" tIns="0" rIns="0" bIns="0" rtlCol="0" anchor="ctr"/>
          <a:lstStyle/>
          <a:p>
            <a:pPr marL="0" indent="0">
              <a:buNone/>
            </a:pPr>
            <a:r>
              <a:rPr lang="en-US" sz="1300" b="1" dirty="0">
                <a:solidFill>
                  <a:schemeClr val="tx1"/>
                </a:solidFill>
              </a:rPr>
              <a:t>PRIMARY KEY</a:t>
            </a:r>
            <a:endParaRPr lang="en-US" sz="1300" dirty="0"/>
          </a:p>
        </p:txBody>
      </p:sp>
      <p:sp>
        <p:nvSpPr>
          <p:cNvPr id="21" name="stat-284"/>
          <p:cNvSpPr/>
          <p:nvPr/>
        </p:nvSpPr>
        <p:spPr>
          <a:xfrm>
            <a:off x="9639148" y="1417320"/>
            <a:ext cx="2003908" cy="886968"/>
          </a:xfrm>
          <a:prstGeom prst="roundRect">
            <a:avLst>
              <a:gd name="adj" fmla="val 12371"/>
            </a:avLst>
          </a:prstGeom>
          <a:solidFill>
            <a:schemeClr val="bg2"/>
          </a:solidFill>
          <a:ln/>
        </p:spPr>
      </p:sp>
      <p:sp>
        <p:nvSpPr>
          <p:cNvPr id="22" name="text-285"/>
          <p:cNvSpPr txBox="1"/>
          <p:nvPr/>
        </p:nvSpPr>
        <p:spPr>
          <a:xfrm>
            <a:off x="9822028" y="1490472"/>
            <a:ext cx="914400" cy="731520"/>
          </a:xfrm>
          <a:prstGeom prst="rect">
            <a:avLst/>
          </a:prstGeom>
          <a:noFill/>
          <a:ln/>
        </p:spPr>
        <p:txBody>
          <a:bodyPr wrap="square" lIns="0" tIns="0" rIns="0" bIns="0" rtlCol="0" anchor="ctr"/>
          <a:lstStyle/>
          <a:p>
            <a:pPr marL="0" indent="0">
              <a:buNone/>
            </a:pPr>
            <a:r>
              <a:rPr lang="en-US" sz="3400" b="1" dirty="0">
                <a:solidFill>
                  <a:schemeClr val="accent1"/>
                </a:solidFill>
              </a:rPr>
              <a:t>4</a:t>
            </a:r>
            <a:endParaRPr lang="en-US" sz="3400" dirty="0"/>
          </a:p>
        </p:txBody>
      </p:sp>
      <p:sp>
        <p:nvSpPr>
          <p:cNvPr id="23" name="text-286"/>
          <p:cNvSpPr txBox="1"/>
          <p:nvPr/>
        </p:nvSpPr>
        <p:spPr>
          <a:xfrm>
            <a:off x="10599268" y="1490472"/>
            <a:ext cx="998068" cy="731520"/>
          </a:xfrm>
          <a:prstGeom prst="rect">
            <a:avLst/>
          </a:prstGeom>
          <a:noFill/>
          <a:ln/>
        </p:spPr>
        <p:txBody>
          <a:bodyPr wrap="square" lIns="0" tIns="0" rIns="0" bIns="0" rtlCol="0" anchor="ctr"/>
          <a:lstStyle/>
          <a:p>
            <a:pPr marL="0" indent="0">
              <a:buNone/>
            </a:pPr>
            <a:r>
              <a:rPr lang="en-US" sz="1300" b="1" dirty="0">
                <a:solidFill>
                  <a:schemeClr val="tx1"/>
                </a:solidFill>
              </a:rPr>
              <a:t>FOREIGN KEY</a:t>
            </a:r>
            <a:endParaRPr lang="en-US" sz="1300" dirty="0"/>
          </a:p>
        </p:txBody>
      </p:sp>
      <p:sp>
        <p:nvSpPr>
          <p:cNvPr id="24" name="stat-287"/>
          <p:cNvSpPr/>
          <p:nvPr/>
        </p:nvSpPr>
        <p:spPr>
          <a:xfrm>
            <a:off x="7406640" y="2441448"/>
            <a:ext cx="2003908" cy="886968"/>
          </a:xfrm>
          <a:prstGeom prst="roundRect">
            <a:avLst>
              <a:gd name="adj" fmla="val 12371"/>
            </a:avLst>
          </a:prstGeom>
          <a:solidFill>
            <a:schemeClr val="bg2"/>
          </a:solidFill>
          <a:ln/>
        </p:spPr>
      </p:sp>
      <p:sp>
        <p:nvSpPr>
          <p:cNvPr id="25" name="text-288"/>
          <p:cNvSpPr txBox="1"/>
          <p:nvPr/>
        </p:nvSpPr>
        <p:spPr>
          <a:xfrm>
            <a:off x="7589520" y="2514600"/>
            <a:ext cx="914400" cy="731520"/>
          </a:xfrm>
          <a:prstGeom prst="rect">
            <a:avLst/>
          </a:prstGeom>
          <a:noFill/>
          <a:ln/>
        </p:spPr>
        <p:txBody>
          <a:bodyPr wrap="square" lIns="0" tIns="0" rIns="0" bIns="0" rtlCol="0" anchor="ctr"/>
          <a:lstStyle/>
          <a:p>
            <a:pPr marL="0" indent="0">
              <a:buNone/>
            </a:pPr>
            <a:r>
              <a:rPr lang="en-US" sz="3400" b="1" dirty="0">
                <a:solidFill>
                  <a:schemeClr val="accent1"/>
                </a:solidFill>
              </a:rPr>
              <a:t>3</a:t>
            </a:r>
            <a:endParaRPr lang="en-US" sz="3400" dirty="0"/>
          </a:p>
        </p:txBody>
      </p:sp>
      <p:sp>
        <p:nvSpPr>
          <p:cNvPr id="26" name="text-289"/>
          <p:cNvSpPr txBox="1"/>
          <p:nvPr/>
        </p:nvSpPr>
        <p:spPr>
          <a:xfrm>
            <a:off x="8366760" y="2514600"/>
            <a:ext cx="998068" cy="731520"/>
          </a:xfrm>
          <a:prstGeom prst="rect">
            <a:avLst/>
          </a:prstGeom>
          <a:noFill/>
          <a:ln/>
        </p:spPr>
        <p:txBody>
          <a:bodyPr wrap="square" lIns="0" tIns="0" rIns="0" bIns="0" rtlCol="0" anchor="ctr"/>
          <a:lstStyle/>
          <a:p>
            <a:pPr marL="0" indent="0">
              <a:buNone/>
            </a:pPr>
            <a:r>
              <a:rPr lang="en-US" sz="1300" b="1" dirty="0">
                <a:solidFill>
                  <a:schemeClr val="tx1"/>
                </a:solidFill>
              </a:rPr>
              <a:t>CHECK</a:t>
            </a:r>
            <a:endParaRPr lang="en-US" sz="1300" dirty="0"/>
          </a:p>
        </p:txBody>
      </p:sp>
      <p:sp>
        <p:nvSpPr>
          <p:cNvPr id="27" name="stat-290"/>
          <p:cNvSpPr/>
          <p:nvPr/>
        </p:nvSpPr>
        <p:spPr>
          <a:xfrm>
            <a:off x="9639148" y="2441448"/>
            <a:ext cx="2003908" cy="886968"/>
          </a:xfrm>
          <a:prstGeom prst="roundRect">
            <a:avLst>
              <a:gd name="adj" fmla="val 12371"/>
            </a:avLst>
          </a:prstGeom>
          <a:solidFill>
            <a:schemeClr val="bg2"/>
          </a:solidFill>
          <a:ln/>
        </p:spPr>
      </p:sp>
      <p:sp>
        <p:nvSpPr>
          <p:cNvPr id="28" name="text-291"/>
          <p:cNvSpPr txBox="1"/>
          <p:nvPr/>
        </p:nvSpPr>
        <p:spPr>
          <a:xfrm>
            <a:off x="9822028" y="2514600"/>
            <a:ext cx="914400" cy="731520"/>
          </a:xfrm>
          <a:prstGeom prst="rect">
            <a:avLst/>
          </a:prstGeom>
          <a:noFill/>
          <a:ln/>
        </p:spPr>
        <p:txBody>
          <a:bodyPr wrap="square" lIns="0" tIns="0" rIns="0" bIns="0" rtlCol="0" anchor="ctr"/>
          <a:lstStyle/>
          <a:p>
            <a:pPr marL="0" indent="0">
              <a:buNone/>
            </a:pPr>
            <a:r>
              <a:rPr lang="en-US" sz="3400" b="1" dirty="0">
                <a:solidFill>
                  <a:schemeClr val="accent1"/>
                </a:solidFill>
              </a:rPr>
              <a:t>3</a:t>
            </a:r>
            <a:endParaRPr lang="en-US" sz="3400" dirty="0"/>
          </a:p>
        </p:txBody>
      </p:sp>
      <p:sp>
        <p:nvSpPr>
          <p:cNvPr id="29" name="text-292"/>
          <p:cNvSpPr txBox="1"/>
          <p:nvPr/>
        </p:nvSpPr>
        <p:spPr>
          <a:xfrm>
            <a:off x="10599268" y="2514600"/>
            <a:ext cx="998068" cy="731520"/>
          </a:xfrm>
          <a:prstGeom prst="rect">
            <a:avLst/>
          </a:prstGeom>
          <a:noFill/>
          <a:ln/>
        </p:spPr>
        <p:txBody>
          <a:bodyPr wrap="square" lIns="0" tIns="0" rIns="0" bIns="0" rtlCol="0" anchor="ctr"/>
          <a:lstStyle/>
          <a:p>
            <a:pPr marL="0" indent="0">
              <a:buNone/>
            </a:pPr>
            <a:r>
              <a:rPr lang="en-US" sz="1300" b="1" dirty="0">
                <a:solidFill>
                  <a:schemeClr val="tx1"/>
                </a:solidFill>
              </a:rPr>
              <a:t>UNIQUE</a:t>
            </a:r>
            <a:endParaRPr lang="en-US" sz="1300" dirty="0"/>
          </a:p>
        </p:txBody>
      </p:sp>
      <p:sp>
        <p:nvSpPr>
          <p:cNvPr id="30" name="stat-293"/>
          <p:cNvSpPr/>
          <p:nvPr/>
        </p:nvSpPr>
        <p:spPr>
          <a:xfrm>
            <a:off x="7406640" y="3465576"/>
            <a:ext cx="2003908" cy="886968"/>
          </a:xfrm>
          <a:prstGeom prst="roundRect">
            <a:avLst>
              <a:gd name="adj" fmla="val 12371"/>
            </a:avLst>
          </a:prstGeom>
          <a:solidFill>
            <a:schemeClr val="bg2"/>
          </a:solidFill>
          <a:ln/>
        </p:spPr>
      </p:sp>
      <p:sp>
        <p:nvSpPr>
          <p:cNvPr id="31" name="text-294"/>
          <p:cNvSpPr txBox="1"/>
          <p:nvPr/>
        </p:nvSpPr>
        <p:spPr>
          <a:xfrm>
            <a:off x="7589520" y="3538728"/>
            <a:ext cx="914400" cy="731520"/>
          </a:xfrm>
          <a:prstGeom prst="rect">
            <a:avLst/>
          </a:prstGeom>
          <a:noFill/>
          <a:ln/>
        </p:spPr>
        <p:txBody>
          <a:bodyPr wrap="square" lIns="0" tIns="0" rIns="0" bIns="0" rtlCol="0" anchor="ctr"/>
          <a:lstStyle/>
          <a:p>
            <a:pPr marL="0" indent="0">
              <a:buNone/>
            </a:pPr>
            <a:r>
              <a:rPr lang="en-US" sz="3400" b="1" dirty="0">
                <a:solidFill>
                  <a:schemeClr val="accent1"/>
                </a:solidFill>
              </a:rPr>
              <a:t>7</a:t>
            </a:r>
            <a:endParaRPr lang="en-US" sz="3400" dirty="0"/>
          </a:p>
        </p:txBody>
      </p:sp>
      <p:sp>
        <p:nvSpPr>
          <p:cNvPr id="32" name="text-295"/>
          <p:cNvSpPr txBox="1"/>
          <p:nvPr/>
        </p:nvSpPr>
        <p:spPr>
          <a:xfrm>
            <a:off x="8366760" y="3538728"/>
            <a:ext cx="998068" cy="731520"/>
          </a:xfrm>
          <a:prstGeom prst="rect">
            <a:avLst/>
          </a:prstGeom>
          <a:noFill/>
          <a:ln/>
        </p:spPr>
        <p:txBody>
          <a:bodyPr wrap="square" lIns="0" tIns="0" rIns="0" bIns="0" rtlCol="0" anchor="ctr"/>
          <a:lstStyle/>
          <a:p>
            <a:pPr marL="0" indent="0">
              <a:buNone/>
            </a:pPr>
            <a:r>
              <a:rPr lang="en-US" sz="1300" b="1" dirty="0">
                <a:solidFill>
                  <a:schemeClr val="tx1"/>
                </a:solidFill>
              </a:rPr>
              <a:t>ENUM DOMAINS</a:t>
            </a:r>
            <a:endParaRPr lang="en-US" sz="1300" dirty="0"/>
          </a:p>
        </p:txBody>
      </p:sp>
      <p:sp>
        <p:nvSpPr>
          <p:cNvPr id="33" name="stat-296"/>
          <p:cNvSpPr/>
          <p:nvPr/>
        </p:nvSpPr>
        <p:spPr>
          <a:xfrm>
            <a:off x="9639148" y="3465576"/>
            <a:ext cx="2003908" cy="886968"/>
          </a:xfrm>
          <a:prstGeom prst="roundRect">
            <a:avLst>
              <a:gd name="adj" fmla="val 12371"/>
            </a:avLst>
          </a:prstGeom>
          <a:solidFill>
            <a:schemeClr val="bg2"/>
          </a:solidFill>
          <a:ln/>
        </p:spPr>
      </p:sp>
      <p:sp>
        <p:nvSpPr>
          <p:cNvPr id="34" name="text-297"/>
          <p:cNvSpPr txBox="1"/>
          <p:nvPr/>
        </p:nvSpPr>
        <p:spPr>
          <a:xfrm>
            <a:off x="9822028" y="3538728"/>
            <a:ext cx="914400" cy="731520"/>
          </a:xfrm>
          <a:prstGeom prst="rect">
            <a:avLst/>
          </a:prstGeom>
          <a:noFill/>
          <a:ln/>
        </p:spPr>
        <p:txBody>
          <a:bodyPr wrap="square" lIns="0" tIns="0" rIns="0" bIns="0" rtlCol="0" anchor="ctr"/>
          <a:lstStyle/>
          <a:p>
            <a:pPr marL="0" indent="0">
              <a:buNone/>
            </a:pPr>
            <a:r>
              <a:rPr lang="en-US" sz="3400" b="1" dirty="0">
                <a:solidFill>
                  <a:schemeClr val="accent1"/>
                </a:solidFill>
              </a:rPr>
              <a:t>1</a:t>
            </a:r>
            <a:endParaRPr lang="en-US" sz="3400" dirty="0"/>
          </a:p>
        </p:txBody>
      </p:sp>
      <p:sp>
        <p:nvSpPr>
          <p:cNvPr id="35" name="text-298"/>
          <p:cNvSpPr txBox="1"/>
          <p:nvPr/>
        </p:nvSpPr>
        <p:spPr>
          <a:xfrm>
            <a:off x="10599268" y="3538728"/>
            <a:ext cx="998068" cy="731520"/>
          </a:xfrm>
          <a:prstGeom prst="rect">
            <a:avLst/>
          </a:prstGeom>
          <a:noFill/>
          <a:ln/>
        </p:spPr>
        <p:txBody>
          <a:bodyPr wrap="square" lIns="0" tIns="0" rIns="0" bIns="0" rtlCol="0" anchor="ctr"/>
          <a:lstStyle/>
          <a:p>
            <a:pPr marL="0" indent="0">
              <a:buNone/>
            </a:pPr>
            <a:r>
              <a:rPr lang="en-US" sz="1300" b="1" dirty="0">
                <a:solidFill>
                  <a:schemeClr val="tx1"/>
                </a:solidFill>
              </a:rPr>
              <a:t>VIEW</a:t>
            </a:r>
            <a:endParaRPr lang="en-US" sz="1300" dirty="0"/>
          </a:p>
        </p:txBody>
      </p:sp>
      <p:sp>
        <p:nvSpPr>
          <p:cNvPr id="36" name="cascade-card-299"/>
          <p:cNvSpPr/>
          <p:nvPr/>
        </p:nvSpPr>
        <p:spPr>
          <a:xfrm>
            <a:off x="7406640" y="4553712"/>
            <a:ext cx="4236415" cy="1664208"/>
          </a:xfrm>
          <a:prstGeom prst="roundRect">
            <a:avLst>
              <a:gd name="adj" fmla="val 6593"/>
            </a:avLst>
          </a:prstGeom>
          <a:solidFill>
            <a:schemeClr val="bg1"/>
          </a:solidFill>
          <a:ln/>
          <a:effectLst>
            <a:outerShdw blurRad="101600" dist="25400" dir="5400000" algn="bl" rotWithShape="0">
              <a:srgbClr val="000000">
                <a:alpha val="10000"/>
              </a:srgbClr>
            </a:outerShdw>
          </a:effectLst>
        </p:spPr>
      </p:sp>
      <p:sp>
        <p:nvSpPr>
          <p:cNvPr id="37" name="text-300"/>
          <p:cNvSpPr txBox="1"/>
          <p:nvPr/>
        </p:nvSpPr>
        <p:spPr>
          <a:xfrm>
            <a:off x="7635240" y="4663440"/>
            <a:ext cx="3779215" cy="1508760"/>
          </a:xfrm>
          <a:prstGeom prst="rect">
            <a:avLst/>
          </a:prstGeom>
          <a:noFill/>
          <a:ln/>
        </p:spPr>
        <p:txBody>
          <a:bodyPr wrap="square" lIns="0" tIns="0" rIns="0" bIns="0" rtlCol="0" anchor="t"/>
          <a:lstStyle/>
          <a:p>
            <a:pPr marL="0" indent="0">
              <a:spcAft>
                <a:spcPts val="300"/>
              </a:spcAft>
              <a:buNone/>
            </a:pPr>
            <a:r>
              <a:rPr lang="en-US" sz="1400" b="1" dirty="0">
                <a:solidFill>
                  <a:schemeClr val="tx1"/>
                </a:solidFill>
              </a:rPr>
              <a:t>Referential actions</a:t>
            </a:r>
            <a:endParaRPr lang="en-US" sz="1200" dirty="0"/>
          </a:p>
          <a:p>
            <a:pPr marL="0" indent="0">
              <a:spcAft>
                <a:spcPts val="300"/>
              </a:spcAft>
              <a:buNone/>
            </a:pPr>
            <a:r>
              <a:rPr lang="en-US" sz="1200" b="1" dirty="0">
                <a:solidFill>
                  <a:schemeClr val="accent1"/>
                </a:solidFill>
              </a:rPr>
              <a:t>CASCADE: </a:t>
            </a:r>
            <a:r>
              <a:rPr lang="en-US" sz="1200" dirty="0">
                <a:solidFill>
                  <a:schemeClr val="tx1"/>
                </a:solidFill>
              </a:rPr>
              <a:t>deleting a parcel removes its history and payments.</a:t>
            </a:r>
            <a:endParaRPr lang="en-US" sz="1200" dirty="0"/>
          </a:p>
          <a:p>
            <a:pPr marL="0" indent="0">
              <a:spcAft>
                <a:spcPts val="300"/>
              </a:spcAft>
              <a:buNone/>
            </a:pPr>
            <a:r>
              <a:rPr lang="en-US" sz="1200" b="1" dirty="0">
                <a:solidFill>
                  <a:schemeClr val="accent1"/>
                </a:solidFill>
              </a:rPr>
              <a:t>RESTRICT: </a:t>
            </a:r>
            <a:r>
              <a:rPr lang="en-US" sz="1200" dirty="0">
                <a:solidFill>
                  <a:schemeClr val="tx1"/>
                </a:solidFill>
              </a:rPr>
              <a:t>a customer who still has parcels cannot be deleted.</a:t>
            </a:r>
            <a:endParaRPr lang="en-US" sz="1200" dirty="0"/>
          </a:p>
          <a:p>
            <a:pPr marL="0" indent="0">
              <a:spcAft>
                <a:spcPts val="300"/>
              </a:spcAft>
              <a:buNone/>
            </a:pPr>
            <a:r>
              <a:rPr lang="en-US" sz="1200" b="1" dirty="0">
                <a:solidFill>
                  <a:schemeClr val="accent1"/>
                </a:solidFill>
              </a:rPr>
              <a:t>SET NULL: </a:t>
            </a:r>
            <a:r>
              <a:rPr lang="en-US" sz="1200" dirty="0">
                <a:solidFill>
                  <a:schemeClr val="tx1"/>
                </a:solidFill>
              </a:rPr>
              <a:t>removing an admin keeps the history rows.</a:t>
            </a:r>
            <a:endParaRPr lang="en-US" sz="1200" dirty="0"/>
          </a:p>
        </p:txBody>
      </p:sp>
      <p:sp>
        <p:nvSpPr>
          <p:cNvPr id="38"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7498080" cy="868680"/>
          </a:xfrm>
          <a:prstGeom prst="rect">
            <a:avLst/>
          </a:prstGeom>
          <a:noFill/>
          <a:ln/>
        </p:spPr>
        <p:txBody>
          <a:bodyPr wrap="square" lIns="0" tIns="0" rIns="0" bIns="0" rtlCol="0" anchor="ctr"/>
          <a:lstStyle/>
          <a:p>
            <a:pPr marL="0" indent="0" algn="l">
              <a:buNone/>
            </a:pPr>
            <a:r>
              <a:rPr lang="en-US" sz="2800" dirty="0">
                <a:solidFill>
                  <a:schemeClr val="tx1"/>
                </a:solidFill>
                <a:latin typeface="Segoe UI Semibold" pitchFamily="34" charset="0"/>
                <a:ea typeface="Segoe UI Semibold" pitchFamily="34" charset="-122"/>
                <a:cs typeface="Segoe UI Semibold" pitchFamily="34" charset="-120"/>
              </a:rPr>
              <a:t>Sample data and integrity checks</a:t>
            </a:r>
            <a:endParaRPr lang="en-US" sz="2800" dirty="0"/>
          </a:p>
        </p:txBody>
      </p:sp>
      <p:sp>
        <p:nvSpPr>
          <p:cNvPr id="3" name="tracker-rail-301"/>
          <p:cNvSpPr/>
          <p:nvPr/>
        </p:nvSpPr>
        <p:spPr>
          <a:xfrm>
            <a:off x="8458200" y="566928"/>
            <a:ext cx="2926080" cy="0"/>
          </a:xfrm>
          <a:prstGeom prst="line">
            <a:avLst/>
          </a:prstGeom>
          <a:noFill/>
          <a:ln w="31750">
            <a:solidFill>
              <a:srgbClr val="D1D5DB"/>
            </a:solidFill>
            <a:prstDash val="solid"/>
          </a:ln>
        </p:spPr>
      </p:sp>
      <p:sp>
        <p:nvSpPr>
          <p:cNvPr id="4" name="tracker-done-302"/>
          <p:cNvSpPr/>
          <p:nvPr/>
        </p:nvSpPr>
        <p:spPr>
          <a:xfrm>
            <a:off x="8458200" y="566928"/>
            <a:ext cx="1463040" cy="0"/>
          </a:xfrm>
          <a:prstGeom prst="line">
            <a:avLst/>
          </a:prstGeom>
          <a:noFill/>
          <a:ln w="31750">
            <a:solidFill>
              <a:schemeClr val="accent1"/>
            </a:solidFill>
            <a:prstDash val="solid"/>
          </a:ln>
        </p:spPr>
      </p:sp>
      <p:sp>
        <p:nvSpPr>
          <p:cNvPr id="5" name="tracker-dot-303"/>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304"/>
          <p:cNvSpPr txBox="1"/>
          <p:nvPr/>
        </p:nvSpPr>
        <p:spPr>
          <a:xfrm>
            <a:off x="800100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Problem</a:t>
            </a:r>
            <a:endParaRPr lang="en-US" sz="1000" dirty="0"/>
          </a:p>
        </p:txBody>
      </p:sp>
      <p:sp>
        <p:nvSpPr>
          <p:cNvPr id="7" name="tracker-dot-305"/>
          <p:cNvSpPr/>
          <p:nvPr/>
        </p:nvSpPr>
        <p:spPr>
          <a:xfrm>
            <a:off x="9116568" y="493776"/>
            <a:ext cx="146304" cy="146304"/>
          </a:xfrm>
          <a:prstGeom prst="ellipse">
            <a:avLst/>
          </a:prstGeom>
          <a:solidFill>
            <a:schemeClr val="accent1"/>
          </a:solidFill>
          <a:ln w="19050">
            <a:solidFill>
              <a:schemeClr val="accent1"/>
            </a:solidFill>
            <a:prstDash val="solid"/>
          </a:ln>
        </p:spPr>
      </p:sp>
      <p:sp>
        <p:nvSpPr>
          <p:cNvPr id="8" name="text-306"/>
          <p:cNvSpPr txBox="1"/>
          <p:nvPr/>
        </p:nvSpPr>
        <p:spPr>
          <a:xfrm>
            <a:off x="873252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ER &amp; Schema</a:t>
            </a:r>
            <a:endParaRPr lang="en-US" sz="1000" dirty="0"/>
          </a:p>
        </p:txBody>
      </p:sp>
      <p:sp>
        <p:nvSpPr>
          <p:cNvPr id="9" name="tracker-dot-307"/>
          <p:cNvSpPr/>
          <p:nvPr/>
        </p:nvSpPr>
        <p:spPr>
          <a:xfrm>
            <a:off x="9802368" y="448056"/>
            <a:ext cx="237744" cy="237744"/>
          </a:xfrm>
          <a:prstGeom prst="ellipse">
            <a:avLst/>
          </a:prstGeom>
          <a:solidFill>
            <a:schemeClr val="accent1"/>
          </a:solidFill>
          <a:ln w="19050">
            <a:solidFill>
              <a:schemeClr val="accent1"/>
            </a:solidFill>
            <a:prstDash val="solid"/>
          </a:ln>
        </p:spPr>
      </p:sp>
      <p:sp>
        <p:nvSpPr>
          <p:cNvPr id="10" name="text-308"/>
          <p:cNvSpPr txBox="1"/>
          <p:nvPr/>
        </p:nvSpPr>
        <p:spPr>
          <a:xfrm>
            <a:off x="9464040" y="749808"/>
            <a:ext cx="914400" cy="228600"/>
          </a:xfrm>
          <a:prstGeom prst="rect">
            <a:avLst/>
          </a:prstGeom>
          <a:noFill/>
          <a:ln/>
        </p:spPr>
        <p:txBody>
          <a:bodyPr wrap="square" lIns="0" tIns="0" rIns="0" bIns="0" rtlCol="0" anchor="t"/>
          <a:lstStyle/>
          <a:p>
            <a:pPr marL="0" indent="0" algn="ctr">
              <a:buNone/>
            </a:pPr>
            <a:r>
              <a:rPr lang="en-US" sz="1000" b="1" dirty="0">
                <a:solidFill>
                  <a:schemeClr val="accent1"/>
                </a:solidFill>
              </a:rPr>
              <a:t>Database</a:t>
            </a:r>
            <a:endParaRPr lang="en-US" sz="1000" dirty="0"/>
          </a:p>
        </p:txBody>
      </p:sp>
      <p:sp>
        <p:nvSpPr>
          <p:cNvPr id="11" name="tracker-dot-309"/>
          <p:cNvSpPr/>
          <p:nvPr/>
        </p:nvSpPr>
        <p:spPr>
          <a:xfrm>
            <a:off x="10579608" y="493776"/>
            <a:ext cx="146304" cy="146304"/>
          </a:xfrm>
          <a:prstGeom prst="ellipse">
            <a:avLst/>
          </a:prstGeom>
          <a:solidFill>
            <a:schemeClr val="bg1"/>
          </a:solidFill>
          <a:ln w="19050">
            <a:solidFill>
              <a:schemeClr val="accent6"/>
            </a:solidFill>
            <a:prstDash val="solid"/>
          </a:ln>
        </p:spPr>
      </p:sp>
      <p:sp>
        <p:nvSpPr>
          <p:cNvPr id="12" name="text-310"/>
          <p:cNvSpPr txBox="1"/>
          <p:nvPr/>
        </p:nvSpPr>
        <p:spPr>
          <a:xfrm>
            <a:off x="1019556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UI Demo</a:t>
            </a:r>
            <a:endParaRPr lang="en-US" sz="1000" dirty="0"/>
          </a:p>
        </p:txBody>
      </p:sp>
      <p:sp>
        <p:nvSpPr>
          <p:cNvPr id="13" name="tracker-dot-311"/>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312"/>
          <p:cNvSpPr txBox="1"/>
          <p:nvPr/>
        </p:nvSpPr>
        <p:spPr>
          <a:xfrm>
            <a:off x="1092708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Q&amp;A</a:t>
            </a:r>
            <a:endParaRPr lang="en-US" sz="1000" dirty="0"/>
          </a:p>
        </p:txBody>
      </p:sp>
      <p:sp>
        <p:nvSpPr>
          <p:cNvPr id="15" name="rows-card-313"/>
          <p:cNvSpPr/>
          <p:nvPr/>
        </p:nvSpPr>
        <p:spPr>
          <a:xfrm>
            <a:off x="548640" y="1417320"/>
            <a:ext cx="5394960" cy="4800600"/>
          </a:xfrm>
          <a:prstGeom prst="roundRect">
            <a:avLst>
              <a:gd name="adj" fmla="val 2286"/>
            </a:avLst>
          </a:prstGeom>
          <a:solidFill>
            <a:schemeClr val="bg1"/>
          </a:solidFill>
          <a:ln/>
          <a:effectLst>
            <a:outerShdw blurRad="101600" dist="25400" dir="5400000" algn="bl" rotWithShape="0">
              <a:srgbClr val="000000">
                <a:alpha val="10000"/>
              </a:srgbClr>
            </a:outerShdw>
          </a:effectLst>
        </p:spPr>
      </p:sp>
      <p:sp>
        <p:nvSpPr>
          <p:cNvPr id="16" name="text-314"/>
          <p:cNvSpPr txBox="1"/>
          <p:nvPr/>
        </p:nvSpPr>
        <p:spPr>
          <a:xfrm>
            <a:off x="822960" y="1572768"/>
            <a:ext cx="4572000" cy="320040"/>
          </a:xfrm>
          <a:prstGeom prst="rect">
            <a:avLst/>
          </a:prstGeom>
          <a:noFill/>
          <a:ln/>
        </p:spPr>
        <p:txBody>
          <a:bodyPr wrap="square" lIns="0" tIns="0" rIns="0" bIns="0" rtlCol="0" anchor="t"/>
          <a:lstStyle/>
          <a:p>
            <a:pPr marL="0" indent="0">
              <a:buNone/>
            </a:pPr>
            <a:r>
              <a:rPr lang="en-US" sz="1500" b="1" dirty="0">
                <a:solidFill>
                  <a:schemeClr val="tx1"/>
                </a:solidFill>
              </a:rPr>
              <a:t>Rows inserted per table</a:t>
            </a:r>
            <a:endParaRPr lang="en-US" sz="1500" dirty="0"/>
          </a:p>
        </p:txBody>
      </p:sp>
      <p:sp>
        <p:nvSpPr>
          <p:cNvPr id="17" name="text-315"/>
          <p:cNvSpPr txBox="1"/>
          <p:nvPr/>
        </p:nvSpPr>
        <p:spPr>
          <a:xfrm>
            <a:off x="822960" y="1874520"/>
            <a:ext cx="4572000" cy="274320"/>
          </a:xfrm>
          <a:prstGeom prst="rect">
            <a:avLst/>
          </a:prstGeom>
          <a:noFill/>
          <a:ln/>
        </p:spPr>
        <p:txBody>
          <a:bodyPr wrap="square" lIns="0" tIns="0" rIns="0" bIns="0" rtlCol="0" anchor="t"/>
          <a:lstStyle/>
          <a:p>
            <a:pPr marL="0" indent="0">
              <a:buNone/>
            </a:pPr>
            <a:r>
              <a:rPr lang="en-US" sz="1100" dirty="0">
                <a:solidFill>
                  <a:schemeClr val="accent6"/>
                </a:solidFill>
              </a:rPr>
              <a:t>Minimum required: 5 per table</a:t>
            </a:r>
            <a:endParaRPr lang="en-US" sz="1100" dirty="0"/>
          </a:p>
        </p:txBody>
      </p:sp>
      <p:graphicFrame>
        <p:nvGraphicFramePr>
          <p:cNvPr id="18" name="rows-chart"/>
          <p:cNvGraphicFramePr/>
          <p:nvPr/>
        </p:nvGraphicFramePr>
        <p:xfrm>
          <a:off x="685800" y="2194560"/>
          <a:ext cx="51206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316"/>
          <p:cNvSpPr txBox="1"/>
          <p:nvPr/>
        </p:nvSpPr>
        <p:spPr>
          <a:xfrm>
            <a:off x="6263640" y="1417320"/>
            <a:ext cx="5379415" cy="274320"/>
          </a:xfrm>
          <a:prstGeom prst="rect">
            <a:avLst/>
          </a:prstGeom>
          <a:noFill/>
          <a:ln/>
        </p:spPr>
        <p:txBody>
          <a:bodyPr wrap="square" lIns="0" tIns="0" rIns="0" bIns="0" rtlCol="0" anchor="t"/>
          <a:lstStyle/>
          <a:p>
            <a:pPr marL="0" indent="0">
              <a:buNone/>
            </a:pPr>
            <a:r>
              <a:rPr lang="en-US" sz="1100" b="1" kern="0" spc="150" dirty="0">
                <a:solidFill>
                  <a:schemeClr val="accent1"/>
                </a:solidFill>
              </a:rPr>
              <a:t>RUN LIVE: EACH OF THESE MUST FAIL</a:t>
            </a:r>
            <a:endParaRPr lang="en-US" sz="1100" dirty="0"/>
          </a:p>
        </p:txBody>
      </p:sp>
      <p:sp>
        <p:nvSpPr>
          <p:cNvPr id="20" name="test-row-317"/>
          <p:cNvSpPr/>
          <p:nvPr/>
        </p:nvSpPr>
        <p:spPr>
          <a:xfrm>
            <a:off x="6263640" y="1783080"/>
            <a:ext cx="5379415" cy="603504"/>
          </a:xfrm>
          <a:prstGeom prst="roundRect">
            <a:avLst>
              <a:gd name="adj" fmla="val 18182"/>
            </a:avLst>
          </a:prstGeom>
          <a:solidFill>
            <a:schemeClr val="bg2"/>
          </a:solidFill>
          <a:ln/>
        </p:spPr>
      </p:sp>
      <p:sp>
        <p:nvSpPr>
          <p:cNvPr id="21" name="text-318"/>
          <p:cNvSpPr txBox="1"/>
          <p:nvPr/>
        </p:nvSpPr>
        <p:spPr>
          <a:xfrm>
            <a:off x="6446520" y="1783080"/>
            <a:ext cx="1234440" cy="603504"/>
          </a:xfrm>
          <a:prstGeom prst="rect">
            <a:avLst/>
          </a:prstGeom>
          <a:noFill/>
          <a:ln/>
        </p:spPr>
        <p:txBody>
          <a:bodyPr wrap="square" lIns="0" tIns="0" rIns="0" bIns="0" rtlCol="0" anchor="ctr"/>
          <a:lstStyle/>
          <a:p>
            <a:pPr marL="0" indent="0">
              <a:buNone/>
            </a:pPr>
            <a:r>
              <a:rPr lang="en-US" sz="1200" b="1" dirty="0">
                <a:solidFill>
                  <a:schemeClr val="accent1"/>
                </a:solidFill>
                <a:latin typeface="Consolas" pitchFamily="34" charset="0"/>
                <a:ea typeface="Consolas" pitchFamily="34" charset="-122"/>
                <a:cs typeface="Consolas" pitchFamily="34" charset="-120"/>
              </a:rPr>
              <a:t>ERROR 4025</a:t>
            </a:r>
            <a:endParaRPr lang="en-US" sz="1200" dirty="0"/>
          </a:p>
        </p:txBody>
      </p:sp>
      <p:sp>
        <p:nvSpPr>
          <p:cNvPr id="22" name="text-319"/>
          <p:cNvSpPr txBox="1"/>
          <p:nvPr/>
        </p:nvSpPr>
        <p:spPr>
          <a:xfrm>
            <a:off x="7726680" y="1828800"/>
            <a:ext cx="3779215" cy="530352"/>
          </a:xfrm>
          <a:prstGeom prst="rect">
            <a:avLst/>
          </a:prstGeom>
          <a:noFill/>
          <a:ln/>
        </p:spPr>
        <p:txBody>
          <a:bodyPr wrap="square" lIns="0" tIns="0" rIns="0" bIns="0" rtlCol="0" anchor="ctr"/>
          <a:lstStyle/>
          <a:p>
            <a:pPr marL="0" indent="0">
              <a:buNone/>
            </a:pPr>
            <a:r>
              <a:rPr lang="en-US" sz="1100" b="1" dirty="0">
                <a:solidFill>
                  <a:schemeClr val="tx2"/>
                </a:solidFill>
              </a:rPr>
              <a:t>CHECK</a:t>
            </a:r>
            <a:endParaRPr lang="en-US" sz="1200" dirty="0"/>
          </a:p>
          <a:p>
            <a:pPr marL="0" indent="0">
              <a:buNone/>
            </a:pPr>
            <a:r>
              <a:rPr lang="en-US" sz="1200" dirty="0">
                <a:solidFill>
                  <a:schemeClr val="tx1"/>
                </a:solidFill>
              </a:rPr>
              <a:t>Book a 75 kg parcel (limit is 50 kg)</a:t>
            </a:r>
            <a:endParaRPr lang="en-US" sz="1200" dirty="0"/>
          </a:p>
        </p:txBody>
      </p:sp>
      <p:sp>
        <p:nvSpPr>
          <p:cNvPr id="23" name="test-row-320"/>
          <p:cNvSpPr/>
          <p:nvPr/>
        </p:nvSpPr>
        <p:spPr>
          <a:xfrm>
            <a:off x="6263640" y="2496312"/>
            <a:ext cx="5379415" cy="603504"/>
          </a:xfrm>
          <a:prstGeom prst="roundRect">
            <a:avLst>
              <a:gd name="adj" fmla="val 18182"/>
            </a:avLst>
          </a:prstGeom>
          <a:solidFill>
            <a:schemeClr val="bg2"/>
          </a:solidFill>
          <a:ln/>
        </p:spPr>
      </p:sp>
      <p:sp>
        <p:nvSpPr>
          <p:cNvPr id="24" name="text-321"/>
          <p:cNvSpPr txBox="1"/>
          <p:nvPr/>
        </p:nvSpPr>
        <p:spPr>
          <a:xfrm>
            <a:off x="6446520" y="2496312"/>
            <a:ext cx="1234440" cy="603504"/>
          </a:xfrm>
          <a:prstGeom prst="rect">
            <a:avLst/>
          </a:prstGeom>
          <a:noFill/>
          <a:ln/>
        </p:spPr>
        <p:txBody>
          <a:bodyPr wrap="square" lIns="0" tIns="0" rIns="0" bIns="0" rtlCol="0" anchor="ctr"/>
          <a:lstStyle/>
          <a:p>
            <a:pPr marL="0" indent="0">
              <a:buNone/>
            </a:pPr>
            <a:r>
              <a:rPr lang="en-US" sz="1200" b="1" dirty="0">
                <a:solidFill>
                  <a:schemeClr val="accent1"/>
                </a:solidFill>
                <a:latin typeface="Consolas" pitchFamily="34" charset="0"/>
                <a:ea typeface="Consolas" pitchFamily="34" charset="-122"/>
                <a:cs typeface="Consolas" pitchFamily="34" charset="-120"/>
              </a:rPr>
              <a:t>ERROR 1452</a:t>
            </a:r>
            <a:endParaRPr lang="en-US" sz="1200" dirty="0"/>
          </a:p>
        </p:txBody>
      </p:sp>
      <p:sp>
        <p:nvSpPr>
          <p:cNvPr id="25" name="text-322"/>
          <p:cNvSpPr txBox="1"/>
          <p:nvPr/>
        </p:nvSpPr>
        <p:spPr>
          <a:xfrm>
            <a:off x="7726680" y="2542032"/>
            <a:ext cx="3779215" cy="530352"/>
          </a:xfrm>
          <a:prstGeom prst="rect">
            <a:avLst/>
          </a:prstGeom>
          <a:noFill/>
          <a:ln/>
        </p:spPr>
        <p:txBody>
          <a:bodyPr wrap="square" lIns="0" tIns="0" rIns="0" bIns="0" rtlCol="0" anchor="ctr"/>
          <a:lstStyle/>
          <a:p>
            <a:pPr marL="0" indent="0">
              <a:buNone/>
            </a:pPr>
            <a:r>
              <a:rPr lang="en-US" sz="1100" b="1" dirty="0">
                <a:solidFill>
                  <a:schemeClr val="tx2"/>
                </a:solidFill>
              </a:rPr>
              <a:t>FOREIGN KEY</a:t>
            </a:r>
            <a:endParaRPr lang="en-US" sz="1200" dirty="0"/>
          </a:p>
          <a:p>
            <a:pPr marL="0" indent="0">
              <a:buNone/>
            </a:pPr>
            <a:r>
              <a:rPr lang="en-US" sz="1200" dirty="0">
                <a:solidFill>
                  <a:schemeClr val="tx1"/>
                </a:solidFill>
              </a:rPr>
              <a:t>Book a parcel for customer_id 99, who does not exist</a:t>
            </a:r>
            <a:endParaRPr lang="en-US" sz="1200" dirty="0"/>
          </a:p>
        </p:txBody>
      </p:sp>
      <p:sp>
        <p:nvSpPr>
          <p:cNvPr id="26" name="test-row-323"/>
          <p:cNvSpPr/>
          <p:nvPr/>
        </p:nvSpPr>
        <p:spPr>
          <a:xfrm>
            <a:off x="6263640" y="3209544"/>
            <a:ext cx="5379415" cy="603504"/>
          </a:xfrm>
          <a:prstGeom prst="roundRect">
            <a:avLst>
              <a:gd name="adj" fmla="val 18182"/>
            </a:avLst>
          </a:prstGeom>
          <a:solidFill>
            <a:schemeClr val="bg2"/>
          </a:solidFill>
          <a:ln/>
        </p:spPr>
      </p:sp>
      <p:sp>
        <p:nvSpPr>
          <p:cNvPr id="27" name="text-324"/>
          <p:cNvSpPr txBox="1"/>
          <p:nvPr/>
        </p:nvSpPr>
        <p:spPr>
          <a:xfrm>
            <a:off x="6446520" y="3209544"/>
            <a:ext cx="1234440" cy="603504"/>
          </a:xfrm>
          <a:prstGeom prst="rect">
            <a:avLst/>
          </a:prstGeom>
          <a:noFill/>
          <a:ln/>
        </p:spPr>
        <p:txBody>
          <a:bodyPr wrap="square" lIns="0" tIns="0" rIns="0" bIns="0" rtlCol="0" anchor="ctr"/>
          <a:lstStyle/>
          <a:p>
            <a:pPr marL="0" indent="0">
              <a:buNone/>
            </a:pPr>
            <a:r>
              <a:rPr lang="en-US" sz="1200" b="1" dirty="0">
                <a:solidFill>
                  <a:schemeClr val="accent1"/>
                </a:solidFill>
                <a:latin typeface="Consolas" pitchFamily="34" charset="0"/>
                <a:ea typeface="Consolas" pitchFamily="34" charset="-122"/>
                <a:cs typeface="Consolas" pitchFamily="34" charset="-120"/>
              </a:rPr>
              <a:t>ERROR 1062</a:t>
            </a:r>
            <a:endParaRPr lang="en-US" sz="1200" dirty="0"/>
          </a:p>
        </p:txBody>
      </p:sp>
      <p:sp>
        <p:nvSpPr>
          <p:cNvPr id="28" name="text-325"/>
          <p:cNvSpPr txBox="1"/>
          <p:nvPr/>
        </p:nvSpPr>
        <p:spPr>
          <a:xfrm>
            <a:off x="7726680" y="3255264"/>
            <a:ext cx="3779215" cy="530352"/>
          </a:xfrm>
          <a:prstGeom prst="rect">
            <a:avLst/>
          </a:prstGeom>
          <a:noFill/>
          <a:ln/>
        </p:spPr>
        <p:txBody>
          <a:bodyPr wrap="square" lIns="0" tIns="0" rIns="0" bIns="0" rtlCol="0" anchor="ctr"/>
          <a:lstStyle/>
          <a:p>
            <a:pPr marL="0" indent="0">
              <a:buNone/>
            </a:pPr>
            <a:r>
              <a:rPr lang="en-US" sz="1100" b="1" dirty="0">
                <a:solidFill>
                  <a:schemeClr val="tx2"/>
                </a:solidFill>
              </a:rPr>
              <a:t>UNIQUE</a:t>
            </a:r>
            <a:endParaRPr lang="en-US" sz="1200" dirty="0"/>
          </a:p>
          <a:p>
            <a:pPr marL="0" indent="0">
              <a:buNone/>
            </a:pPr>
            <a:r>
              <a:rPr lang="en-US" sz="1200" dirty="0">
                <a:solidFill>
                  <a:schemeClr val="tx1"/>
                </a:solidFill>
              </a:rPr>
              <a:t>Register customer@courier.com a second time</a:t>
            </a:r>
            <a:endParaRPr lang="en-US" sz="1200" dirty="0"/>
          </a:p>
        </p:txBody>
      </p:sp>
      <p:sp>
        <p:nvSpPr>
          <p:cNvPr id="29" name="test-row-326"/>
          <p:cNvSpPr/>
          <p:nvPr/>
        </p:nvSpPr>
        <p:spPr>
          <a:xfrm>
            <a:off x="6263640" y="3922776"/>
            <a:ext cx="5379415" cy="603504"/>
          </a:xfrm>
          <a:prstGeom prst="roundRect">
            <a:avLst>
              <a:gd name="adj" fmla="val 18182"/>
            </a:avLst>
          </a:prstGeom>
          <a:solidFill>
            <a:schemeClr val="bg2"/>
          </a:solidFill>
          <a:ln/>
        </p:spPr>
      </p:sp>
      <p:sp>
        <p:nvSpPr>
          <p:cNvPr id="30" name="text-327"/>
          <p:cNvSpPr txBox="1"/>
          <p:nvPr/>
        </p:nvSpPr>
        <p:spPr>
          <a:xfrm>
            <a:off x="6446520" y="3922776"/>
            <a:ext cx="1234440" cy="603504"/>
          </a:xfrm>
          <a:prstGeom prst="rect">
            <a:avLst/>
          </a:prstGeom>
          <a:noFill/>
          <a:ln/>
        </p:spPr>
        <p:txBody>
          <a:bodyPr wrap="square" lIns="0" tIns="0" rIns="0" bIns="0" rtlCol="0" anchor="ctr"/>
          <a:lstStyle/>
          <a:p>
            <a:pPr marL="0" indent="0">
              <a:buNone/>
            </a:pPr>
            <a:r>
              <a:rPr lang="en-US" sz="1200" b="1" dirty="0">
                <a:solidFill>
                  <a:schemeClr val="accent1"/>
                </a:solidFill>
                <a:latin typeface="Consolas" pitchFamily="34" charset="0"/>
                <a:ea typeface="Consolas" pitchFamily="34" charset="-122"/>
                <a:cs typeface="Consolas" pitchFamily="34" charset="-120"/>
              </a:rPr>
              <a:t>ERROR 1451</a:t>
            </a:r>
            <a:endParaRPr lang="en-US" sz="1200" dirty="0"/>
          </a:p>
        </p:txBody>
      </p:sp>
      <p:sp>
        <p:nvSpPr>
          <p:cNvPr id="31" name="text-328"/>
          <p:cNvSpPr txBox="1"/>
          <p:nvPr/>
        </p:nvSpPr>
        <p:spPr>
          <a:xfrm>
            <a:off x="7726680" y="3968496"/>
            <a:ext cx="3779215" cy="530352"/>
          </a:xfrm>
          <a:prstGeom prst="rect">
            <a:avLst/>
          </a:prstGeom>
          <a:noFill/>
          <a:ln/>
        </p:spPr>
        <p:txBody>
          <a:bodyPr wrap="square" lIns="0" tIns="0" rIns="0" bIns="0" rtlCol="0" anchor="ctr"/>
          <a:lstStyle/>
          <a:p>
            <a:pPr marL="0" indent="0">
              <a:buNone/>
            </a:pPr>
            <a:r>
              <a:rPr lang="en-US" sz="1100" b="1" dirty="0">
                <a:solidFill>
                  <a:schemeClr val="tx2"/>
                </a:solidFill>
              </a:rPr>
              <a:t>RESTRICT</a:t>
            </a:r>
            <a:endParaRPr lang="en-US" sz="1200" dirty="0"/>
          </a:p>
          <a:p>
            <a:pPr marL="0" indent="0">
              <a:buNone/>
            </a:pPr>
            <a:r>
              <a:rPr lang="en-US" sz="1200" dirty="0">
                <a:solidFill>
                  <a:schemeClr val="tx1"/>
                </a:solidFill>
              </a:rPr>
              <a:t>Delete a customer who still has parcels</a:t>
            </a:r>
            <a:endParaRPr lang="en-US" sz="1200" dirty="0"/>
          </a:p>
        </p:txBody>
      </p:sp>
      <p:sp>
        <p:nvSpPr>
          <p:cNvPr id="32" name="test-row-329"/>
          <p:cNvSpPr/>
          <p:nvPr/>
        </p:nvSpPr>
        <p:spPr>
          <a:xfrm>
            <a:off x="6263640" y="4636008"/>
            <a:ext cx="5379415" cy="603504"/>
          </a:xfrm>
          <a:prstGeom prst="roundRect">
            <a:avLst>
              <a:gd name="adj" fmla="val 18182"/>
            </a:avLst>
          </a:prstGeom>
          <a:solidFill>
            <a:schemeClr val="bg2"/>
          </a:solidFill>
          <a:ln/>
        </p:spPr>
      </p:sp>
      <p:sp>
        <p:nvSpPr>
          <p:cNvPr id="33" name="text-330"/>
          <p:cNvSpPr txBox="1"/>
          <p:nvPr/>
        </p:nvSpPr>
        <p:spPr>
          <a:xfrm>
            <a:off x="6446520" y="4636008"/>
            <a:ext cx="1234440" cy="603504"/>
          </a:xfrm>
          <a:prstGeom prst="rect">
            <a:avLst/>
          </a:prstGeom>
          <a:noFill/>
          <a:ln/>
        </p:spPr>
        <p:txBody>
          <a:bodyPr wrap="square" lIns="0" tIns="0" rIns="0" bIns="0" rtlCol="0" anchor="ctr"/>
          <a:lstStyle/>
          <a:p>
            <a:pPr marL="0" indent="0">
              <a:buNone/>
            </a:pPr>
            <a:r>
              <a:rPr lang="en-US" sz="1200" b="1" dirty="0">
                <a:solidFill>
                  <a:schemeClr val="accent1"/>
                </a:solidFill>
                <a:latin typeface="Consolas" pitchFamily="34" charset="0"/>
                <a:ea typeface="Consolas" pitchFamily="34" charset="-122"/>
                <a:cs typeface="Consolas" pitchFamily="34" charset="-120"/>
              </a:rPr>
              <a:t>ERROR 1265</a:t>
            </a:r>
            <a:endParaRPr lang="en-US" sz="1200" dirty="0"/>
          </a:p>
        </p:txBody>
      </p:sp>
      <p:sp>
        <p:nvSpPr>
          <p:cNvPr id="34" name="text-331"/>
          <p:cNvSpPr txBox="1"/>
          <p:nvPr/>
        </p:nvSpPr>
        <p:spPr>
          <a:xfrm>
            <a:off x="7726680" y="4681728"/>
            <a:ext cx="3779215" cy="530352"/>
          </a:xfrm>
          <a:prstGeom prst="rect">
            <a:avLst/>
          </a:prstGeom>
          <a:noFill/>
          <a:ln/>
        </p:spPr>
        <p:txBody>
          <a:bodyPr wrap="square" lIns="0" tIns="0" rIns="0" bIns="0" rtlCol="0" anchor="ctr"/>
          <a:lstStyle/>
          <a:p>
            <a:pPr marL="0" indent="0">
              <a:buNone/>
            </a:pPr>
            <a:r>
              <a:rPr lang="en-US" sz="1100" b="1" dirty="0">
                <a:solidFill>
                  <a:schemeClr val="tx2"/>
                </a:solidFill>
              </a:rPr>
              <a:t>ENUM (strict mode)</a:t>
            </a:r>
            <a:endParaRPr lang="en-US" sz="1200" dirty="0"/>
          </a:p>
          <a:p>
            <a:pPr marL="0" indent="0">
              <a:buNone/>
            </a:pPr>
            <a:r>
              <a:rPr lang="en-US" sz="1200" dirty="0">
                <a:solidFill>
                  <a:schemeClr val="tx1"/>
                </a:solidFill>
              </a:rPr>
              <a:t>Set a parcel's status to 'Lost'</a:t>
            </a:r>
            <a:endParaRPr lang="en-US" sz="1200" dirty="0"/>
          </a:p>
        </p:txBody>
      </p:sp>
      <p:sp>
        <p:nvSpPr>
          <p:cNvPr id="35" name="engine-note-332"/>
          <p:cNvSpPr/>
          <p:nvPr/>
        </p:nvSpPr>
        <p:spPr>
          <a:xfrm>
            <a:off x="6263640" y="5440680"/>
            <a:ext cx="5379415" cy="777240"/>
          </a:xfrm>
          <a:prstGeom prst="roundRect">
            <a:avLst>
              <a:gd name="adj" fmla="val 14118"/>
            </a:avLst>
          </a:prstGeom>
          <a:solidFill>
            <a:schemeClr val="tx1"/>
          </a:solidFill>
          <a:ln/>
        </p:spPr>
      </p:sp>
      <p:pic>
        <p:nvPicPr>
          <p:cNvPr id="36" name="icon-LuCircleAlert-333" descr="C:\Users\srest\AppData\Local\Temp\claude\C--Users-srest\52e86171-7f3f-4f9f-8710-1b05dd1b2558\scratchpad\deck\icons\LuCircleAlert_o.png"/>
          <p:cNvPicPr>
            <a:picLocks noChangeAspect="1"/>
          </p:cNvPicPr>
          <p:nvPr/>
        </p:nvPicPr>
        <p:blipFill>
          <a:blip r:embed="rId4"/>
          <a:stretch>
            <a:fillRect/>
          </a:stretch>
        </p:blipFill>
        <p:spPr>
          <a:xfrm>
            <a:off x="6446520" y="5650992"/>
            <a:ext cx="365760" cy="365760"/>
          </a:xfrm>
          <a:prstGeom prst="rect">
            <a:avLst/>
          </a:prstGeom>
        </p:spPr>
      </p:pic>
      <p:sp>
        <p:nvSpPr>
          <p:cNvPr id="37" name="text-334"/>
          <p:cNvSpPr txBox="1"/>
          <p:nvPr/>
        </p:nvSpPr>
        <p:spPr>
          <a:xfrm>
            <a:off x="6949440" y="5440680"/>
            <a:ext cx="4556455" cy="777240"/>
          </a:xfrm>
          <a:prstGeom prst="rect">
            <a:avLst/>
          </a:prstGeom>
          <a:noFill/>
          <a:ln/>
        </p:spPr>
        <p:txBody>
          <a:bodyPr wrap="square" lIns="0" tIns="0" rIns="0" bIns="0" rtlCol="0" anchor="ctr"/>
          <a:lstStyle/>
          <a:p>
            <a:pPr marL="0" indent="0">
              <a:buNone/>
            </a:pPr>
            <a:r>
              <a:rPr lang="en-US" sz="1200" b="1" dirty="0">
                <a:solidFill>
                  <a:schemeClr val="accent1"/>
                </a:solidFill>
              </a:rPr>
              <a:t>XAMPP's MariaDB </a:t>
            </a:r>
            <a:r>
              <a:rPr lang="en-US" sz="1200" dirty="0">
                <a:solidFill>
                  <a:schemeClr val="bg1"/>
                </a:solidFill>
              </a:rPr>
              <a:t>reports a failed CHECK as 4025; MySQL 8 reports the same rule as 3819.</a:t>
            </a:r>
            <a:endParaRPr lang="en-US" sz="1200" dirty="0"/>
          </a:p>
        </p:txBody>
      </p:sp>
      <p:sp>
        <p:nvSpPr>
          <p:cNvPr id="38"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7498080" cy="868680"/>
          </a:xfrm>
          <a:prstGeom prst="rect">
            <a:avLst/>
          </a:prstGeom>
          <a:noFill/>
          <a:ln/>
        </p:spPr>
        <p:txBody>
          <a:bodyPr wrap="square" lIns="0" tIns="0" rIns="0" bIns="0" rtlCol="0" anchor="ctr"/>
          <a:lstStyle/>
          <a:p>
            <a:pPr marL="0" indent="0" algn="l">
              <a:buNone/>
            </a:pPr>
            <a:r>
              <a:rPr lang="en-US" sz="2800" dirty="0">
                <a:solidFill>
                  <a:schemeClr val="tx1"/>
                </a:solidFill>
                <a:latin typeface="Segoe UI Semibold" pitchFamily="34" charset="0"/>
                <a:ea typeface="Segoe UI Semibold" pitchFamily="34" charset="-122"/>
                <a:cs typeface="Segoe UI Semibold" pitchFamily="34" charset="-120"/>
              </a:rPr>
              <a:t>Tracking a parcel is a 3-table join</a:t>
            </a:r>
            <a:endParaRPr lang="en-US" sz="2800" dirty="0"/>
          </a:p>
        </p:txBody>
      </p:sp>
      <p:sp>
        <p:nvSpPr>
          <p:cNvPr id="3" name="tracker-rail-335"/>
          <p:cNvSpPr/>
          <p:nvPr/>
        </p:nvSpPr>
        <p:spPr>
          <a:xfrm>
            <a:off x="8458200" y="566928"/>
            <a:ext cx="2926080" cy="0"/>
          </a:xfrm>
          <a:prstGeom prst="line">
            <a:avLst/>
          </a:prstGeom>
          <a:noFill/>
          <a:ln w="31750">
            <a:solidFill>
              <a:srgbClr val="D1D5DB"/>
            </a:solidFill>
            <a:prstDash val="solid"/>
          </a:ln>
        </p:spPr>
      </p:sp>
      <p:sp>
        <p:nvSpPr>
          <p:cNvPr id="4" name="tracker-done-336"/>
          <p:cNvSpPr/>
          <p:nvPr/>
        </p:nvSpPr>
        <p:spPr>
          <a:xfrm>
            <a:off x="8458200" y="566928"/>
            <a:ext cx="1463040" cy="0"/>
          </a:xfrm>
          <a:prstGeom prst="line">
            <a:avLst/>
          </a:prstGeom>
          <a:noFill/>
          <a:ln w="31750">
            <a:solidFill>
              <a:schemeClr val="accent1"/>
            </a:solidFill>
            <a:prstDash val="solid"/>
          </a:ln>
        </p:spPr>
      </p:sp>
      <p:sp>
        <p:nvSpPr>
          <p:cNvPr id="5" name="tracker-dot-337"/>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338"/>
          <p:cNvSpPr txBox="1"/>
          <p:nvPr/>
        </p:nvSpPr>
        <p:spPr>
          <a:xfrm>
            <a:off x="800100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Problem</a:t>
            </a:r>
            <a:endParaRPr lang="en-US" sz="1000" dirty="0"/>
          </a:p>
        </p:txBody>
      </p:sp>
      <p:sp>
        <p:nvSpPr>
          <p:cNvPr id="7" name="tracker-dot-339"/>
          <p:cNvSpPr/>
          <p:nvPr/>
        </p:nvSpPr>
        <p:spPr>
          <a:xfrm>
            <a:off x="9116568" y="493776"/>
            <a:ext cx="146304" cy="146304"/>
          </a:xfrm>
          <a:prstGeom prst="ellipse">
            <a:avLst/>
          </a:prstGeom>
          <a:solidFill>
            <a:schemeClr val="accent1"/>
          </a:solidFill>
          <a:ln w="19050">
            <a:solidFill>
              <a:schemeClr val="accent1"/>
            </a:solidFill>
            <a:prstDash val="solid"/>
          </a:ln>
        </p:spPr>
      </p:sp>
      <p:sp>
        <p:nvSpPr>
          <p:cNvPr id="8" name="text-340"/>
          <p:cNvSpPr txBox="1"/>
          <p:nvPr/>
        </p:nvSpPr>
        <p:spPr>
          <a:xfrm>
            <a:off x="873252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ER &amp; Schema</a:t>
            </a:r>
            <a:endParaRPr lang="en-US" sz="1000" dirty="0"/>
          </a:p>
        </p:txBody>
      </p:sp>
      <p:sp>
        <p:nvSpPr>
          <p:cNvPr id="9" name="tracker-dot-341"/>
          <p:cNvSpPr/>
          <p:nvPr/>
        </p:nvSpPr>
        <p:spPr>
          <a:xfrm>
            <a:off x="9802368" y="448056"/>
            <a:ext cx="237744" cy="237744"/>
          </a:xfrm>
          <a:prstGeom prst="ellipse">
            <a:avLst/>
          </a:prstGeom>
          <a:solidFill>
            <a:schemeClr val="accent1"/>
          </a:solidFill>
          <a:ln w="19050">
            <a:solidFill>
              <a:schemeClr val="accent1"/>
            </a:solidFill>
            <a:prstDash val="solid"/>
          </a:ln>
        </p:spPr>
      </p:sp>
      <p:sp>
        <p:nvSpPr>
          <p:cNvPr id="10" name="text-342"/>
          <p:cNvSpPr txBox="1"/>
          <p:nvPr/>
        </p:nvSpPr>
        <p:spPr>
          <a:xfrm>
            <a:off x="9464040" y="749808"/>
            <a:ext cx="914400" cy="228600"/>
          </a:xfrm>
          <a:prstGeom prst="rect">
            <a:avLst/>
          </a:prstGeom>
          <a:noFill/>
          <a:ln/>
        </p:spPr>
        <p:txBody>
          <a:bodyPr wrap="square" lIns="0" tIns="0" rIns="0" bIns="0" rtlCol="0" anchor="t"/>
          <a:lstStyle/>
          <a:p>
            <a:pPr marL="0" indent="0" algn="ctr">
              <a:buNone/>
            </a:pPr>
            <a:r>
              <a:rPr lang="en-US" sz="1000" b="1" dirty="0">
                <a:solidFill>
                  <a:schemeClr val="accent1"/>
                </a:solidFill>
              </a:rPr>
              <a:t>Database</a:t>
            </a:r>
            <a:endParaRPr lang="en-US" sz="1000" dirty="0"/>
          </a:p>
        </p:txBody>
      </p:sp>
      <p:sp>
        <p:nvSpPr>
          <p:cNvPr id="11" name="tracker-dot-343"/>
          <p:cNvSpPr/>
          <p:nvPr/>
        </p:nvSpPr>
        <p:spPr>
          <a:xfrm>
            <a:off x="10579608" y="493776"/>
            <a:ext cx="146304" cy="146304"/>
          </a:xfrm>
          <a:prstGeom prst="ellipse">
            <a:avLst/>
          </a:prstGeom>
          <a:solidFill>
            <a:schemeClr val="bg1"/>
          </a:solidFill>
          <a:ln w="19050">
            <a:solidFill>
              <a:schemeClr val="accent6"/>
            </a:solidFill>
            <a:prstDash val="solid"/>
          </a:ln>
        </p:spPr>
      </p:sp>
      <p:sp>
        <p:nvSpPr>
          <p:cNvPr id="12" name="text-344"/>
          <p:cNvSpPr txBox="1"/>
          <p:nvPr/>
        </p:nvSpPr>
        <p:spPr>
          <a:xfrm>
            <a:off x="1019556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UI Demo</a:t>
            </a:r>
            <a:endParaRPr lang="en-US" sz="1000" dirty="0"/>
          </a:p>
        </p:txBody>
      </p:sp>
      <p:sp>
        <p:nvSpPr>
          <p:cNvPr id="13" name="tracker-dot-345"/>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346"/>
          <p:cNvSpPr txBox="1"/>
          <p:nvPr/>
        </p:nvSpPr>
        <p:spPr>
          <a:xfrm>
            <a:off x="1092708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Q&amp;A</a:t>
            </a:r>
            <a:endParaRPr lang="en-US" sz="1000" dirty="0"/>
          </a:p>
        </p:txBody>
      </p:sp>
      <p:sp>
        <p:nvSpPr>
          <p:cNvPr id="15" name="code-card-347"/>
          <p:cNvSpPr/>
          <p:nvPr/>
        </p:nvSpPr>
        <p:spPr>
          <a:xfrm>
            <a:off x="548640" y="1417320"/>
            <a:ext cx="5760720" cy="3017520"/>
          </a:xfrm>
          <a:prstGeom prst="roundRect">
            <a:avLst>
              <a:gd name="adj" fmla="val 3636"/>
            </a:avLst>
          </a:prstGeom>
          <a:solidFill>
            <a:schemeClr val="tx1"/>
          </a:solidFill>
          <a:ln/>
          <a:effectLst>
            <a:outerShdw blurRad="101600" dist="25400" dir="5400000" algn="bl" rotWithShape="0">
              <a:srgbClr val="000000">
                <a:alpha val="10000"/>
              </a:srgbClr>
            </a:outerShdw>
          </a:effectLst>
        </p:spPr>
      </p:sp>
      <p:sp>
        <p:nvSpPr>
          <p:cNvPr id="16" name="text-348"/>
          <p:cNvSpPr txBox="1"/>
          <p:nvPr/>
        </p:nvSpPr>
        <p:spPr>
          <a:xfrm>
            <a:off x="822960" y="1581912"/>
            <a:ext cx="2743200" cy="228600"/>
          </a:xfrm>
          <a:prstGeom prst="rect">
            <a:avLst/>
          </a:prstGeom>
          <a:noFill/>
          <a:ln/>
        </p:spPr>
        <p:txBody>
          <a:bodyPr wrap="square" lIns="0" tIns="0" rIns="0" bIns="0" rtlCol="0" anchor="t"/>
          <a:lstStyle/>
          <a:p>
            <a:pPr marL="0" indent="0">
              <a:buNone/>
            </a:pPr>
            <a:r>
              <a:rPr lang="en-US" sz="1000" b="1" kern="0" spc="150" dirty="0">
                <a:solidFill>
                  <a:schemeClr val="accent1"/>
                </a:solidFill>
              </a:rPr>
              <a:t>Q9  ·  TRACK A PARCEL</a:t>
            </a:r>
            <a:endParaRPr lang="en-US" sz="1000" dirty="0"/>
          </a:p>
        </p:txBody>
      </p:sp>
      <p:sp>
        <p:nvSpPr>
          <p:cNvPr id="17" name="code-349"/>
          <p:cNvSpPr txBox="1"/>
          <p:nvPr/>
        </p:nvSpPr>
        <p:spPr>
          <a:xfrm>
            <a:off x="822960" y="1874520"/>
            <a:ext cx="5303520" cy="2423160"/>
          </a:xfrm>
          <a:prstGeom prst="rect">
            <a:avLst/>
          </a:prstGeom>
          <a:noFill/>
          <a:ln/>
        </p:spPr>
        <p:txBody>
          <a:bodyPr wrap="square" lIns="0" tIns="0" rIns="0" bIns="0" rtlCol="0" anchor="t"/>
          <a:lstStyle/>
          <a:p>
            <a:pPr marL="0" indent="0">
              <a:lnSpc>
                <a:spcPct val="105000"/>
              </a:lnSpc>
              <a:buNone/>
            </a:pPr>
            <a:r>
              <a:rPr lang="en-US" sz="1350" dirty="0">
                <a:solidFill>
                  <a:schemeClr val="accent1"/>
                </a:solidFill>
                <a:latin typeface="Consolas" pitchFamily="34" charset="0"/>
                <a:ea typeface="Consolas" pitchFamily="34" charset="-122"/>
                <a:cs typeface="Consolas" pitchFamily="34" charset="-120"/>
              </a:rPr>
              <a:t>SELECT</a:t>
            </a:r>
            <a:r>
              <a:rPr lang="en-US" sz="1350" dirty="0">
                <a:solidFill>
                  <a:schemeClr val="bg2"/>
                </a:solidFill>
                <a:latin typeface="Consolas" pitchFamily="34" charset="0"/>
                <a:ea typeface="Consolas" pitchFamily="34" charset="-122"/>
                <a:cs typeface="Consolas" pitchFamily="34" charset="-120"/>
              </a:rPr>
              <a:t> th.created_at, th.status, th.location,</a:t>
            </a:r>
            <a:endParaRPr lang="en-US" sz="1350" dirty="0"/>
          </a:p>
          <a:p>
            <a:pPr marL="0" indent="0">
              <a:lnSpc>
                <a:spcPct val="105000"/>
              </a:lnSpc>
              <a:buNone/>
            </a:pPr>
            <a:r>
              <a:rPr lang="en-US" sz="1350" dirty="0">
                <a:solidFill>
                  <a:schemeClr val="bg2"/>
                </a:solidFill>
                <a:latin typeface="Consolas" pitchFamily="34" charset="0"/>
                <a:ea typeface="Consolas" pitchFamily="34" charset="-122"/>
                <a:cs typeface="Consolas" pitchFamily="34" charset="-120"/>
              </a:rPr>
              <a:t>       th.remarks, u.name </a:t>
            </a:r>
            <a:r>
              <a:rPr lang="en-US" sz="1350" dirty="0">
                <a:solidFill>
                  <a:schemeClr val="accent1"/>
                </a:solidFill>
                <a:latin typeface="Consolas" pitchFamily="34" charset="0"/>
                <a:ea typeface="Consolas" pitchFamily="34" charset="-122"/>
                <a:cs typeface="Consolas" pitchFamily="34" charset="-120"/>
              </a:rPr>
              <a:t>AS</a:t>
            </a:r>
            <a:r>
              <a:rPr lang="en-US" sz="1350" dirty="0">
                <a:solidFill>
                  <a:schemeClr val="bg2"/>
                </a:solidFill>
                <a:latin typeface="Consolas" pitchFamily="34" charset="0"/>
                <a:ea typeface="Consolas" pitchFamily="34" charset="-122"/>
                <a:cs typeface="Consolas" pitchFamily="34" charset="-120"/>
              </a:rPr>
              <a:t> updated_by</a:t>
            </a:r>
            <a:endParaRPr lang="en-US" sz="1350" dirty="0"/>
          </a:p>
          <a:p>
            <a:pPr marL="0" indent="0">
              <a:lnSpc>
                <a:spcPct val="105000"/>
              </a:lnSpc>
              <a:buNone/>
            </a:pPr>
            <a:r>
              <a:rPr lang="en-US" sz="1350" dirty="0">
                <a:solidFill>
                  <a:schemeClr val="accent1"/>
                </a:solidFill>
                <a:latin typeface="Consolas" pitchFamily="34" charset="0"/>
                <a:ea typeface="Consolas" pitchFamily="34" charset="-122"/>
                <a:cs typeface="Consolas" pitchFamily="34" charset="-120"/>
              </a:rPr>
              <a:t>FROM</a:t>
            </a:r>
            <a:r>
              <a:rPr lang="en-US" sz="1350" dirty="0">
                <a:solidFill>
                  <a:schemeClr val="bg2"/>
                </a:solidFill>
                <a:latin typeface="Consolas" pitchFamily="34" charset="0"/>
                <a:ea typeface="Consolas" pitchFamily="34" charset="-122"/>
                <a:cs typeface="Consolas" pitchFamily="34" charset="-120"/>
              </a:rPr>
              <a:t> tracking_history th</a:t>
            </a:r>
            <a:endParaRPr lang="en-US" sz="1350" dirty="0"/>
          </a:p>
          <a:p>
            <a:pPr marL="0" indent="0">
              <a:lnSpc>
                <a:spcPct val="105000"/>
              </a:lnSpc>
              <a:buNone/>
            </a:pPr>
            <a:r>
              <a:rPr lang="en-US" sz="1350" dirty="0">
                <a:solidFill>
                  <a:schemeClr val="accent1"/>
                </a:solidFill>
                <a:latin typeface="Consolas" pitchFamily="34" charset="0"/>
                <a:ea typeface="Consolas" pitchFamily="34" charset="-122"/>
                <a:cs typeface="Consolas" pitchFamily="34" charset="-120"/>
              </a:rPr>
              <a:t>JOIN</a:t>
            </a:r>
            <a:r>
              <a:rPr lang="en-US" sz="1350" dirty="0">
                <a:solidFill>
                  <a:schemeClr val="bg2"/>
                </a:solidFill>
                <a:latin typeface="Consolas" pitchFamily="34" charset="0"/>
                <a:ea typeface="Consolas" pitchFamily="34" charset="-122"/>
                <a:cs typeface="Consolas" pitchFamily="34" charset="-120"/>
              </a:rPr>
              <a:t> parcels p     </a:t>
            </a:r>
            <a:r>
              <a:rPr lang="en-US" sz="1350" dirty="0">
                <a:solidFill>
                  <a:schemeClr val="accent1"/>
                </a:solidFill>
                <a:latin typeface="Consolas" pitchFamily="34" charset="0"/>
                <a:ea typeface="Consolas" pitchFamily="34" charset="-122"/>
                <a:cs typeface="Consolas" pitchFamily="34" charset="-120"/>
              </a:rPr>
              <a:t>ON</a:t>
            </a:r>
            <a:r>
              <a:rPr lang="en-US" sz="1350" dirty="0">
                <a:solidFill>
                  <a:schemeClr val="bg2"/>
                </a:solidFill>
                <a:latin typeface="Consolas" pitchFamily="34" charset="0"/>
                <a:ea typeface="Consolas" pitchFamily="34" charset="-122"/>
                <a:cs typeface="Consolas" pitchFamily="34" charset="-120"/>
              </a:rPr>
              <a:t> p.parcel_id = th.parcel_id</a:t>
            </a:r>
            <a:endParaRPr lang="en-US" sz="1350" dirty="0"/>
          </a:p>
          <a:p>
            <a:pPr marL="0" indent="0">
              <a:lnSpc>
                <a:spcPct val="105000"/>
              </a:lnSpc>
              <a:buNone/>
            </a:pPr>
            <a:r>
              <a:rPr lang="en-US" sz="1350" dirty="0">
                <a:solidFill>
                  <a:schemeClr val="accent1"/>
                </a:solidFill>
                <a:latin typeface="Consolas" pitchFamily="34" charset="0"/>
                <a:ea typeface="Consolas" pitchFamily="34" charset="-122"/>
                <a:cs typeface="Consolas" pitchFamily="34" charset="-120"/>
              </a:rPr>
              <a:t>LEFT</a:t>
            </a:r>
            <a:r>
              <a:rPr lang="en-US" sz="1350" dirty="0">
                <a:solidFill>
                  <a:schemeClr val="bg2"/>
                </a:solidFill>
                <a:latin typeface="Consolas" pitchFamily="34" charset="0"/>
                <a:ea typeface="Consolas" pitchFamily="34" charset="-122"/>
                <a:cs typeface="Consolas" pitchFamily="34" charset="-120"/>
              </a:rPr>
              <a:t> </a:t>
            </a:r>
            <a:r>
              <a:rPr lang="en-US" sz="1350" dirty="0">
                <a:solidFill>
                  <a:schemeClr val="accent1"/>
                </a:solidFill>
                <a:latin typeface="Consolas" pitchFamily="34" charset="0"/>
                <a:ea typeface="Consolas" pitchFamily="34" charset="-122"/>
                <a:cs typeface="Consolas" pitchFamily="34" charset="-120"/>
              </a:rPr>
              <a:t>JOIN</a:t>
            </a:r>
            <a:r>
              <a:rPr lang="en-US" sz="1350" dirty="0">
                <a:solidFill>
                  <a:schemeClr val="bg2"/>
                </a:solidFill>
                <a:latin typeface="Consolas" pitchFamily="34" charset="0"/>
                <a:ea typeface="Consolas" pitchFamily="34" charset="-122"/>
                <a:cs typeface="Consolas" pitchFamily="34" charset="-120"/>
              </a:rPr>
              <a:t> users u  </a:t>
            </a:r>
            <a:r>
              <a:rPr lang="en-US" sz="1350" dirty="0">
                <a:solidFill>
                  <a:schemeClr val="accent1"/>
                </a:solidFill>
                <a:latin typeface="Consolas" pitchFamily="34" charset="0"/>
                <a:ea typeface="Consolas" pitchFamily="34" charset="-122"/>
                <a:cs typeface="Consolas" pitchFamily="34" charset="-120"/>
              </a:rPr>
              <a:t>ON</a:t>
            </a:r>
            <a:r>
              <a:rPr lang="en-US" sz="1350" dirty="0">
                <a:solidFill>
                  <a:schemeClr val="bg2"/>
                </a:solidFill>
                <a:latin typeface="Consolas" pitchFamily="34" charset="0"/>
                <a:ea typeface="Consolas" pitchFamily="34" charset="-122"/>
                <a:cs typeface="Consolas" pitchFamily="34" charset="-120"/>
              </a:rPr>
              <a:t> u.user_id   = th.updated_by</a:t>
            </a:r>
            <a:endParaRPr lang="en-US" sz="1350" dirty="0"/>
          </a:p>
          <a:p>
            <a:pPr marL="0" indent="0">
              <a:lnSpc>
                <a:spcPct val="105000"/>
              </a:lnSpc>
              <a:buNone/>
            </a:pPr>
            <a:r>
              <a:rPr lang="en-US" sz="1350" dirty="0">
                <a:solidFill>
                  <a:schemeClr val="accent1"/>
                </a:solidFill>
                <a:latin typeface="Consolas" pitchFamily="34" charset="0"/>
                <a:ea typeface="Consolas" pitchFamily="34" charset="-122"/>
                <a:cs typeface="Consolas" pitchFamily="34" charset="-120"/>
              </a:rPr>
              <a:t>WHERE</a:t>
            </a:r>
            <a:r>
              <a:rPr lang="en-US" sz="1350" dirty="0">
                <a:solidFill>
                  <a:schemeClr val="bg2"/>
                </a:solidFill>
                <a:latin typeface="Consolas" pitchFamily="34" charset="0"/>
                <a:ea typeface="Consolas" pitchFamily="34" charset="-122"/>
                <a:cs typeface="Consolas" pitchFamily="34" charset="-120"/>
              </a:rPr>
              <a:t> p.tracking_id = </a:t>
            </a:r>
            <a:r>
              <a:rPr lang="en-US" sz="1350" dirty="0">
                <a:solidFill>
                  <a:srgbClr val="7DD3A8"/>
                </a:solidFill>
                <a:latin typeface="Consolas" pitchFamily="34" charset="0"/>
                <a:ea typeface="Consolas" pitchFamily="34" charset="-122"/>
                <a:cs typeface="Consolas" pitchFamily="34" charset="-120"/>
              </a:rPr>
              <a:t>'CR202610010001'</a:t>
            </a:r>
            <a:endParaRPr lang="en-US" sz="1350" dirty="0"/>
          </a:p>
          <a:p>
            <a:pPr marL="0" indent="0">
              <a:lnSpc>
                <a:spcPct val="105000"/>
              </a:lnSpc>
              <a:buNone/>
            </a:pPr>
            <a:r>
              <a:rPr lang="en-US" sz="1350" dirty="0">
                <a:solidFill>
                  <a:schemeClr val="accent1"/>
                </a:solidFill>
                <a:latin typeface="Consolas" pitchFamily="34" charset="0"/>
                <a:ea typeface="Consolas" pitchFamily="34" charset="-122"/>
                <a:cs typeface="Consolas" pitchFamily="34" charset="-120"/>
              </a:rPr>
              <a:t>ORDER</a:t>
            </a:r>
            <a:r>
              <a:rPr lang="en-US" sz="1350" dirty="0">
                <a:solidFill>
                  <a:schemeClr val="bg2"/>
                </a:solidFill>
                <a:latin typeface="Consolas" pitchFamily="34" charset="0"/>
                <a:ea typeface="Consolas" pitchFamily="34" charset="-122"/>
                <a:cs typeface="Consolas" pitchFamily="34" charset="-120"/>
              </a:rPr>
              <a:t> </a:t>
            </a:r>
            <a:r>
              <a:rPr lang="en-US" sz="1350" dirty="0">
                <a:solidFill>
                  <a:schemeClr val="accent1"/>
                </a:solidFill>
                <a:latin typeface="Consolas" pitchFamily="34" charset="0"/>
                <a:ea typeface="Consolas" pitchFamily="34" charset="-122"/>
                <a:cs typeface="Consolas" pitchFamily="34" charset="-120"/>
              </a:rPr>
              <a:t>BY</a:t>
            </a:r>
            <a:r>
              <a:rPr lang="en-US" sz="1350" dirty="0">
                <a:solidFill>
                  <a:schemeClr val="bg2"/>
                </a:solidFill>
                <a:latin typeface="Consolas" pitchFamily="34" charset="0"/>
                <a:ea typeface="Consolas" pitchFamily="34" charset="-122"/>
                <a:cs typeface="Consolas" pitchFamily="34" charset="-120"/>
              </a:rPr>
              <a:t> th.created_at;</a:t>
            </a:r>
            <a:endParaRPr lang="en-US" sz="1350" dirty="0"/>
          </a:p>
        </p:txBody>
      </p:sp>
      <p:sp>
        <p:nvSpPr>
          <p:cNvPr id="18" name="alsojoin-card-350"/>
          <p:cNvSpPr/>
          <p:nvPr/>
        </p:nvSpPr>
        <p:spPr>
          <a:xfrm>
            <a:off x="548640" y="4617720"/>
            <a:ext cx="5760720" cy="1600200"/>
          </a:xfrm>
          <a:prstGeom prst="roundRect">
            <a:avLst>
              <a:gd name="adj" fmla="val 6857"/>
            </a:avLst>
          </a:prstGeom>
          <a:solidFill>
            <a:schemeClr val="bg2"/>
          </a:solidFill>
          <a:ln/>
        </p:spPr>
      </p:sp>
      <p:sp>
        <p:nvSpPr>
          <p:cNvPr id="19" name="text-351"/>
          <p:cNvSpPr txBox="1"/>
          <p:nvPr/>
        </p:nvSpPr>
        <p:spPr>
          <a:xfrm>
            <a:off x="777240" y="4754880"/>
            <a:ext cx="5303520" cy="1371600"/>
          </a:xfrm>
          <a:prstGeom prst="rect">
            <a:avLst/>
          </a:prstGeom>
          <a:noFill/>
          <a:ln/>
        </p:spPr>
        <p:txBody>
          <a:bodyPr wrap="square" lIns="0" tIns="0" rIns="0" bIns="0" rtlCol="0" anchor="t"/>
          <a:lstStyle/>
          <a:p>
            <a:pPr marL="0" indent="0">
              <a:spcAft>
                <a:spcPts val="400"/>
              </a:spcAft>
              <a:buNone/>
            </a:pPr>
            <a:r>
              <a:rPr lang="en-US" sz="1300" b="1" dirty="0">
                <a:solidFill>
                  <a:schemeClr val="tx1"/>
                </a:solidFill>
              </a:rPr>
              <a:t>Also in the app</a:t>
            </a:r>
            <a:endParaRPr lang="en-US" sz="1300" dirty="0"/>
          </a:p>
          <a:p>
            <a:pPr marL="0" indent="0">
              <a:spcAft>
                <a:spcPts val="400"/>
              </a:spcAft>
              <a:buNone/>
            </a:pPr>
            <a:r>
              <a:rPr lang="en-US" sz="1300" dirty="0">
                <a:solidFill>
                  <a:schemeClr val="tx1"/>
                </a:solidFill>
              </a:rPr>
              <a:t>The admin dashboard joins parcels with users for Recent bookings. The Customers page uses LEFT JOIN … GROUP BY, so customers with zero bookings still appear.</a:t>
            </a:r>
            <a:endParaRPr lang="en-US" sz="1300" dirty="0"/>
          </a:p>
        </p:txBody>
      </p:sp>
      <p:sp>
        <p:nvSpPr>
          <p:cNvPr id="20" name="text-352"/>
          <p:cNvSpPr txBox="1"/>
          <p:nvPr/>
        </p:nvSpPr>
        <p:spPr>
          <a:xfrm>
            <a:off x="6583680" y="1417320"/>
            <a:ext cx="5059375" cy="274320"/>
          </a:xfrm>
          <a:prstGeom prst="rect">
            <a:avLst/>
          </a:prstGeom>
          <a:noFill/>
          <a:ln/>
        </p:spPr>
        <p:txBody>
          <a:bodyPr wrap="square" lIns="0" tIns="0" rIns="0" bIns="0" rtlCol="0" anchor="t"/>
          <a:lstStyle/>
          <a:p>
            <a:pPr marL="0" indent="0">
              <a:buNone/>
            </a:pPr>
            <a:r>
              <a:rPr lang="en-US" sz="1100" b="1" kern="0" spc="150" dirty="0">
                <a:solidFill>
                  <a:schemeClr val="accent1"/>
                </a:solidFill>
              </a:rPr>
              <a:t>RESULT  ·  5 ROWS</a:t>
            </a:r>
            <a:endParaRPr lang="en-US" sz="1100" dirty="0"/>
          </a:p>
        </p:txBody>
      </p:sp>
      <p:graphicFrame>
        <p:nvGraphicFramePr>
          <p:cNvPr id="21" name="join-result"/>
          <p:cNvGraphicFramePr>
            <a:graphicFrameLocks noGrp="1"/>
          </p:cNvGraphicFramePr>
          <p:nvPr>
            <p:extLst>
              <p:ext uri="{D42A27DB-BD31-4B8C-83A1-F6EECF244321}">
                <p14:modId xmlns:p14="http://schemas.microsoft.com/office/powerpoint/2010/main" val="1579011935"/>
              </p:ext>
            </p:extLst>
          </p:nvPr>
        </p:nvGraphicFramePr>
        <p:xfrm>
          <a:off x="6583680" y="1783080"/>
          <a:ext cx="5059375" cy="3017520"/>
        </p:xfrm>
        <a:graphic>
          <a:graphicData uri="http://schemas.openxmlformats.org/drawingml/2006/table">
            <a:tbl>
              <a:tblPr/>
              <a:tblGrid>
                <a:gridCol w="10972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218895">
                  <a:extLst>
                    <a:ext uri="{9D8B030D-6E8A-4147-A177-3AD203B41FA5}">
                      <a16:colId xmlns:a16="http://schemas.microsoft.com/office/drawing/2014/main" val="20003"/>
                    </a:ext>
                  </a:extLst>
                </a:gridCol>
              </a:tblGrid>
              <a:tr h="502920">
                <a:tc>
                  <a:txBody>
                    <a:bodyPr/>
                    <a:lstStyle/>
                    <a:p>
                      <a:pPr marL="0" indent="0">
                        <a:buNone/>
                      </a:pPr>
                      <a:r>
                        <a:rPr lang="en-US" sz="1100" b="1" dirty="0">
                          <a:solidFill>
                            <a:schemeClr val="bg1"/>
                          </a:solidFill>
                        </a:rPr>
                        <a:t>created_at</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rPr>
                        <a:t>status</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rPr>
                        <a:t>location</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rPr>
                        <a:t>updated_by</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02920">
                <a:tc>
                  <a:txBody>
                    <a:bodyPr/>
                    <a:lstStyle/>
                    <a:p>
                      <a:pPr marL="0" indent="0">
                        <a:buNone/>
                      </a:pPr>
                      <a:r>
                        <a:rPr lang="en-US" sz="1100" dirty="0">
                          <a:solidFill>
                            <a:schemeClr val="tx1"/>
                          </a:solidFill>
                        </a:rPr>
                        <a:t>01 Oct 08:50</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Booked</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Hyderabad</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Rahul Sharma</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02920">
                <a:tc>
                  <a:txBody>
                    <a:bodyPr/>
                    <a:lstStyle/>
                    <a:p>
                      <a:pPr marL="0" indent="0">
                        <a:buNone/>
                      </a:pPr>
                      <a:r>
                        <a:rPr lang="en-US" sz="1100" dirty="0">
                          <a:solidFill>
                            <a:schemeClr val="tx1"/>
                          </a:solidFill>
                        </a:rPr>
                        <a:t>01 Oct 13:00</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Picked Up</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Madhapur Hub</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Admin User</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02920">
                <a:tc>
                  <a:txBody>
                    <a:bodyPr/>
                    <a:lstStyle/>
                    <a:p>
                      <a:pPr marL="0" indent="0">
                        <a:buNone/>
                      </a:pPr>
                      <a:r>
                        <a:rPr lang="en-US" sz="1100" dirty="0">
                          <a:solidFill>
                            <a:schemeClr val="tx1"/>
                          </a:solidFill>
                        </a:rPr>
                        <a:t>02 Oct 06:00</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In Transit</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Hyderabad Sorting</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Admin User</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02920">
                <a:tc>
                  <a:txBody>
                    <a:bodyPr/>
                    <a:lstStyle/>
                    <a:p>
                      <a:pPr marL="0" indent="0">
                        <a:buNone/>
                      </a:pPr>
                      <a:r>
                        <a:rPr lang="en-US" sz="1100" dirty="0">
                          <a:solidFill>
                            <a:schemeClr val="tx1"/>
                          </a:solidFill>
                        </a:rPr>
                        <a:t>04 Oct 07:30</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In Transit</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Chennai Sorting</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Ops Staff</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02920">
                <a:tc>
                  <a:txBody>
                    <a:bodyPr/>
                    <a:lstStyle/>
                    <a:p>
                      <a:pPr marL="0" indent="0">
                        <a:buNone/>
                      </a:pPr>
                      <a:r>
                        <a:rPr lang="en-US" sz="1100" dirty="0">
                          <a:solidFill>
                            <a:schemeClr val="tx1"/>
                          </a:solidFill>
                        </a:rPr>
                        <a:t>05 Oct 09:10</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marL="0" indent="0">
                        <a:buNone/>
                      </a:pPr>
                      <a:r>
                        <a:rPr lang="en-US" sz="1100" b="1" dirty="0">
                          <a:solidFill>
                            <a:schemeClr val="accent1"/>
                          </a:solidFill>
                        </a:rPr>
                        <a:t>Out for Delivery</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Besant Nagar</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Ops Staff</a:t>
                      </a:r>
                      <a:endParaRPr lang="en-US" sz="1100" dirty="0"/>
                    </a:p>
                  </a:txBody>
                  <a:tcPr marL="73152" marR="54864" marT="0" marB="0" anchor="ctr">
                    <a:lnL w="9525" cap="flat" cmpd="sng" algn="ctr">
                      <a:solidFill>
                        <a:srgbClr val="F4F5F7"/>
                      </a:solidFill>
                      <a:prstDash val="solid"/>
                      <a:round/>
                      <a:headEnd type="none" w="med" len="med"/>
                      <a:tailEnd type="none" w="med" len="med"/>
                    </a:lnL>
                    <a:lnR w="9525" cap="flat" cmpd="sng" algn="ctr">
                      <a:solidFill>
                        <a:srgbClr val="F4F5F7"/>
                      </a:solidFill>
                      <a:prstDash val="solid"/>
                      <a:round/>
                      <a:headEnd type="none" w="med" len="med"/>
                      <a:tailEnd type="none" w="med" len="med"/>
                    </a:lnR>
                    <a:lnT w="9525" cap="flat" cmpd="sng" algn="ctr">
                      <a:solidFill>
                        <a:srgbClr val="F4F5F7"/>
                      </a:solidFill>
                      <a:prstDash val="solid"/>
                      <a:round/>
                      <a:headEnd type="none" w="med" len="med"/>
                      <a:tailEnd type="none" w="med" len="med"/>
                    </a:lnT>
                    <a:lnB w="9525" cap="flat" cmpd="sng" algn="ctr">
                      <a:solidFill>
                        <a:srgbClr val="F4F5F7"/>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22" name="text-353"/>
          <p:cNvSpPr txBox="1"/>
          <p:nvPr/>
        </p:nvSpPr>
        <p:spPr>
          <a:xfrm>
            <a:off x="6583680" y="5029200"/>
            <a:ext cx="5059375" cy="640080"/>
          </a:xfrm>
          <a:prstGeom prst="rect">
            <a:avLst/>
          </a:prstGeom>
          <a:noFill/>
          <a:ln/>
        </p:spPr>
        <p:txBody>
          <a:bodyPr wrap="square" lIns="0" tIns="0" rIns="0" bIns="0" rtlCol="0" anchor="t"/>
          <a:lstStyle/>
          <a:p>
            <a:pPr marL="0" indent="0">
              <a:buNone/>
            </a:pPr>
            <a:r>
              <a:rPr lang="en-US" sz="1200" i="1" dirty="0">
                <a:solidFill>
                  <a:schemeClr val="tx2"/>
                </a:solidFill>
              </a:rPr>
              <a:t>Hyderabad → Chennai: the same rows the tracking page and the QR scan draw as a timeline. Locations shortened to fit.</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7498080" cy="868680"/>
          </a:xfrm>
          <a:prstGeom prst="rect">
            <a:avLst/>
          </a:prstGeom>
          <a:noFill/>
          <a:ln/>
        </p:spPr>
        <p:txBody>
          <a:bodyPr wrap="square" lIns="0" tIns="0" rIns="0" bIns="0" rtlCol="0" anchor="ctr"/>
          <a:lstStyle/>
          <a:p>
            <a:pPr marL="0" indent="0" algn="l">
              <a:buNone/>
            </a:pPr>
            <a:r>
              <a:rPr lang="en-US" sz="2800" dirty="0">
                <a:solidFill>
                  <a:schemeClr val="tx1"/>
                </a:solidFill>
                <a:latin typeface="Segoe UI Semibold" pitchFamily="34" charset="0"/>
                <a:ea typeface="Segoe UI Semibold" pitchFamily="34" charset="-122"/>
                <a:cs typeface="Segoe UI Semibold" pitchFamily="34" charset="-120"/>
              </a:rPr>
              <a:t>Aggregates turn bookings into reports</a:t>
            </a:r>
            <a:endParaRPr lang="en-US" sz="2800" dirty="0"/>
          </a:p>
        </p:txBody>
      </p:sp>
      <p:sp>
        <p:nvSpPr>
          <p:cNvPr id="3" name="tracker-rail-354"/>
          <p:cNvSpPr/>
          <p:nvPr/>
        </p:nvSpPr>
        <p:spPr>
          <a:xfrm>
            <a:off x="8458200" y="566928"/>
            <a:ext cx="2926080" cy="0"/>
          </a:xfrm>
          <a:prstGeom prst="line">
            <a:avLst/>
          </a:prstGeom>
          <a:noFill/>
          <a:ln w="31750">
            <a:solidFill>
              <a:srgbClr val="D1D5DB"/>
            </a:solidFill>
            <a:prstDash val="solid"/>
          </a:ln>
        </p:spPr>
      </p:sp>
      <p:sp>
        <p:nvSpPr>
          <p:cNvPr id="4" name="tracker-done-355"/>
          <p:cNvSpPr/>
          <p:nvPr/>
        </p:nvSpPr>
        <p:spPr>
          <a:xfrm>
            <a:off x="8458200" y="566928"/>
            <a:ext cx="1463040" cy="0"/>
          </a:xfrm>
          <a:prstGeom prst="line">
            <a:avLst/>
          </a:prstGeom>
          <a:noFill/>
          <a:ln w="31750">
            <a:solidFill>
              <a:schemeClr val="accent1"/>
            </a:solidFill>
            <a:prstDash val="solid"/>
          </a:ln>
        </p:spPr>
      </p:sp>
      <p:sp>
        <p:nvSpPr>
          <p:cNvPr id="5" name="tracker-dot-356"/>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357"/>
          <p:cNvSpPr txBox="1"/>
          <p:nvPr/>
        </p:nvSpPr>
        <p:spPr>
          <a:xfrm>
            <a:off x="800100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Problem</a:t>
            </a:r>
            <a:endParaRPr lang="en-US" sz="1000" dirty="0"/>
          </a:p>
        </p:txBody>
      </p:sp>
      <p:sp>
        <p:nvSpPr>
          <p:cNvPr id="7" name="tracker-dot-358"/>
          <p:cNvSpPr/>
          <p:nvPr/>
        </p:nvSpPr>
        <p:spPr>
          <a:xfrm>
            <a:off x="9116568" y="493776"/>
            <a:ext cx="146304" cy="146304"/>
          </a:xfrm>
          <a:prstGeom prst="ellipse">
            <a:avLst/>
          </a:prstGeom>
          <a:solidFill>
            <a:schemeClr val="accent1"/>
          </a:solidFill>
          <a:ln w="19050">
            <a:solidFill>
              <a:schemeClr val="accent1"/>
            </a:solidFill>
            <a:prstDash val="solid"/>
          </a:ln>
        </p:spPr>
      </p:sp>
      <p:sp>
        <p:nvSpPr>
          <p:cNvPr id="8" name="text-359"/>
          <p:cNvSpPr txBox="1"/>
          <p:nvPr/>
        </p:nvSpPr>
        <p:spPr>
          <a:xfrm>
            <a:off x="873252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ER &amp; Schema</a:t>
            </a:r>
            <a:endParaRPr lang="en-US" sz="1000" dirty="0"/>
          </a:p>
        </p:txBody>
      </p:sp>
      <p:sp>
        <p:nvSpPr>
          <p:cNvPr id="9" name="tracker-dot-360"/>
          <p:cNvSpPr/>
          <p:nvPr/>
        </p:nvSpPr>
        <p:spPr>
          <a:xfrm>
            <a:off x="9802368" y="448056"/>
            <a:ext cx="237744" cy="237744"/>
          </a:xfrm>
          <a:prstGeom prst="ellipse">
            <a:avLst/>
          </a:prstGeom>
          <a:solidFill>
            <a:schemeClr val="accent1"/>
          </a:solidFill>
          <a:ln w="19050">
            <a:solidFill>
              <a:schemeClr val="accent1"/>
            </a:solidFill>
            <a:prstDash val="solid"/>
          </a:ln>
        </p:spPr>
      </p:sp>
      <p:sp>
        <p:nvSpPr>
          <p:cNvPr id="10" name="text-361"/>
          <p:cNvSpPr txBox="1"/>
          <p:nvPr/>
        </p:nvSpPr>
        <p:spPr>
          <a:xfrm>
            <a:off x="9464040" y="749808"/>
            <a:ext cx="914400" cy="228600"/>
          </a:xfrm>
          <a:prstGeom prst="rect">
            <a:avLst/>
          </a:prstGeom>
          <a:noFill/>
          <a:ln/>
        </p:spPr>
        <p:txBody>
          <a:bodyPr wrap="square" lIns="0" tIns="0" rIns="0" bIns="0" rtlCol="0" anchor="t"/>
          <a:lstStyle/>
          <a:p>
            <a:pPr marL="0" indent="0" algn="ctr">
              <a:buNone/>
            </a:pPr>
            <a:r>
              <a:rPr lang="en-US" sz="1000" b="1" dirty="0">
                <a:solidFill>
                  <a:schemeClr val="accent1"/>
                </a:solidFill>
              </a:rPr>
              <a:t>Database</a:t>
            </a:r>
            <a:endParaRPr lang="en-US" sz="1000" dirty="0"/>
          </a:p>
        </p:txBody>
      </p:sp>
      <p:sp>
        <p:nvSpPr>
          <p:cNvPr id="11" name="tracker-dot-362"/>
          <p:cNvSpPr/>
          <p:nvPr/>
        </p:nvSpPr>
        <p:spPr>
          <a:xfrm>
            <a:off x="10579608" y="493776"/>
            <a:ext cx="146304" cy="146304"/>
          </a:xfrm>
          <a:prstGeom prst="ellipse">
            <a:avLst/>
          </a:prstGeom>
          <a:solidFill>
            <a:schemeClr val="bg1"/>
          </a:solidFill>
          <a:ln w="19050">
            <a:solidFill>
              <a:schemeClr val="accent6"/>
            </a:solidFill>
            <a:prstDash val="solid"/>
          </a:ln>
        </p:spPr>
      </p:sp>
      <p:sp>
        <p:nvSpPr>
          <p:cNvPr id="12" name="text-363"/>
          <p:cNvSpPr txBox="1"/>
          <p:nvPr/>
        </p:nvSpPr>
        <p:spPr>
          <a:xfrm>
            <a:off x="1019556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UI Demo</a:t>
            </a:r>
            <a:endParaRPr lang="en-US" sz="1000" dirty="0"/>
          </a:p>
        </p:txBody>
      </p:sp>
      <p:sp>
        <p:nvSpPr>
          <p:cNvPr id="13" name="tracker-dot-364"/>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365"/>
          <p:cNvSpPr txBox="1"/>
          <p:nvPr/>
        </p:nvSpPr>
        <p:spPr>
          <a:xfrm>
            <a:off x="1092708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Q&amp;A</a:t>
            </a:r>
            <a:endParaRPr lang="en-US" sz="1000" dirty="0"/>
          </a:p>
        </p:txBody>
      </p:sp>
      <p:sp>
        <p:nvSpPr>
          <p:cNvPr id="15" name="status-card-366"/>
          <p:cNvSpPr/>
          <p:nvPr/>
        </p:nvSpPr>
        <p:spPr>
          <a:xfrm>
            <a:off x="548640" y="1417320"/>
            <a:ext cx="6035040" cy="4800600"/>
          </a:xfrm>
          <a:prstGeom prst="roundRect">
            <a:avLst>
              <a:gd name="adj" fmla="val 2286"/>
            </a:avLst>
          </a:prstGeom>
          <a:solidFill>
            <a:schemeClr val="bg1"/>
          </a:solidFill>
          <a:ln/>
          <a:effectLst>
            <a:outerShdw blurRad="101600" dist="25400" dir="5400000" algn="bl" rotWithShape="0">
              <a:srgbClr val="000000">
                <a:alpha val="10000"/>
              </a:srgbClr>
            </a:outerShdw>
          </a:effectLst>
        </p:spPr>
      </p:sp>
      <p:sp>
        <p:nvSpPr>
          <p:cNvPr id="16" name="text-367"/>
          <p:cNvSpPr txBox="1"/>
          <p:nvPr/>
        </p:nvSpPr>
        <p:spPr>
          <a:xfrm>
            <a:off x="822960" y="1572768"/>
            <a:ext cx="5486400" cy="320040"/>
          </a:xfrm>
          <a:prstGeom prst="rect">
            <a:avLst/>
          </a:prstGeom>
          <a:noFill/>
          <a:ln/>
        </p:spPr>
        <p:txBody>
          <a:bodyPr wrap="square" lIns="0" tIns="0" rIns="0" bIns="0" rtlCol="0" anchor="t"/>
          <a:lstStyle/>
          <a:p>
            <a:pPr marL="0" indent="0">
              <a:buNone/>
            </a:pPr>
            <a:r>
              <a:rPr lang="en-US" sz="1500" b="1" dirty="0">
                <a:solidFill>
                  <a:schemeClr val="tx1"/>
                </a:solidFill>
              </a:rPr>
              <a:t>Parcels by current status</a:t>
            </a:r>
            <a:endParaRPr lang="en-US" sz="1500" dirty="0"/>
          </a:p>
        </p:txBody>
      </p:sp>
      <p:sp>
        <p:nvSpPr>
          <p:cNvPr id="17" name="text-368"/>
          <p:cNvSpPr txBox="1"/>
          <p:nvPr/>
        </p:nvSpPr>
        <p:spPr>
          <a:xfrm>
            <a:off x="822960" y="1874520"/>
            <a:ext cx="5486400" cy="274320"/>
          </a:xfrm>
          <a:prstGeom prst="rect">
            <a:avLst/>
          </a:prstGeom>
          <a:noFill/>
          <a:ln/>
        </p:spPr>
        <p:txBody>
          <a:bodyPr wrap="square" lIns="0" tIns="0" rIns="0" bIns="0" rtlCol="0" anchor="t"/>
          <a:lstStyle/>
          <a:p>
            <a:pPr marL="0" indent="0">
              <a:buNone/>
            </a:pPr>
            <a:r>
              <a:rPr lang="en-US" sz="1100" dirty="0">
                <a:solidFill>
                  <a:schemeClr val="accent6"/>
                </a:solidFill>
              </a:rPr>
              <a:t>COUNT(*) with GROUP BY current_status</a:t>
            </a:r>
            <a:endParaRPr lang="en-US" sz="1100" dirty="0"/>
          </a:p>
        </p:txBody>
      </p:sp>
      <p:graphicFrame>
        <p:nvGraphicFramePr>
          <p:cNvPr id="18" name="status-chart"/>
          <p:cNvGraphicFramePr/>
          <p:nvPr/>
        </p:nvGraphicFramePr>
        <p:xfrm>
          <a:off x="685800" y="2240280"/>
          <a:ext cx="576072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369"/>
          <p:cNvSpPr txBox="1"/>
          <p:nvPr/>
        </p:nvSpPr>
        <p:spPr>
          <a:xfrm>
            <a:off x="6858000" y="1417320"/>
            <a:ext cx="4785055" cy="274320"/>
          </a:xfrm>
          <a:prstGeom prst="rect">
            <a:avLst/>
          </a:prstGeom>
          <a:noFill/>
          <a:ln/>
        </p:spPr>
        <p:txBody>
          <a:bodyPr wrap="square" lIns="0" tIns="0" rIns="0" bIns="0" rtlCol="0" anchor="t"/>
          <a:lstStyle/>
          <a:p>
            <a:pPr marL="0" indent="0">
              <a:buNone/>
            </a:pPr>
            <a:r>
              <a:rPr lang="en-US" sz="1100" b="1" kern="0" spc="150" dirty="0">
                <a:solidFill>
                  <a:schemeClr val="accent1"/>
                </a:solidFill>
              </a:rPr>
              <a:t>BOOKINGS PER CUSTOMER · LEFT JOIN + GROUP BY</a:t>
            </a:r>
            <a:endParaRPr lang="en-US" sz="1100" dirty="0"/>
          </a:p>
        </p:txBody>
      </p:sp>
      <p:sp>
        <p:nvSpPr>
          <p:cNvPr id="20" name="text-370"/>
          <p:cNvSpPr txBox="1"/>
          <p:nvPr/>
        </p:nvSpPr>
        <p:spPr>
          <a:xfrm>
            <a:off x="6858000" y="1783080"/>
            <a:ext cx="2377440" cy="384048"/>
          </a:xfrm>
          <a:prstGeom prst="rect">
            <a:avLst/>
          </a:prstGeom>
          <a:noFill/>
          <a:ln/>
        </p:spPr>
        <p:txBody>
          <a:bodyPr wrap="square" lIns="0" tIns="0" rIns="0" bIns="0" rtlCol="0" anchor="ctr"/>
          <a:lstStyle/>
          <a:p>
            <a:pPr marL="0" indent="0">
              <a:buNone/>
            </a:pPr>
            <a:r>
              <a:rPr lang="en-US" sz="1400" dirty="0">
                <a:solidFill>
                  <a:schemeClr val="tx1"/>
                </a:solidFill>
              </a:rPr>
              <a:t>Rahul Sharma</a:t>
            </a:r>
            <a:endParaRPr lang="en-US" sz="1400" dirty="0"/>
          </a:p>
        </p:txBody>
      </p:sp>
      <p:sp>
        <p:nvSpPr>
          <p:cNvPr id="21" name="text-371"/>
          <p:cNvSpPr txBox="1"/>
          <p:nvPr/>
        </p:nvSpPr>
        <p:spPr>
          <a:xfrm>
            <a:off x="9814255" y="1783080"/>
            <a:ext cx="914400" cy="384048"/>
          </a:xfrm>
          <a:prstGeom prst="rect">
            <a:avLst/>
          </a:prstGeom>
          <a:noFill/>
          <a:ln/>
        </p:spPr>
        <p:txBody>
          <a:bodyPr wrap="square" lIns="0" tIns="0" rIns="0" bIns="0" rtlCol="0" anchor="ctr"/>
          <a:lstStyle/>
          <a:p>
            <a:pPr marL="0" indent="0" algn="r">
              <a:buNone/>
            </a:pPr>
            <a:r>
              <a:rPr lang="en-US" sz="1300" dirty="0">
                <a:solidFill>
                  <a:schemeClr val="accent6"/>
                </a:solidFill>
              </a:rPr>
              <a:t>₹500</a:t>
            </a:r>
            <a:endParaRPr lang="en-US" sz="1300" dirty="0"/>
          </a:p>
        </p:txBody>
      </p:sp>
      <p:sp>
        <p:nvSpPr>
          <p:cNvPr id="22" name="text-372"/>
          <p:cNvSpPr txBox="1"/>
          <p:nvPr/>
        </p:nvSpPr>
        <p:spPr>
          <a:xfrm>
            <a:off x="10911535" y="1783080"/>
            <a:ext cx="731520" cy="384048"/>
          </a:xfrm>
          <a:prstGeom prst="rect">
            <a:avLst/>
          </a:prstGeom>
          <a:noFill/>
          <a:ln/>
        </p:spPr>
        <p:txBody>
          <a:bodyPr wrap="square" lIns="0" tIns="0" rIns="0" bIns="0" rtlCol="0" anchor="ctr"/>
          <a:lstStyle/>
          <a:p>
            <a:pPr marL="0" indent="0" algn="r">
              <a:buNone/>
            </a:pPr>
            <a:r>
              <a:rPr lang="en-US" sz="1800" b="1" dirty="0">
                <a:solidFill>
                  <a:schemeClr val="tx1"/>
                </a:solidFill>
              </a:rPr>
              <a:t>5</a:t>
            </a:r>
            <a:endParaRPr lang="en-US" sz="1800" dirty="0"/>
          </a:p>
        </p:txBody>
      </p:sp>
      <p:sp>
        <p:nvSpPr>
          <p:cNvPr id="23" name="text-373"/>
          <p:cNvSpPr txBox="1"/>
          <p:nvPr/>
        </p:nvSpPr>
        <p:spPr>
          <a:xfrm>
            <a:off x="6858000" y="2286000"/>
            <a:ext cx="2377440" cy="384048"/>
          </a:xfrm>
          <a:prstGeom prst="rect">
            <a:avLst/>
          </a:prstGeom>
          <a:noFill/>
          <a:ln/>
        </p:spPr>
        <p:txBody>
          <a:bodyPr wrap="square" lIns="0" tIns="0" rIns="0" bIns="0" rtlCol="0" anchor="ctr"/>
          <a:lstStyle/>
          <a:p>
            <a:pPr marL="0" indent="0">
              <a:buNone/>
            </a:pPr>
            <a:r>
              <a:rPr lang="en-US" sz="1400" dirty="0">
                <a:solidFill>
                  <a:schemeClr val="tx1"/>
                </a:solidFill>
              </a:rPr>
              <a:t>Priya Nair</a:t>
            </a:r>
            <a:endParaRPr lang="en-US" sz="1400" dirty="0"/>
          </a:p>
        </p:txBody>
      </p:sp>
      <p:sp>
        <p:nvSpPr>
          <p:cNvPr id="24" name="text-374"/>
          <p:cNvSpPr txBox="1"/>
          <p:nvPr/>
        </p:nvSpPr>
        <p:spPr>
          <a:xfrm>
            <a:off x="9814255" y="2286000"/>
            <a:ext cx="914400" cy="384048"/>
          </a:xfrm>
          <a:prstGeom prst="rect">
            <a:avLst/>
          </a:prstGeom>
          <a:noFill/>
          <a:ln/>
        </p:spPr>
        <p:txBody>
          <a:bodyPr wrap="square" lIns="0" tIns="0" rIns="0" bIns="0" rtlCol="0" anchor="ctr"/>
          <a:lstStyle/>
          <a:p>
            <a:pPr marL="0" indent="0" algn="r">
              <a:buNone/>
            </a:pPr>
            <a:r>
              <a:rPr lang="en-US" sz="1300" dirty="0">
                <a:solidFill>
                  <a:schemeClr val="accent6"/>
                </a:solidFill>
              </a:rPr>
              <a:t>₹200</a:t>
            </a:r>
            <a:endParaRPr lang="en-US" sz="1300" dirty="0"/>
          </a:p>
        </p:txBody>
      </p:sp>
      <p:sp>
        <p:nvSpPr>
          <p:cNvPr id="25" name="text-375"/>
          <p:cNvSpPr txBox="1"/>
          <p:nvPr/>
        </p:nvSpPr>
        <p:spPr>
          <a:xfrm>
            <a:off x="10911535" y="2286000"/>
            <a:ext cx="731520" cy="384048"/>
          </a:xfrm>
          <a:prstGeom prst="rect">
            <a:avLst/>
          </a:prstGeom>
          <a:noFill/>
          <a:ln/>
        </p:spPr>
        <p:txBody>
          <a:bodyPr wrap="square" lIns="0" tIns="0" rIns="0" bIns="0" rtlCol="0" anchor="ctr"/>
          <a:lstStyle/>
          <a:p>
            <a:pPr marL="0" indent="0" algn="r">
              <a:buNone/>
            </a:pPr>
            <a:r>
              <a:rPr lang="en-US" sz="1800" b="1" dirty="0">
                <a:solidFill>
                  <a:schemeClr val="tx1"/>
                </a:solidFill>
              </a:rPr>
              <a:t>3</a:t>
            </a:r>
            <a:endParaRPr lang="en-US" sz="1800" dirty="0"/>
          </a:p>
        </p:txBody>
      </p:sp>
      <p:sp>
        <p:nvSpPr>
          <p:cNvPr id="26" name="text-376"/>
          <p:cNvSpPr txBox="1"/>
          <p:nvPr/>
        </p:nvSpPr>
        <p:spPr>
          <a:xfrm>
            <a:off x="6858000" y="2788920"/>
            <a:ext cx="2377440" cy="384048"/>
          </a:xfrm>
          <a:prstGeom prst="rect">
            <a:avLst/>
          </a:prstGeom>
          <a:noFill/>
          <a:ln/>
        </p:spPr>
        <p:txBody>
          <a:bodyPr wrap="square" lIns="0" tIns="0" rIns="0" bIns="0" rtlCol="0" anchor="ctr"/>
          <a:lstStyle/>
          <a:p>
            <a:pPr marL="0" indent="0">
              <a:buNone/>
            </a:pPr>
            <a:r>
              <a:rPr lang="en-US" sz="1400" dirty="0">
                <a:solidFill>
                  <a:schemeClr val="tx1"/>
                </a:solidFill>
              </a:rPr>
              <a:t>Arjun Mehta</a:t>
            </a:r>
            <a:endParaRPr lang="en-US" sz="1400" dirty="0"/>
          </a:p>
        </p:txBody>
      </p:sp>
      <p:sp>
        <p:nvSpPr>
          <p:cNvPr id="27" name="text-377"/>
          <p:cNvSpPr txBox="1"/>
          <p:nvPr/>
        </p:nvSpPr>
        <p:spPr>
          <a:xfrm>
            <a:off x="9814255" y="2788920"/>
            <a:ext cx="914400" cy="384048"/>
          </a:xfrm>
          <a:prstGeom prst="rect">
            <a:avLst/>
          </a:prstGeom>
          <a:noFill/>
          <a:ln/>
        </p:spPr>
        <p:txBody>
          <a:bodyPr wrap="square" lIns="0" tIns="0" rIns="0" bIns="0" rtlCol="0" anchor="ctr"/>
          <a:lstStyle/>
          <a:p>
            <a:pPr marL="0" indent="0" algn="r">
              <a:buNone/>
            </a:pPr>
            <a:r>
              <a:rPr lang="en-US" sz="1300" dirty="0">
                <a:solidFill>
                  <a:schemeClr val="accent6"/>
                </a:solidFill>
              </a:rPr>
              <a:t>₹300</a:t>
            </a:r>
            <a:endParaRPr lang="en-US" sz="1300" dirty="0"/>
          </a:p>
        </p:txBody>
      </p:sp>
      <p:sp>
        <p:nvSpPr>
          <p:cNvPr id="28" name="text-378"/>
          <p:cNvSpPr txBox="1"/>
          <p:nvPr/>
        </p:nvSpPr>
        <p:spPr>
          <a:xfrm>
            <a:off x="10911535" y="2788920"/>
            <a:ext cx="731520" cy="384048"/>
          </a:xfrm>
          <a:prstGeom prst="rect">
            <a:avLst/>
          </a:prstGeom>
          <a:noFill/>
          <a:ln/>
        </p:spPr>
        <p:txBody>
          <a:bodyPr wrap="square" lIns="0" tIns="0" rIns="0" bIns="0" rtlCol="0" anchor="ctr"/>
          <a:lstStyle/>
          <a:p>
            <a:pPr marL="0" indent="0" algn="r">
              <a:buNone/>
            </a:pPr>
            <a:r>
              <a:rPr lang="en-US" sz="1800" b="1" dirty="0">
                <a:solidFill>
                  <a:schemeClr val="tx1"/>
                </a:solidFill>
              </a:rPr>
              <a:t>2</a:t>
            </a:r>
            <a:endParaRPr lang="en-US" sz="1800" dirty="0"/>
          </a:p>
        </p:txBody>
      </p:sp>
      <p:sp>
        <p:nvSpPr>
          <p:cNvPr id="29" name="text-379"/>
          <p:cNvSpPr txBox="1"/>
          <p:nvPr/>
        </p:nvSpPr>
        <p:spPr>
          <a:xfrm>
            <a:off x="6858000" y="3291840"/>
            <a:ext cx="2377440" cy="384048"/>
          </a:xfrm>
          <a:prstGeom prst="rect">
            <a:avLst/>
          </a:prstGeom>
          <a:noFill/>
          <a:ln/>
        </p:spPr>
        <p:txBody>
          <a:bodyPr wrap="square" lIns="0" tIns="0" rIns="0" bIns="0" rtlCol="0" anchor="ctr"/>
          <a:lstStyle/>
          <a:p>
            <a:pPr marL="0" indent="0">
              <a:buNone/>
            </a:pPr>
            <a:r>
              <a:rPr lang="en-US" sz="1400" dirty="0">
                <a:solidFill>
                  <a:schemeClr val="tx1"/>
                </a:solidFill>
              </a:rPr>
              <a:t>Sneha Reddy</a:t>
            </a:r>
            <a:endParaRPr lang="en-US" sz="1400" dirty="0"/>
          </a:p>
        </p:txBody>
      </p:sp>
      <p:sp>
        <p:nvSpPr>
          <p:cNvPr id="30" name="text-380"/>
          <p:cNvSpPr txBox="1"/>
          <p:nvPr/>
        </p:nvSpPr>
        <p:spPr>
          <a:xfrm>
            <a:off x="9814255" y="3291840"/>
            <a:ext cx="914400" cy="384048"/>
          </a:xfrm>
          <a:prstGeom prst="rect">
            <a:avLst/>
          </a:prstGeom>
          <a:noFill/>
          <a:ln/>
        </p:spPr>
        <p:txBody>
          <a:bodyPr wrap="square" lIns="0" tIns="0" rIns="0" bIns="0" rtlCol="0" anchor="ctr"/>
          <a:lstStyle/>
          <a:p>
            <a:pPr marL="0" indent="0" algn="r">
              <a:buNone/>
            </a:pPr>
            <a:r>
              <a:rPr lang="en-US" sz="1300" dirty="0">
                <a:solidFill>
                  <a:schemeClr val="accent6"/>
                </a:solidFill>
              </a:rPr>
              <a:t>₹204</a:t>
            </a:r>
            <a:endParaRPr lang="en-US" sz="1300" dirty="0"/>
          </a:p>
        </p:txBody>
      </p:sp>
      <p:sp>
        <p:nvSpPr>
          <p:cNvPr id="31" name="text-381"/>
          <p:cNvSpPr txBox="1"/>
          <p:nvPr/>
        </p:nvSpPr>
        <p:spPr>
          <a:xfrm>
            <a:off x="10911535" y="3291840"/>
            <a:ext cx="731520" cy="384048"/>
          </a:xfrm>
          <a:prstGeom prst="rect">
            <a:avLst/>
          </a:prstGeom>
          <a:noFill/>
          <a:ln/>
        </p:spPr>
        <p:txBody>
          <a:bodyPr wrap="square" lIns="0" tIns="0" rIns="0" bIns="0" rtlCol="0" anchor="ctr"/>
          <a:lstStyle/>
          <a:p>
            <a:pPr marL="0" indent="0" algn="r">
              <a:buNone/>
            </a:pPr>
            <a:r>
              <a:rPr lang="en-US" sz="1800" b="1" dirty="0">
                <a:solidFill>
                  <a:schemeClr val="tx1"/>
                </a:solidFill>
              </a:rPr>
              <a:t>2</a:t>
            </a:r>
            <a:endParaRPr lang="en-US" sz="1800" dirty="0"/>
          </a:p>
        </p:txBody>
      </p:sp>
      <p:sp>
        <p:nvSpPr>
          <p:cNvPr id="32" name="code-card-382"/>
          <p:cNvSpPr/>
          <p:nvPr/>
        </p:nvSpPr>
        <p:spPr>
          <a:xfrm>
            <a:off x="6858000" y="3931920"/>
            <a:ext cx="4785055" cy="1325880"/>
          </a:xfrm>
          <a:prstGeom prst="roundRect">
            <a:avLst>
              <a:gd name="adj" fmla="val 8276"/>
            </a:avLst>
          </a:prstGeom>
          <a:solidFill>
            <a:schemeClr val="tx1"/>
          </a:solidFill>
          <a:ln/>
          <a:effectLst>
            <a:outerShdw blurRad="101600" dist="25400" dir="5400000" algn="bl" rotWithShape="0">
              <a:srgbClr val="000000">
                <a:alpha val="10000"/>
              </a:srgbClr>
            </a:outerShdw>
          </a:effectLst>
        </p:spPr>
      </p:sp>
      <p:sp>
        <p:nvSpPr>
          <p:cNvPr id="33" name="text-383"/>
          <p:cNvSpPr txBox="1"/>
          <p:nvPr/>
        </p:nvSpPr>
        <p:spPr>
          <a:xfrm>
            <a:off x="7132320" y="4096512"/>
            <a:ext cx="2743200" cy="228600"/>
          </a:xfrm>
          <a:prstGeom prst="rect">
            <a:avLst/>
          </a:prstGeom>
          <a:noFill/>
          <a:ln/>
        </p:spPr>
        <p:txBody>
          <a:bodyPr wrap="square" lIns="0" tIns="0" rIns="0" bIns="0" rtlCol="0" anchor="t"/>
          <a:lstStyle/>
          <a:p>
            <a:pPr marL="0" indent="0">
              <a:buNone/>
            </a:pPr>
            <a:r>
              <a:rPr lang="en-US" sz="1000" b="1" kern="0" spc="150" dirty="0">
                <a:solidFill>
                  <a:schemeClr val="accent1"/>
                </a:solidFill>
              </a:rPr>
              <a:t>THE CHART'S QUERY</a:t>
            </a:r>
            <a:endParaRPr lang="en-US" sz="1000" dirty="0"/>
          </a:p>
        </p:txBody>
      </p:sp>
      <p:sp>
        <p:nvSpPr>
          <p:cNvPr id="34" name="code-384"/>
          <p:cNvSpPr txBox="1"/>
          <p:nvPr/>
        </p:nvSpPr>
        <p:spPr>
          <a:xfrm>
            <a:off x="7132320" y="4389120"/>
            <a:ext cx="4327855" cy="731520"/>
          </a:xfrm>
          <a:prstGeom prst="rect">
            <a:avLst/>
          </a:prstGeom>
          <a:noFill/>
          <a:ln/>
        </p:spPr>
        <p:txBody>
          <a:bodyPr wrap="square" lIns="0" tIns="0" rIns="0" bIns="0" rtlCol="0" anchor="t"/>
          <a:lstStyle/>
          <a:p>
            <a:pPr marL="0" indent="0">
              <a:lnSpc>
                <a:spcPct val="105000"/>
              </a:lnSpc>
              <a:buNone/>
            </a:pPr>
            <a:r>
              <a:rPr lang="en-US" sz="1200" dirty="0">
                <a:solidFill>
                  <a:schemeClr val="accent1"/>
                </a:solidFill>
                <a:latin typeface="Consolas" pitchFamily="34" charset="0"/>
                <a:ea typeface="Consolas" pitchFamily="34" charset="-122"/>
                <a:cs typeface="Consolas" pitchFamily="34" charset="-120"/>
              </a:rPr>
              <a:t>SELECT</a:t>
            </a:r>
            <a:r>
              <a:rPr lang="en-US" sz="1200" dirty="0">
                <a:solidFill>
                  <a:schemeClr val="bg2"/>
                </a:solidFill>
                <a:latin typeface="Consolas" pitchFamily="34" charset="0"/>
                <a:ea typeface="Consolas" pitchFamily="34" charset="-122"/>
                <a:cs typeface="Consolas" pitchFamily="34" charset="-120"/>
              </a:rPr>
              <a:t> current_status, </a:t>
            </a:r>
            <a:r>
              <a:rPr lang="en-US" sz="1200" dirty="0">
                <a:solidFill>
                  <a:schemeClr val="accent1"/>
                </a:solidFill>
                <a:latin typeface="Consolas" pitchFamily="34" charset="0"/>
                <a:ea typeface="Consolas" pitchFamily="34" charset="-122"/>
                <a:cs typeface="Consolas" pitchFamily="34" charset="-120"/>
              </a:rPr>
              <a:t>COUNT</a:t>
            </a:r>
            <a:r>
              <a:rPr lang="en-US" sz="1200" dirty="0">
                <a:solidFill>
                  <a:schemeClr val="bg2"/>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chemeClr val="accent1"/>
                </a:solidFill>
                <a:latin typeface="Consolas" pitchFamily="34" charset="0"/>
                <a:ea typeface="Consolas" pitchFamily="34" charset="-122"/>
                <a:cs typeface="Consolas" pitchFamily="34" charset="-120"/>
              </a:rPr>
              <a:t>FROM</a:t>
            </a:r>
            <a:r>
              <a:rPr lang="en-US" sz="1200" dirty="0">
                <a:solidFill>
                  <a:schemeClr val="bg2"/>
                </a:solidFill>
                <a:latin typeface="Consolas" pitchFamily="34" charset="0"/>
                <a:ea typeface="Consolas" pitchFamily="34" charset="-122"/>
                <a:cs typeface="Consolas" pitchFamily="34" charset="-120"/>
              </a:rPr>
              <a:t> parcels</a:t>
            </a:r>
            <a:endParaRPr lang="en-US" sz="1200" dirty="0"/>
          </a:p>
          <a:p>
            <a:pPr marL="0" indent="0">
              <a:lnSpc>
                <a:spcPct val="105000"/>
              </a:lnSpc>
              <a:buNone/>
            </a:pPr>
            <a:r>
              <a:rPr lang="en-US" sz="1200" dirty="0">
                <a:solidFill>
                  <a:schemeClr val="accent1"/>
                </a:solidFill>
                <a:latin typeface="Consolas" pitchFamily="34" charset="0"/>
                <a:ea typeface="Consolas" pitchFamily="34" charset="-122"/>
                <a:cs typeface="Consolas" pitchFamily="34" charset="-120"/>
              </a:rPr>
              <a:t>GROUP</a:t>
            </a:r>
            <a:r>
              <a:rPr lang="en-US" sz="1200" dirty="0">
                <a:solidFill>
                  <a:schemeClr val="bg2"/>
                </a:solidFill>
                <a:latin typeface="Consolas" pitchFamily="34" charset="0"/>
                <a:ea typeface="Consolas" pitchFamily="34" charset="-122"/>
                <a:cs typeface="Consolas" pitchFamily="34" charset="-120"/>
              </a:rPr>
              <a:t> </a:t>
            </a:r>
            <a:r>
              <a:rPr lang="en-US" sz="1200" dirty="0">
                <a:solidFill>
                  <a:schemeClr val="accent1"/>
                </a:solidFill>
                <a:latin typeface="Consolas" pitchFamily="34" charset="0"/>
                <a:ea typeface="Consolas" pitchFamily="34" charset="-122"/>
                <a:cs typeface="Consolas" pitchFamily="34" charset="-120"/>
              </a:rPr>
              <a:t>BY</a:t>
            </a:r>
            <a:r>
              <a:rPr lang="en-US" sz="1200" dirty="0">
                <a:solidFill>
                  <a:schemeClr val="bg2"/>
                </a:solidFill>
                <a:latin typeface="Consolas" pitchFamily="34" charset="0"/>
                <a:ea typeface="Consolas" pitchFamily="34" charset="-122"/>
                <a:cs typeface="Consolas" pitchFamily="34" charset="-120"/>
              </a:rPr>
              <a:t> current_status;</a:t>
            </a:r>
            <a:endParaRPr lang="en-US" sz="1200" dirty="0"/>
          </a:p>
        </p:txBody>
      </p:sp>
      <p:sp>
        <p:nvSpPr>
          <p:cNvPr id="35" name="text-385"/>
          <p:cNvSpPr txBox="1"/>
          <p:nvPr/>
        </p:nvSpPr>
        <p:spPr>
          <a:xfrm>
            <a:off x="6858000" y="5440680"/>
            <a:ext cx="4785055" cy="731520"/>
          </a:xfrm>
          <a:prstGeom prst="rect">
            <a:avLst/>
          </a:prstGeom>
          <a:noFill/>
          <a:ln/>
        </p:spPr>
        <p:txBody>
          <a:bodyPr wrap="square" lIns="0" tIns="0" rIns="0" bIns="0" rtlCol="0" anchor="t"/>
          <a:lstStyle/>
          <a:p>
            <a:pPr marL="0" indent="0">
              <a:buNone/>
            </a:pPr>
            <a:r>
              <a:rPr lang="en-US" sz="1200" b="1" dirty="0">
                <a:solidFill>
                  <a:schemeClr val="accent1"/>
                </a:solidFill>
              </a:rPr>
              <a:t>Revenue </a:t>
            </a:r>
            <a:r>
              <a:rPr lang="en-US" sz="1200" dirty="0">
                <a:solidFill>
                  <a:schemeClr val="tx2"/>
                </a:solidFill>
              </a:rPr>
              <a:t>SUM(amount) WHERE payment_status = 'Paid': ₹780.</a:t>
            </a:r>
            <a:endParaRPr lang="en-US" sz="1200" dirty="0"/>
          </a:p>
          <a:p>
            <a:pPr marL="0" indent="0">
              <a:buNone/>
            </a:pPr>
            <a:r>
              <a:rPr lang="en-US" sz="1200" b="1" dirty="0">
                <a:solidFill>
                  <a:schemeClr val="accent1"/>
                </a:solidFill>
              </a:rPr>
              <a:t>HAVING </a:t>
            </a:r>
            <a:r>
              <a:rPr lang="en-US" sz="1200" dirty="0">
                <a:solidFill>
                  <a:schemeClr val="tx2"/>
                </a:solidFill>
              </a:rPr>
              <a:t>COUNT(*) &gt; 1 lists customers with repeat bookings.</a:t>
            </a:r>
            <a:endParaRPr lang="en-US" sz="1200" dirty="0"/>
          </a:p>
        </p:txBody>
      </p:sp>
      <p:sp>
        <p:nvSpPr>
          <p:cNvPr id="36"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7498080" cy="868680"/>
          </a:xfrm>
          <a:prstGeom prst="rect">
            <a:avLst/>
          </a:prstGeom>
          <a:noFill/>
          <a:ln/>
        </p:spPr>
        <p:txBody>
          <a:bodyPr wrap="square" lIns="0" tIns="0" rIns="0" bIns="0" rtlCol="0" anchor="ctr"/>
          <a:lstStyle/>
          <a:p>
            <a:pPr marL="0" indent="0" algn="l">
              <a:buNone/>
            </a:pPr>
            <a:r>
              <a:rPr lang="en-US" sz="2800" dirty="0">
                <a:solidFill>
                  <a:schemeClr val="tx1"/>
                </a:solidFill>
                <a:latin typeface="Segoe UI Semibold" pitchFamily="34" charset="0"/>
                <a:ea typeface="Segoe UI Semibold" pitchFamily="34" charset="-122"/>
                <a:cs typeface="Segoe UI Semibold" pitchFamily="34" charset="-120"/>
              </a:rPr>
              <a:t>A web UI wired straight to MySQL</a:t>
            </a:r>
            <a:endParaRPr lang="en-US" sz="2800" dirty="0"/>
          </a:p>
        </p:txBody>
      </p:sp>
      <p:sp>
        <p:nvSpPr>
          <p:cNvPr id="3" name="tracker-rail-386"/>
          <p:cNvSpPr/>
          <p:nvPr/>
        </p:nvSpPr>
        <p:spPr>
          <a:xfrm>
            <a:off x="8458200" y="566928"/>
            <a:ext cx="2926080" cy="0"/>
          </a:xfrm>
          <a:prstGeom prst="line">
            <a:avLst/>
          </a:prstGeom>
          <a:noFill/>
          <a:ln w="31750">
            <a:solidFill>
              <a:srgbClr val="D1D5DB"/>
            </a:solidFill>
            <a:prstDash val="solid"/>
          </a:ln>
        </p:spPr>
      </p:sp>
      <p:sp>
        <p:nvSpPr>
          <p:cNvPr id="4" name="tracker-done-387"/>
          <p:cNvSpPr/>
          <p:nvPr/>
        </p:nvSpPr>
        <p:spPr>
          <a:xfrm>
            <a:off x="8458200" y="566928"/>
            <a:ext cx="2194560" cy="0"/>
          </a:xfrm>
          <a:prstGeom prst="line">
            <a:avLst/>
          </a:prstGeom>
          <a:noFill/>
          <a:ln w="31750">
            <a:solidFill>
              <a:schemeClr val="accent1"/>
            </a:solidFill>
            <a:prstDash val="solid"/>
          </a:ln>
        </p:spPr>
      </p:sp>
      <p:sp>
        <p:nvSpPr>
          <p:cNvPr id="5" name="tracker-dot-388"/>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389"/>
          <p:cNvSpPr txBox="1"/>
          <p:nvPr/>
        </p:nvSpPr>
        <p:spPr>
          <a:xfrm>
            <a:off x="800100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Problem</a:t>
            </a:r>
            <a:endParaRPr lang="en-US" sz="1000" dirty="0"/>
          </a:p>
        </p:txBody>
      </p:sp>
      <p:sp>
        <p:nvSpPr>
          <p:cNvPr id="7" name="tracker-dot-390"/>
          <p:cNvSpPr/>
          <p:nvPr/>
        </p:nvSpPr>
        <p:spPr>
          <a:xfrm>
            <a:off x="9116568" y="493776"/>
            <a:ext cx="146304" cy="146304"/>
          </a:xfrm>
          <a:prstGeom prst="ellipse">
            <a:avLst/>
          </a:prstGeom>
          <a:solidFill>
            <a:schemeClr val="accent1"/>
          </a:solidFill>
          <a:ln w="19050">
            <a:solidFill>
              <a:schemeClr val="accent1"/>
            </a:solidFill>
            <a:prstDash val="solid"/>
          </a:ln>
        </p:spPr>
      </p:sp>
      <p:sp>
        <p:nvSpPr>
          <p:cNvPr id="8" name="text-391"/>
          <p:cNvSpPr txBox="1"/>
          <p:nvPr/>
        </p:nvSpPr>
        <p:spPr>
          <a:xfrm>
            <a:off x="873252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ER &amp; Schema</a:t>
            </a:r>
            <a:endParaRPr lang="en-US" sz="1000" dirty="0"/>
          </a:p>
        </p:txBody>
      </p:sp>
      <p:sp>
        <p:nvSpPr>
          <p:cNvPr id="9" name="tracker-dot-392"/>
          <p:cNvSpPr/>
          <p:nvPr/>
        </p:nvSpPr>
        <p:spPr>
          <a:xfrm>
            <a:off x="9848088" y="493776"/>
            <a:ext cx="146304" cy="146304"/>
          </a:xfrm>
          <a:prstGeom prst="ellipse">
            <a:avLst/>
          </a:prstGeom>
          <a:solidFill>
            <a:schemeClr val="accent1"/>
          </a:solidFill>
          <a:ln w="19050">
            <a:solidFill>
              <a:schemeClr val="accent1"/>
            </a:solidFill>
            <a:prstDash val="solid"/>
          </a:ln>
        </p:spPr>
      </p:sp>
      <p:sp>
        <p:nvSpPr>
          <p:cNvPr id="10" name="text-393"/>
          <p:cNvSpPr txBox="1"/>
          <p:nvPr/>
        </p:nvSpPr>
        <p:spPr>
          <a:xfrm>
            <a:off x="946404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Database</a:t>
            </a:r>
            <a:endParaRPr lang="en-US" sz="1000" dirty="0"/>
          </a:p>
        </p:txBody>
      </p:sp>
      <p:sp>
        <p:nvSpPr>
          <p:cNvPr id="11" name="tracker-dot-394"/>
          <p:cNvSpPr/>
          <p:nvPr/>
        </p:nvSpPr>
        <p:spPr>
          <a:xfrm>
            <a:off x="10533888" y="448056"/>
            <a:ext cx="237744" cy="237744"/>
          </a:xfrm>
          <a:prstGeom prst="ellipse">
            <a:avLst/>
          </a:prstGeom>
          <a:solidFill>
            <a:schemeClr val="accent1"/>
          </a:solidFill>
          <a:ln w="19050">
            <a:solidFill>
              <a:schemeClr val="accent1"/>
            </a:solidFill>
            <a:prstDash val="solid"/>
          </a:ln>
        </p:spPr>
      </p:sp>
      <p:sp>
        <p:nvSpPr>
          <p:cNvPr id="12" name="text-395"/>
          <p:cNvSpPr txBox="1"/>
          <p:nvPr/>
        </p:nvSpPr>
        <p:spPr>
          <a:xfrm>
            <a:off x="10195560" y="749808"/>
            <a:ext cx="914400" cy="228600"/>
          </a:xfrm>
          <a:prstGeom prst="rect">
            <a:avLst/>
          </a:prstGeom>
          <a:noFill/>
          <a:ln/>
        </p:spPr>
        <p:txBody>
          <a:bodyPr wrap="square" lIns="0" tIns="0" rIns="0" bIns="0" rtlCol="0" anchor="t"/>
          <a:lstStyle/>
          <a:p>
            <a:pPr marL="0" indent="0" algn="ctr">
              <a:buNone/>
            </a:pPr>
            <a:r>
              <a:rPr lang="en-US" sz="1000" b="1" dirty="0">
                <a:solidFill>
                  <a:schemeClr val="accent1"/>
                </a:solidFill>
              </a:rPr>
              <a:t>UI Demo</a:t>
            </a:r>
            <a:endParaRPr lang="en-US" sz="1000" dirty="0"/>
          </a:p>
        </p:txBody>
      </p:sp>
      <p:sp>
        <p:nvSpPr>
          <p:cNvPr id="13" name="tracker-dot-396"/>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397"/>
          <p:cNvSpPr txBox="1"/>
          <p:nvPr/>
        </p:nvSpPr>
        <p:spPr>
          <a:xfrm>
            <a:off x="1092708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Q&amp;A</a:t>
            </a:r>
            <a:endParaRPr lang="en-US" sz="1000" dirty="0"/>
          </a:p>
        </p:txBody>
      </p:sp>
      <p:sp>
        <p:nvSpPr>
          <p:cNvPr id="15" name="arch-node-398"/>
          <p:cNvSpPr/>
          <p:nvPr/>
        </p:nvSpPr>
        <p:spPr>
          <a:xfrm>
            <a:off x="548640" y="1463040"/>
            <a:ext cx="2331720" cy="1600200"/>
          </a:xfrm>
          <a:prstGeom prst="roundRect">
            <a:avLst>
              <a:gd name="adj" fmla="val 6857"/>
            </a:avLst>
          </a:prstGeom>
          <a:solidFill>
            <a:schemeClr val="bg1"/>
          </a:solidFill>
          <a:ln w="12700">
            <a:solidFill>
              <a:srgbClr val="F4F5F7"/>
            </a:solidFill>
            <a:prstDash val="solid"/>
          </a:ln>
          <a:effectLst>
            <a:outerShdw blurRad="101600" dist="25400" dir="5400000" algn="bl" rotWithShape="0">
              <a:srgbClr val="000000">
                <a:alpha val="10000"/>
              </a:srgbClr>
            </a:outerShdw>
          </a:effectLst>
        </p:spPr>
      </p:sp>
      <p:sp>
        <p:nvSpPr>
          <p:cNvPr id="16" name="badge-399"/>
          <p:cNvSpPr/>
          <p:nvPr/>
        </p:nvSpPr>
        <p:spPr>
          <a:xfrm>
            <a:off x="777240" y="1664208"/>
            <a:ext cx="548640" cy="548640"/>
          </a:xfrm>
          <a:prstGeom prst="ellipse">
            <a:avLst/>
          </a:prstGeom>
          <a:solidFill>
            <a:schemeClr val="tx1"/>
          </a:solidFill>
          <a:ln/>
        </p:spPr>
      </p:sp>
      <p:pic>
        <p:nvPicPr>
          <p:cNvPr id="17" name="icon-LuMonitor-400" descr="C:\Users\srest\AppData\Local\Temp\claude\C--Users-srest\52e86171-7f3f-4f9f-8710-1b05dd1b2558\scratchpad\deck\icons\LuMonitor_w.png"/>
          <p:cNvPicPr>
            <a:picLocks noChangeAspect="1"/>
          </p:cNvPicPr>
          <p:nvPr/>
        </p:nvPicPr>
        <p:blipFill>
          <a:blip r:embed="rId3"/>
          <a:stretch>
            <a:fillRect/>
          </a:stretch>
        </p:blipFill>
        <p:spPr>
          <a:xfrm>
            <a:off x="897941" y="1784909"/>
            <a:ext cx="307238" cy="307238"/>
          </a:xfrm>
          <a:prstGeom prst="rect">
            <a:avLst/>
          </a:prstGeom>
        </p:spPr>
      </p:pic>
      <p:sp>
        <p:nvSpPr>
          <p:cNvPr id="18" name="text-401"/>
          <p:cNvSpPr txBox="1"/>
          <p:nvPr/>
        </p:nvSpPr>
        <p:spPr>
          <a:xfrm>
            <a:off x="777240" y="2331720"/>
            <a:ext cx="1965960" cy="320040"/>
          </a:xfrm>
          <a:prstGeom prst="rect">
            <a:avLst/>
          </a:prstGeom>
          <a:noFill/>
          <a:ln/>
        </p:spPr>
        <p:txBody>
          <a:bodyPr wrap="square" lIns="0" tIns="0" rIns="0" bIns="0" rtlCol="0" anchor="t"/>
          <a:lstStyle/>
          <a:p>
            <a:pPr marL="0" indent="0">
              <a:buNone/>
            </a:pPr>
            <a:r>
              <a:rPr lang="en-US" sz="1600" b="1" dirty="0">
                <a:solidFill>
                  <a:schemeClr val="tx1"/>
                </a:solidFill>
              </a:rPr>
              <a:t>Browser</a:t>
            </a:r>
            <a:endParaRPr lang="en-US" sz="1600" dirty="0"/>
          </a:p>
        </p:txBody>
      </p:sp>
      <p:sp>
        <p:nvSpPr>
          <p:cNvPr id="19" name="text-402"/>
          <p:cNvSpPr txBox="1"/>
          <p:nvPr/>
        </p:nvSpPr>
        <p:spPr>
          <a:xfrm>
            <a:off x="777240" y="2651760"/>
            <a:ext cx="1965960" cy="320040"/>
          </a:xfrm>
          <a:prstGeom prst="rect">
            <a:avLst/>
          </a:prstGeom>
          <a:noFill/>
          <a:ln/>
        </p:spPr>
        <p:txBody>
          <a:bodyPr wrap="square" lIns="0" tIns="0" rIns="0" bIns="0" rtlCol="0" anchor="t"/>
          <a:lstStyle/>
          <a:p>
            <a:pPr marL="0" indent="0">
              <a:buNone/>
            </a:pPr>
            <a:r>
              <a:rPr lang="en-US" sz="1100" dirty="0">
                <a:solidFill>
                  <a:schemeClr val="accent6"/>
                </a:solidFill>
              </a:rPr>
              <a:t>HTML, CSS, Bootstrap, JS</a:t>
            </a:r>
            <a:endParaRPr lang="en-US" sz="1100" dirty="0"/>
          </a:p>
        </p:txBody>
      </p:sp>
      <p:sp>
        <p:nvSpPr>
          <p:cNvPr id="20" name="arch-arrow-403"/>
          <p:cNvSpPr/>
          <p:nvPr/>
        </p:nvSpPr>
        <p:spPr>
          <a:xfrm>
            <a:off x="2992069" y="2148840"/>
            <a:ext cx="365760" cy="274320"/>
          </a:xfrm>
          <a:prstGeom prst="rightArrow">
            <a:avLst/>
          </a:prstGeom>
          <a:solidFill>
            <a:schemeClr val="accent1"/>
          </a:solidFill>
          <a:ln/>
        </p:spPr>
      </p:sp>
      <p:sp>
        <p:nvSpPr>
          <p:cNvPr id="21" name="arch-node-404"/>
          <p:cNvSpPr/>
          <p:nvPr/>
        </p:nvSpPr>
        <p:spPr>
          <a:xfrm>
            <a:off x="3469538" y="1463040"/>
            <a:ext cx="2331720" cy="1600200"/>
          </a:xfrm>
          <a:prstGeom prst="roundRect">
            <a:avLst>
              <a:gd name="adj" fmla="val 6857"/>
            </a:avLst>
          </a:prstGeom>
          <a:solidFill>
            <a:schemeClr val="bg1"/>
          </a:solidFill>
          <a:ln w="12700">
            <a:solidFill>
              <a:srgbClr val="F4F5F7"/>
            </a:solidFill>
            <a:prstDash val="solid"/>
          </a:ln>
          <a:effectLst>
            <a:outerShdw blurRad="101600" dist="25400" dir="5400000" algn="bl" rotWithShape="0">
              <a:srgbClr val="000000">
                <a:alpha val="10000"/>
              </a:srgbClr>
            </a:outerShdw>
          </a:effectLst>
        </p:spPr>
      </p:sp>
      <p:sp>
        <p:nvSpPr>
          <p:cNvPr id="22" name="badge-405"/>
          <p:cNvSpPr/>
          <p:nvPr/>
        </p:nvSpPr>
        <p:spPr>
          <a:xfrm>
            <a:off x="3698138" y="1664208"/>
            <a:ext cx="548640" cy="548640"/>
          </a:xfrm>
          <a:prstGeom prst="ellipse">
            <a:avLst/>
          </a:prstGeom>
          <a:solidFill>
            <a:schemeClr val="tx1"/>
          </a:solidFill>
          <a:ln/>
        </p:spPr>
      </p:sp>
      <p:pic>
        <p:nvPicPr>
          <p:cNvPr id="23" name="icon-LuServer-406" descr="C:\Users\srest\AppData\Local\Temp\claude\C--Users-srest\52e86171-7f3f-4f9f-8710-1b05dd1b2558\scratchpad\deck\icons\LuServer_w.png"/>
          <p:cNvPicPr>
            <a:picLocks noChangeAspect="1"/>
          </p:cNvPicPr>
          <p:nvPr/>
        </p:nvPicPr>
        <p:blipFill>
          <a:blip r:embed="rId4"/>
          <a:stretch>
            <a:fillRect/>
          </a:stretch>
        </p:blipFill>
        <p:spPr>
          <a:xfrm>
            <a:off x="3818839" y="1784909"/>
            <a:ext cx="307238" cy="307238"/>
          </a:xfrm>
          <a:prstGeom prst="rect">
            <a:avLst/>
          </a:prstGeom>
        </p:spPr>
      </p:pic>
      <p:sp>
        <p:nvSpPr>
          <p:cNvPr id="24" name="text-407"/>
          <p:cNvSpPr txBox="1"/>
          <p:nvPr/>
        </p:nvSpPr>
        <p:spPr>
          <a:xfrm>
            <a:off x="3698138" y="2331720"/>
            <a:ext cx="1965960" cy="320040"/>
          </a:xfrm>
          <a:prstGeom prst="rect">
            <a:avLst/>
          </a:prstGeom>
          <a:noFill/>
          <a:ln/>
        </p:spPr>
        <p:txBody>
          <a:bodyPr wrap="square" lIns="0" tIns="0" rIns="0" bIns="0" rtlCol="0" anchor="t"/>
          <a:lstStyle/>
          <a:p>
            <a:pPr marL="0" indent="0">
              <a:buNone/>
            </a:pPr>
            <a:r>
              <a:rPr lang="en-US" sz="1600" b="1" dirty="0">
                <a:solidFill>
                  <a:schemeClr val="tx1"/>
                </a:solidFill>
              </a:rPr>
              <a:t>PHP 8 on Apache</a:t>
            </a:r>
            <a:endParaRPr lang="en-US" sz="1600" dirty="0"/>
          </a:p>
        </p:txBody>
      </p:sp>
      <p:sp>
        <p:nvSpPr>
          <p:cNvPr id="25" name="text-408"/>
          <p:cNvSpPr txBox="1"/>
          <p:nvPr/>
        </p:nvSpPr>
        <p:spPr>
          <a:xfrm>
            <a:off x="3698138" y="2651760"/>
            <a:ext cx="1965960" cy="320040"/>
          </a:xfrm>
          <a:prstGeom prst="rect">
            <a:avLst/>
          </a:prstGeom>
          <a:noFill/>
          <a:ln/>
        </p:spPr>
        <p:txBody>
          <a:bodyPr wrap="square" lIns="0" tIns="0" rIns="0" bIns="0" rtlCol="0" anchor="t"/>
          <a:lstStyle/>
          <a:p>
            <a:pPr marL="0" indent="0">
              <a:buNone/>
            </a:pPr>
            <a:r>
              <a:rPr lang="en-US" sz="1100" dirty="0">
                <a:solidFill>
                  <a:schemeClr val="accent6"/>
                </a:solidFill>
              </a:rPr>
              <a:t>XAMPP · 14 pages</a:t>
            </a:r>
            <a:endParaRPr lang="en-US" sz="1100" dirty="0"/>
          </a:p>
        </p:txBody>
      </p:sp>
      <p:sp>
        <p:nvSpPr>
          <p:cNvPr id="26" name="arch-arrow-409"/>
          <p:cNvSpPr/>
          <p:nvPr/>
        </p:nvSpPr>
        <p:spPr>
          <a:xfrm>
            <a:off x="5912968" y="2148840"/>
            <a:ext cx="365760" cy="274320"/>
          </a:xfrm>
          <a:prstGeom prst="rightArrow">
            <a:avLst/>
          </a:prstGeom>
          <a:solidFill>
            <a:schemeClr val="accent1"/>
          </a:solidFill>
          <a:ln/>
        </p:spPr>
      </p:sp>
      <p:sp>
        <p:nvSpPr>
          <p:cNvPr id="27" name="arch-node-410"/>
          <p:cNvSpPr/>
          <p:nvPr/>
        </p:nvSpPr>
        <p:spPr>
          <a:xfrm>
            <a:off x="6390437" y="1463040"/>
            <a:ext cx="2331720" cy="1600200"/>
          </a:xfrm>
          <a:prstGeom prst="roundRect">
            <a:avLst>
              <a:gd name="adj" fmla="val 6857"/>
            </a:avLst>
          </a:prstGeom>
          <a:solidFill>
            <a:schemeClr val="bg1"/>
          </a:solidFill>
          <a:ln w="12700">
            <a:solidFill>
              <a:srgbClr val="F4F5F7"/>
            </a:solidFill>
            <a:prstDash val="solid"/>
          </a:ln>
          <a:effectLst>
            <a:outerShdw blurRad="101600" dist="25400" dir="5400000" algn="bl" rotWithShape="0">
              <a:srgbClr val="000000">
                <a:alpha val="10000"/>
              </a:srgbClr>
            </a:outerShdw>
          </a:effectLst>
        </p:spPr>
      </p:sp>
      <p:sp>
        <p:nvSpPr>
          <p:cNvPr id="28" name="badge-411"/>
          <p:cNvSpPr/>
          <p:nvPr/>
        </p:nvSpPr>
        <p:spPr>
          <a:xfrm>
            <a:off x="6619037" y="1664208"/>
            <a:ext cx="548640" cy="548640"/>
          </a:xfrm>
          <a:prstGeom prst="ellipse">
            <a:avLst/>
          </a:prstGeom>
          <a:solidFill>
            <a:schemeClr val="tx1"/>
          </a:solidFill>
          <a:ln/>
        </p:spPr>
      </p:sp>
      <p:pic>
        <p:nvPicPr>
          <p:cNvPr id="29" name="icon-LuCode-412" descr="C:\Users\srest\AppData\Local\Temp\claude\C--Users-srest\52e86171-7f3f-4f9f-8710-1b05dd1b2558\scratchpad\deck\icons\LuCode_w.png"/>
          <p:cNvPicPr>
            <a:picLocks noChangeAspect="1"/>
          </p:cNvPicPr>
          <p:nvPr/>
        </p:nvPicPr>
        <p:blipFill>
          <a:blip r:embed="rId5"/>
          <a:stretch>
            <a:fillRect/>
          </a:stretch>
        </p:blipFill>
        <p:spPr>
          <a:xfrm>
            <a:off x="6739738" y="1784909"/>
            <a:ext cx="307238" cy="307238"/>
          </a:xfrm>
          <a:prstGeom prst="rect">
            <a:avLst/>
          </a:prstGeom>
        </p:spPr>
      </p:pic>
      <p:sp>
        <p:nvSpPr>
          <p:cNvPr id="30" name="text-413"/>
          <p:cNvSpPr txBox="1"/>
          <p:nvPr/>
        </p:nvSpPr>
        <p:spPr>
          <a:xfrm>
            <a:off x="6619037" y="2331720"/>
            <a:ext cx="1965960" cy="320040"/>
          </a:xfrm>
          <a:prstGeom prst="rect">
            <a:avLst/>
          </a:prstGeom>
          <a:noFill/>
          <a:ln/>
        </p:spPr>
        <p:txBody>
          <a:bodyPr wrap="square" lIns="0" tIns="0" rIns="0" bIns="0" rtlCol="0" anchor="t"/>
          <a:lstStyle/>
          <a:p>
            <a:pPr marL="0" indent="0">
              <a:buNone/>
            </a:pPr>
            <a:r>
              <a:rPr lang="en-US" sz="1600" b="1" dirty="0">
                <a:solidFill>
                  <a:schemeClr val="tx1"/>
                </a:solidFill>
              </a:rPr>
              <a:t>MySQLi</a:t>
            </a:r>
            <a:endParaRPr lang="en-US" sz="1600" dirty="0"/>
          </a:p>
        </p:txBody>
      </p:sp>
      <p:sp>
        <p:nvSpPr>
          <p:cNvPr id="31" name="text-414"/>
          <p:cNvSpPr txBox="1"/>
          <p:nvPr/>
        </p:nvSpPr>
        <p:spPr>
          <a:xfrm>
            <a:off x="6619037" y="2651760"/>
            <a:ext cx="1965960" cy="320040"/>
          </a:xfrm>
          <a:prstGeom prst="rect">
            <a:avLst/>
          </a:prstGeom>
          <a:noFill/>
          <a:ln/>
        </p:spPr>
        <p:txBody>
          <a:bodyPr wrap="square" lIns="0" tIns="0" rIns="0" bIns="0" rtlCol="0" anchor="t"/>
          <a:lstStyle/>
          <a:p>
            <a:pPr marL="0" indent="0">
              <a:buNone/>
            </a:pPr>
            <a:r>
              <a:rPr lang="en-US" sz="1100" dirty="0">
                <a:solidFill>
                  <a:schemeClr val="accent6"/>
                </a:solidFill>
              </a:rPr>
              <a:t>prepared statements, transactions</a:t>
            </a:r>
            <a:endParaRPr lang="en-US" sz="1100" dirty="0"/>
          </a:p>
        </p:txBody>
      </p:sp>
      <p:sp>
        <p:nvSpPr>
          <p:cNvPr id="32" name="arch-arrow-415"/>
          <p:cNvSpPr/>
          <p:nvPr/>
        </p:nvSpPr>
        <p:spPr>
          <a:xfrm>
            <a:off x="8833866" y="2148840"/>
            <a:ext cx="365760" cy="274320"/>
          </a:xfrm>
          <a:prstGeom prst="rightArrow">
            <a:avLst/>
          </a:prstGeom>
          <a:solidFill>
            <a:schemeClr val="accent1"/>
          </a:solidFill>
          <a:ln/>
        </p:spPr>
      </p:sp>
      <p:sp>
        <p:nvSpPr>
          <p:cNvPr id="33" name="arch-node-416"/>
          <p:cNvSpPr/>
          <p:nvPr/>
        </p:nvSpPr>
        <p:spPr>
          <a:xfrm>
            <a:off x="9311335" y="1463040"/>
            <a:ext cx="2331720" cy="1600200"/>
          </a:xfrm>
          <a:prstGeom prst="roundRect">
            <a:avLst>
              <a:gd name="adj" fmla="val 6857"/>
            </a:avLst>
          </a:prstGeom>
          <a:solidFill>
            <a:schemeClr val="tx1"/>
          </a:solidFill>
          <a:ln/>
          <a:effectLst>
            <a:outerShdw blurRad="101600" dist="25400" dir="5400000" algn="bl" rotWithShape="0">
              <a:srgbClr val="000000">
                <a:alpha val="10000"/>
              </a:srgbClr>
            </a:outerShdw>
          </a:effectLst>
        </p:spPr>
      </p:sp>
      <p:sp>
        <p:nvSpPr>
          <p:cNvPr id="34" name="badge-417"/>
          <p:cNvSpPr/>
          <p:nvPr/>
        </p:nvSpPr>
        <p:spPr>
          <a:xfrm>
            <a:off x="9539935" y="1664208"/>
            <a:ext cx="548640" cy="548640"/>
          </a:xfrm>
          <a:prstGeom prst="ellipse">
            <a:avLst/>
          </a:prstGeom>
          <a:solidFill>
            <a:schemeClr val="accent1"/>
          </a:solidFill>
          <a:ln/>
        </p:spPr>
      </p:sp>
      <p:pic>
        <p:nvPicPr>
          <p:cNvPr id="35" name="icon-LuDatabase-418" descr="C:\Users\srest\AppData\Local\Temp\claude\C--Users-srest\52e86171-7f3f-4f9f-8710-1b05dd1b2558\scratchpad\deck\icons\LuDatabase_w.png"/>
          <p:cNvPicPr>
            <a:picLocks noChangeAspect="1"/>
          </p:cNvPicPr>
          <p:nvPr/>
        </p:nvPicPr>
        <p:blipFill>
          <a:blip r:embed="rId6"/>
          <a:stretch>
            <a:fillRect/>
          </a:stretch>
        </p:blipFill>
        <p:spPr>
          <a:xfrm>
            <a:off x="9660636" y="1784909"/>
            <a:ext cx="307238" cy="307238"/>
          </a:xfrm>
          <a:prstGeom prst="rect">
            <a:avLst/>
          </a:prstGeom>
        </p:spPr>
      </p:pic>
      <p:sp>
        <p:nvSpPr>
          <p:cNvPr id="36" name="text-419"/>
          <p:cNvSpPr txBox="1"/>
          <p:nvPr/>
        </p:nvSpPr>
        <p:spPr>
          <a:xfrm>
            <a:off x="9539935" y="2331720"/>
            <a:ext cx="1965960" cy="320040"/>
          </a:xfrm>
          <a:prstGeom prst="rect">
            <a:avLst/>
          </a:prstGeom>
          <a:noFill/>
          <a:ln/>
        </p:spPr>
        <p:txBody>
          <a:bodyPr wrap="square" lIns="0" tIns="0" rIns="0" bIns="0" rtlCol="0" anchor="t"/>
          <a:lstStyle/>
          <a:p>
            <a:pPr marL="0" indent="0">
              <a:buNone/>
            </a:pPr>
            <a:r>
              <a:rPr lang="en-US" sz="1600" b="1" dirty="0">
                <a:solidFill>
                  <a:schemeClr val="bg1"/>
                </a:solidFill>
              </a:rPr>
              <a:t>MySQL / MariaDB</a:t>
            </a:r>
            <a:endParaRPr lang="en-US" sz="1600" dirty="0"/>
          </a:p>
        </p:txBody>
      </p:sp>
      <p:sp>
        <p:nvSpPr>
          <p:cNvPr id="37" name="text-420"/>
          <p:cNvSpPr txBox="1"/>
          <p:nvPr/>
        </p:nvSpPr>
        <p:spPr>
          <a:xfrm>
            <a:off x="9539935" y="2651760"/>
            <a:ext cx="1965960" cy="320040"/>
          </a:xfrm>
          <a:prstGeom prst="rect">
            <a:avLst/>
          </a:prstGeom>
          <a:noFill/>
          <a:ln/>
        </p:spPr>
        <p:txBody>
          <a:bodyPr wrap="square" lIns="0" tIns="0" rIns="0" bIns="0" rtlCol="0" anchor="t"/>
          <a:lstStyle/>
          <a:p>
            <a:pPr marL="0" indent="0">
              <a:buNone/>
            </a:pPr>
            <a:r>
              <a:rPr lang="en-US" sz="1100" dirty="0">
                <a:solidFill>
                  <a:schemeClr val="accent6"/>
                </a:solidFill>
              </a:rPr>
              <a:t>courier_management · 4 tables</a:t>
            </a:r>
            <a:endParaRPr lang="en-US" sz="1100" dirty="0"/>
          </a:p>
        </p:txBody>
      </p:sp>
      <p:sp>
        <p:nvSpPr>
          <p:cNvPr id="38" name="screen-card-421"/>
          <p:cNvSpPr/>
          <p:nvPr/>
        </p:nvSpPr>
        <p:spPr>
          <a:xfrm>
            <a:off x="548640" y="3337560"/>
            <a:ext cx="3566160" cy="896112"/>
          </a:xfrm>
          <a:prstGeom prst="roundRect">
            <a:avLst>
              <a:gd name="adj" fmla="val 12245"/>
            </a:avLst>
          </a:prstGeom>
          <a:solidFill>
            <a:schemeClr val="bg2"/>
          </a:solidFill>
          <a:ln/>
        </p:spPr>
      </p:sp>
      <p:sp>
        <p:nvSpPr>
          <p:cNvPr id="39" name="text-422"/>
          <p:cNvSpPr txBox="1"/>
          <p:nvPr/>
        </p:nvSpPr>
        <p:spPr>
          <a:xfrm>
            <a:off x="749808" y="3429000"/>
            <a:ext cx="1828800" cy="347472"/>
          </a:xfrm>
          <a:prstGeom prst="rect">
            <a:avLst/>
          </a:prstGeom>
          <a:noFill/>
          <a:ln/>
        </p:spPr>
        <p:txBody>
          <a:bodyPr wrap="square" lIns="0" tIns="0" rIns="0" bIns="0" rtlCol="0" anchor="ctr"/>
          <a:lstStyle/>
          <a:p>
            <a:pPr marL="0" indent="0">
              <a:buNone/>
            </a:pPr>
            <a:r>
              <a:rPr lang="en-US" sz="1400" b="1" dirty="0">
                <a:solidFill>
                  <a:schemeClr val="tx1"/>
                </a:solidFill>
              </a:rPr>
              <a:t>Track (public)</a:t>
            </a:r>
            <a:endParaRPr lang="en-US" sz="1400" dirty="0"/>
          </a:p>
        </p:txBody>
      </p:sp>
      <p:sp>
        <p:nvSpPr>
          <p:cNvPr id="40" name="text-423"/>
          <p:cNvSpPr txBox="1"/>
          <p:nvPr/>
        </p:nvSpPr>
        <p:spPr>
          <a:xfrm>
            <a:off x="2286000" y="3429000"/>
            <a:ext cx="1664208" cy="347472"/>
          </a:xfrm>
          <a:prstGeom prst="rect">
            <a:avLst/>
          </a:prstGeom>
          <a:noFill/>
          <a:ln/>
        </p:spPr>
        <p:txBody>
          <a:bodyPr wrap="square" lIns="0" tIns="0" rIns="0" bIns="0" rtlCol="0" anchor="ctr"/>
          <a:lstStyle/>
          <a:p>
            <a:pPr marL="0" indent="0" algn="r">
              <a:buNone/>
            </a:pPr>
            <a:r>
              <a:rPr lang="en-US" sz="900" b="1" dirty="0">
                <a:solidFill>
                  <a:schemeClr val="accent1"/>
                </a:solidFill>
              </a:rPr>
              <a:t>VIEW</a:t>
            </a:r>
            <a:endParaRPr lang="en-US" sz="900" dirty="0"/>
          </a:p>
        </p:txBody>
      </p:sp>
      <p:sp>
        <p:nvSpPr>
          <p:cNvPr id="41" name="text-424"/>
          <p:cNvSpPr txBox="1"/>
          <p:nvPr/>
        </p:nvSpPr>
        <p:spPr>
          <a:xfrm>
            <a:off x="749808" y="3794760"/>
            <a:ext cx="3200400" cy="365760"/>
          </a:xfrm>
          <a:prstGeom prst="rect">
            <a:avLst/>
          </a:prstGeom>
          <a:noFill/>
          <a:ln/>
        </p:spPr>
        <p:txBody>
          <a:bodyPr wrap="square" lIns="0" tIns="0" rIns="0" bIns="0" rtlCol="0" anchor="t"/>
          <a:lstStyle/>
          <a:p>
            <a:pPr marL="0" indent="0">
              <a:buNone/>
            </a:pPr>
            <a:r>
              <a:rPr lang="en-US" sz="1100" dirty="0">
                <a:solidFill>
                  <a:schemeClr val="tx2"/>
                </a:solidFill>
              </a:rPr>
              <a:t>timeline from tracking_history, no login</a:t>
            </a:r>
            <a:endParaRPr lang="en-US" sz="1100" dirty="0"/>
          </a:p>
        </p:txBody>
      </p:sp>
      <p:sp>
        <p:nvSpPr>
          <p:cNvPr id="42" name="screen-card-425"/>
          <p:cNvSpPr/>
          <p:nvPr/>
        </p:nvSpPr>
        <p:spPr>
          <a:xfrm>
            <a:off x="4311396" y="3337560"/>
            <a:ext cx="3566160" cy="896112"/>
          </a:xfrm>
          <a:prstGeom prst="roundRect">
            <a:avLst>
              <a:gd name="adj" fmla="val 12245"/>
            </a:avLst>
          </a:prstGeom>
          <a:solidFill>
            <a:schemeClr val="bg2"/>
          </a:solidFill>
          <a:ln/>
        </p:spPr>
      </p:sp>
      <p:sp>
        <p:nvSpPr>
          <p:cNvPr id="43" name="text-426"/>
          <p:cNvSpPr txBox="1"/>
          <p:nvPr/>
        </p:nvSpPr>
        <p:spPr>
          <a:xfrm>
            <a:off x="4512564" y="3429000"/>
            <a:ext cx="1828800" cy="347472"/>
          </a:xfrm>
          <a:prstGeom prst="rect">
            <a:avLst/>
          </a:prstGeom>
          <a:noFill/>
          <a:ln/>
        </p:spPr>
        <p:txBody>
          <a:bodyPr wrap="square" lIns="0" tIns="0" rIns="0" bIns="0" rtlCol="0" anchor="ctr"/>
          <a:lstStyle/>
          <a:p>
            <a:pPr marL="0" indent="0">
              <a:buNone/>
            </a:pPr>
            <a:r>
              <a:rPr lang="en-US" sz="1400" b="1" dirty="0">
                <a:solidFill>
                  <a:schemeClr val="tx1"/>
                </a:solidFill>
              </a:rPr>
              <a:t>Register / Login</a:t>
            </a:r>
            <a:endParaRPr lang="en-US" sz="1400" dirty="0"/>
          </a:p>
        </p:txBody>
      </p:sp>
      <p:sp>
        <p:nvSpPr>
          <p:cNvPr id="44" name="text-427"/>
          <p:cNvSpPr txBox="1"/>
          <p:nvPr/>
        </p:nvSpPr>
        <p:spPr>
          <a:xfrm>
            <a:off x="6048756" y="3429000"/>
            <a:ext cx="1664208" cy="347472"/>
          </a:xfrm>
          <a:prstGeom prst="rect">
            <a:avLst/>
          </a:prstGeom>
          <a:noFill/>
          <a:ln/>
        </p:spPr>
        <p:txBody>
          <a:bodyPr wrap="square" lIns="0" tIns="0" rIns="0" bIns="0" rtlCol="0" anchor="ctr"/>
          <a:lstStyle/>
          <a:p>
            <a:pPr marL="0" indent="0" algn="r">
              <a:buNone/>
            </a:pPr>
            <a:r>
              <a:rPr lang="en-US" sz="900" b="1" dirty="0">
                <a:solidFill>
                  <a:schemeClr val="accent1"/>
                </a:solidFill>
              </a:rPr>
              <a:t>INSERT · VIEW</a:t>
            </a:r>
            <a:endParaRPr lang="en-US" sz="900" dirty="0"/>
          </a:p>
        </p:txBody>
      </p:sp>
      <p:sp>
        <p:nvSpPr>
          <p:cNvPr id="45" name="text-428"/>
          <p:cNvSpPr txBox="1"/>
          <p:nvPr/>
        </p:nvSpPr>
        <p:spPr>
          <a:xfrm>
            <a:off x="4512564" y="3794760"/>
            <a:ext cx="3200400" cy="365760"/>
          </a:xfrm>
          <a:prstGeom prst="rect">
            <a:avLst/>
          </a:prstGeom>
          <a:noFill/>
          <a:ln/>
        </p:spPr>
        <p:txBody>
          <a:bodyPr wrap="square" lIns="0" tIns="0" rIns="0" bIns="0" rtlCol="0" anchor="t"/>
          <a:lstStyle/>
          <a:p>
            <a:pPr marL="0" indent="0">
              <a:buNone/>
            </a:pPr>
            <a:r>
              <a:rPr lang="en-US" sz="1100" dirty="0">
                <a:solidFill>
                  <a:schemeClr val="tx2"/>
                </a:solidFill>
              </a:rPr>
              <a:t>password_hash, sessions, roles</a:t>
            </a:r>
            <a:endParaRPr lang="en-US" sz="1100" dirty="0"/>
          </a:p>
        </p:txBody>
      </p:sp>
      <p:sp>
        <p:nvSpPr>
          <p:cNvPr id="46" name="screen-card-429"/>
          <p:cNvSpPr/>
          <p:nvPr/>
        </p:nvSpPr>
        <p:spPr>
          <a:xfrm>
            <a:off x="8074152" y="3337560"/>
            <a:ext cx="3566160" cy="896112"/>
          </a:xfrm>
          <a:prstGeom prst="roundRect">
            <a:avLst>
              <a:gd name="adj" fmla="val 12245"/>
            </a:avLst>
          </a:prstGeom>
          <a:solidFill>
            <a:schemeClr val="bg2"/>
          </a:solidFill>
          <a:ln/>
        </p:spPr>
      </p:sp>
      <p:sp>
        <p:nvSpPr>
          <p:cNvPr id="47" name="text-430"/>
          <p:cNvSpPr txBox="1"/>
          <p:nvPr/>
        </p:nvSpPr>
        <p:spPr>
          <a:xfrm>
            <a:off x="8275320" y="3429000"/>
            <a:ext cx="1828800" cy="347472"/>
          </a:xfrm>
          <a:prstGeom prst="rect">
            <a:avLst/>
          </a:prstGeom>
          <a:noFill/>
          <a:ln/>
        </p:spPr>
        <p:txBody>
          <a:bodyPr wrap="square" lIns="0" tIns="0" rIns="0" bIns="0" rtlCol="0" anchor="ctr"/>
          <a:lstStyle/>
          <a:p>
            <a:pPr marL="0" indent="0">
              <a:buNone/>
            </a:pPr>
            <a:r>
              <a:rPr lang="en-US" sz="1400" b="1" dirty="0">
                <a:solidFill>
                  <a:schemeClr val="tx1"/>
                </a:solidFill>
              </a:rPr>
              <a:t>Book Parcel</a:t>
            </a:r>
            <a:endParaRPr lang="en-US" sz="1400" dirty="0"/>
          </a:p>
        </p:txBody>
      </p:sp>
      <p:sp>
        <p:nvSpPr>
          <p:cNvPr id="48" name="text-431"/>
          <p:cNvSpPr txBox="1"/>
          <p:nvPr/>
        </p:nvSpPr>
        <p:spPr>
          <a:xfrm>
            <a:off x="9811512" y="3429000"/>
            <a:ext cx="1664208" cy="347472"/>
          </a:xfrm>
          <a:prstGeom prst="rect">
            <a:avLst/>
          </a:prstGeom>
          <a:noFill/>
          <a:ln/>
        </p:spPr>
        <p:txBody>
          <a:bodyPr wrap="square" lIns="0" tIns="0" rIns="0" bIns="0" rtlCol="0" anchor="ctr"/>
          <a:lstStyle/>
          <a:p>
            <a:pPr marL="0" indent="0" algn="r">
              <a:buNone/>
            </a:pPr>
            <a:r>
              <a:rPr lang="en-US" sz="900" b="1" dirty="0">
                <a:solidFill>
                  <a:schemeClr val="accent1"/>
                </a:solidFill>
              </a:rPr>
              <a:t>INSERT × 3</a:t>
            </a:r>
            <a:endParaRPr lang="en-US" sz="900" dirty="0"/>
          </a:p>
        </p:txBody>
      </p:sp>
      <p:sp>
        <p:nvSpPr>
          <p:cNvPr id="49" name="text-432"/>
          <p:cNvSpPr txBox="1"/>
          <p:nvPr/>
        </p:nvSpPr>
        <p:spPr>
          <a:xfrm>
            <a:off x="8275320" y="3794760"/>
            <a:ext cx="3200400" cy="365760"/>
          </a:xfrm>
          <a:prstGeom prst="rect">
            <a:avLst/>
          </a:prstGeom>
          <a:noFill/>
          <a:ln/>
        </p:spPr>
        <p:txBody>
          <a:bodyPr wrap="square" lIns="0" tIns="0" rIns="0" bIns="0" rtlCol="0" anchor="t"/>
          <a:lstStyle/>
          <a:p>
            <a:pPr marL="0" indent="0">
              <a:buNone/>
            </a:pPr>
            <a:r>
              <a:rPr lang="en-US" sz="1100" dirty="0">
                <a:solidFill>
                  <a:schemeClr val="tx2"/>
                </a:solidFill>
              </a:rPr>
              <a:t>parcel + history + payment, one transaction</a:t>
            </a:r>
            <a:endParaRPr lang="en-US" sz="1100" dirty="0"/>
          </a:p>
        </p:txBody>
      </p:sp>
      <p:sp>
        <p:nvSpPr>
          <p:cNvPr id="50" name="screen-card-433"/>
          <p:cNvSpPr/>
          <p:nvPr/>
        </p:nvSpPr>
        <p:spPr>
          <a:xfrm>
            <a:off x="548640" y="4361688"/>
            <a:ext cx="3566160" cy="896112"/>
          </a:xfrm>
          <a:prstGeom prst="roundRect">
            <a:avLst>
              <a:gd name="adj" fmla="val 12245"/>
            </a:avLst>
          </a:prstGeom>
          <a:solidFill>
            <a:schemeClr val="bg2"/>
          </a:solidFill>
          <a:ln/>
        </p:spPr>
      </p:sp>
      <p:sp>
        <p:nvSpPr>
          <p:cNvPr id="51" name="text-434"/>
          <p:cNvSpPr txBox="1"/>
          <p:nvPr/>
        </p:nvSpPr>
        <p:spPr>
          <a:xfrm>
            <a:off x="749808" y="4453128"/>
            <a:ext cx="1828800" cy="347472"/>
          </a:xfrm>
          <a:prstGeom prst="rect">
            <a:avLst/>
          </a:prstGeom>
          <a:noFill/>
          <a:ln/>
        </p:spPr>
        <p:txBody>
          <a:bodyPr wrap="square" lIns="0" tIns="0" rIns="0" bIns="0" rtlCol="0" anchor="ctr"/>
          <a:lstStyle/>
          <a:p>
            <a:pPr marL="0" indent="0">
              <a:buNone/>
            </a:pPr>
            <a:r>
              <a:rPr lang="en-US" sz="1400" b="1" dirty="0">
                <a:solidFill>
                  <a:schemeClr val="tx1"/>
                </a:solidFill>
              </a:rPr>
              <a:t>My Parcels</a:t>
            </a:r>
            <a:endParaRPr lang="en-US" sz="1400" dirty="0"/>
          </a:p>
        </p:txBody>
      </p:sp>
      <p:sp>
        <p:nvSpPr>
          <p:cNvPr id="52" name="text-435"/>
          <p:cNvSpPr txBox="1"/>
          <p:nvPr/>
        </p:nvSpPr>
        <p:spPr>
          <a:xfrm>
            <a:off x="2286000" y="4453128"/>
            <a:ext cx="1664208" cy="347472"/>
          </a:xfrm>
          <a:prstGeom prst="rect">
            <a:avLst/>
          </a:prstGeom>
          <a:noFill/>
          <a:ln/>
        </p:spPr>
        <p:txBody>
          <a:bodyPr wrap="square" lIns="0" tIns="0" rIns="0" bIns="0" rtlCol="0" anchor="ctr"/>
          <a:lstStyle/>
          <a:p>
            <a:pPr marL="0" indent="0" algn="r">
              <a:buNone/>
            </a:pPr>
            <a:r>
              <a:rPr lang="en-US" sz="900" b="1" dirty="0">
                <a:solidFill>
                  <a:schemeClr val="accent1"/>
                </a:solidFill>
              </a:rPr>
              <a:t>VIEW</a:t>
            </a:r>
            <a:endParaRPr lang="en-US" sz="900" dirty="0"/>
          </a:p>
        </p:txBody>
      </p:sp>
      <p:sp>
        <p:nvSpPr>
          <p:cNvPr id="53" name="text-436"/>
          <p:cNvSpPr txBox="1"/>
          <p:nvPr/>
        </p:nvSpPr>
        <p:spPr>
          <a:xfrm>
            <a:off x="749808" y="4818888"/>
            <a:ext cx="3200400" cy="365760"/>
          </a:xfrm>
          <a:prstGeom prst="rect">
            <a:avLst/>
          </a:prstGeom>
          <a:noFill/>
          <a:ln/>
        </p:spPr>
        <p:txBody>
          <a:bodyPr wrap="square" lIns="0" tIns="0" rIns="0" bIns="0" rtlCol="0" anchor="t"/>
          <a:lstStyle/>
          <a:p>
            <a:pPr marL="0" indent="0">
              <a:buNone/>
            </a:pPr>
            <a:r>
              <a:rPr lang="en-US" sz="1100" dirty="0">
                <a:solidFill>
                  <a:schemeClr val="tx2"/>
                </a:solidFill>
              </a:rPr>
              <a:t>search and status filter (LIKE, WHERE)</a:t>
            </a:r>
            <a:endParaRPr lang="en-US" sz="1100" dirty="0"/>
          </a:p>
        </p:txBody>
      </p:sp>
      <p:sp>
        <p:nvSpPr>
          <p:cNvPr id="54" name="screen-card-437"/>
          <p:cNvSpPr/>
          <p:nvPr/>
        </p:nvSpPr>
        <p:spPr>
          <a:xfrm>
            <a:off x="4311396" y="4361688"/>
            <a:ext cx="3566160" cy="896112"/>
          </a:xfrm>
          <a:prstGeom prst="roundRect">
            <a:avLst>
              <a:gd name="adj" fmla="val 12245"/>
            </a:avLst>
          </a:prstGeom>
          <a:solidFill>
            <a:schemeClr val="bg2"/>
          </a:solidFill>
          <a:ln/>
        </p:spPr>
      </p:sp>
      <p:sp>
        <p:nvSpPr>
          <p:cNvPr id="55" name="text-438"/>
          <p:cNvSpPr txBox="1"/>
          <p:nvPr/>
        </p:nvSpPr>
        <p:spPr>
          <a:xfrm>
            <a:off x="4512564" y="4453128"/>
            <a:ext cx="1828800" cy="347472"/>
          </a:xfrm>
          <a:prstGeom prst="rect">
            <a:avLst/>
          </a:prstGeom>
          <a:noFill/>
          <a:ln/>
        </p:spPr>
        <p:txBody>
          <a:bodyPr wrap="square" lIns="0" tIns="0" rIns="0" bIns="0" rtlCol="0" anchor="ctr"/>
          <a:lstStyle/>
          <a:p>
            <a:pPr marL="0" indent="0">
              <a:buNone/>
            </a:pPr>
            <a:r>
              <a:rPr lang="en-US" sz="1400" b="1" dirty="0">
                <a:solidFill>
                  <a:schemeClr val="tx1"/>
                </a:solidFill>
              </a:rPr>
              <a:t>Admin Dashboard</a:t>
            </a:r>
            <a:endParaRPr lang="en-US" sz="1400" dirty="0"/>
          </a:p>
        </p:txBody>
      </p:sp>
      <p:sp>
        <p:nvSpPr>
          <p:cNvPr id="56" name="text-439"/>
          <p:cNvSpPr txBox="1"/>
          <p:nvPr/>
        </p:nvSpPr>
        <p:spPr>
          <a:xfrm>
            <a:off x="6048756" y="4453128"/>
            <a:ext cx="1664208" cy="347472"/>
          </a:xfrm>
          <a:prstGeom prst="rect">
            <a:avLst/>
          </a:prstGeom>
          <a:noFill/>
          <a:ln/>
        </p:spPr>
        <p:txBody>
          <a:bodyPr wrap="square" lIns="0" tIns="0" rIns="0" bIns="0" rtlCol="0" anchor="ctr"/>
          <a:lstStyle/>
          <a:p>
            <a:pPr marL="0" indent="0" algn="r">
              <a:buNone/>
            </a:pPr>
            <a:r>
              <a:rPr lang="en-US" sz="900" b="1" dirty="0">
                <a:solidFill>
                  <a:schemeClr val="accent1"/>
                </a:solidFill>
              </a:rPr>
              <a:t>VIEW</a:t>
            </a:r>
            <a:endParaRPr lang="en-US" sz="900" dirty="0"/>
          </a:p>
        </p:txBody>
      </p:sp>
      <p:sp>
        <p:nvSpPr>
          <p:cNvPr id="57" name="text-440"/>
          <p:cNvSpPr txBox="1"/>
          <p:nvPr/>
        </p:nvSpPr>
        <p:spPr>
          <a:xfrm>
            <a:off x="4512564" y="4818888"/>
            <a:ext cx="3200400" cy="365760"/>
          </a:xfrm>
          <a:prstGeom prst="rect">
            <a:avLst/>
          </a:prstGeom>
          <a:noFill/>
          <a:ln/>
        </p:spPr>
        <p:txBody>
          <a:bodyPr wrap="square" lIns="0" tIns="0" rIns="0" bIns="0" rtlCol="0" anchor="t"/>
          <a:lstStyle/>
          <a:p>
            <a:pPr marL="0" indent="0">
              <a:buNone/>
            </a:pPr>
            <a:r>
              <a:rPr lang="en-US" sz="1100" dirty="0">
                <a:solidFill>
                  <a:schemeClr val="tx2"/>
                </a:solidFill>
              </a:rPr>
              <a:t>COUNT, SUM, GROUP BY, JOIN</a:t>
            </a:r>
            <a:endParaRPr lang="en-US" sz="1100" dirty="0"/>
          </a:p>
        </p:txBody>
      </p:sp>
      <p:sp>
        <p:nvSpPr>
          <p:cNvPr id="58" name="screen-card-441"/>
          <p:cNvSpPr/>
          <p:nvPr/>
        </p:nvSpPr>
        <p:spPr>
          <a:xfrm>
            <a:off x="8074152" y="4361688"/>
            <a:ext cx="3566160" cy="896112"/>
          </a:xfrm>
          <a:prstGeom prst="roundRect">
            <a:avLst>
              <a:gd name="adj" fmla="val 12245"/>
            </a:avLst>
          </a:prstGeom>
          <a:solidFill>
            <a:schemeClr val="bg2"/>
          </a:solidFill>
          <a:ln/>
        </p:spPr>
      </p:sp>
      <p:sp>
        <p:nvSpPr>
          <p:cNvPr id="59" name="text-442"/>
          <p:cNvSpPr txBox="1"/>
          <p:nvPr/>
        </p:nvSpPr>
        <p:spPr>
          <a:xfrm>
            <a:off x="8275320" y="4453128"/>
            <a:ext cx="1828800" cy="347472"/>
          </a:xfrm>
          <a:prstGeom prst="rect">
            <a:avLst/>
          </a:prstGeom>
          <a:noFill/>
          <a:ln/>
        </p:spPr>
        <p:txBody>
          <a:bodyPr wrap="square" lIns="0" tIns="0" rIns="0" bIns="0" rtlCol="0" anchor="ctr"/>
          <a:lstStyle/>
          <a:p>
            <a:pPr marL="0" indent="0">
              <a:buNone/>
            </a:pPr>
            <a:r>
              <a:rPr lang="en-US" sz="1400" b="1" dirty="0">
                <a:solidFill>
                  <a:schemeClr val="tx1"/>
                </a:solidFill>
              </a:rPr>
              <a:t>Admin Parcel</a:t>
            </a:r>
            <a:endParaRPr lang="en-US" sz="1400" dirty="0"/>
          </a:p>
        </p:txBody>
      </p:sp>
      <p:sp>
        <p:nvSpPr>
          <p:cNvPr id="60" name="text-443"/>
          <p:cNvSpPr txBox="1"/>
          <p:nvPr/>
        </p:nvSpPr>
        <p:spPr>
          <a:xfrm>
            <a:off x="9811512" y="4453128"/>
            <a:ext cx="1664208" cy="347472"/>
          </a:xfrm>
          <a:prstGeom prst="rect">
            <a:avLst/>
          </a:prstGeom>
          <a:noFill/>
          <a:ln/>
        </p:spPr>
        <p:txBody>
          <a:bodyPr wrap="square" lIns="0" tIns="0" rIns="0" bIns="0" rtlCol="0" anchor="ctr"/>
          <a:lstStyle/>
          <a:p>
            <a:pPr marL="0" indent="0" algn="r">
              <a:buNone/>
            </a:pPr>
            <a:r>
              <a:rPr lang="en-US" sz="900" b="1" dirty="0">
                <a:solidFill>
                  <a:schemeClr val="accent1"/>
                </a:solidFill>
              </a:rPr>
              <a:t>UPDATE · DELETE</a:t>
            </a:r>
            <a:endParaRPr lang="en-US" sz="900" dirty="0"/>
          </a:p>
        </p:txBody>
      </p:sp>
      <p:sp>
        <p:nvSpPr>
          <p:cNvPr id="61" name="text-444"/>
          <p:cNvSpPr txBox="1"/>
          <p:nvPr/>
        </p:nvSpPr>
        <p:spPr>
          <a:xfrm>
            <a:off x="8275320" y="4818888"/>
            <a:ext cx="3200400" cy="365760"/>
          </a:xfrm>
          <a:prstGeom prst="rect">
            <a:avLst/>
          </a:prstGeom>
          <a:noFill/>
          <a:ln/>
        </p:spPr>
        <p:txBody>
          <a:bodyPr wrap="square" lIns="0" tIns="0" rIns="0" bIns="0" rtlCol="0" anchor="t"/>
          <a:lstStyle/>
          <a:p>
            <a:pPr marL="0" indent="0">
              <a:buNone/>
            </a:pPr>
            <a:r>
              <a:rPr lang="en-US" sz="1100" dirty="0">
                <a:solidFill>
                  <a:schemeClr val="tx2"/>
                </a:solidFill>
              </a:rPr>
              <a:t>status change + new history row, cascade delete</a:t>
            </a:r>
            <a:endParaRPr lang="en-US" sz="1100" dirty="0"/>
          </a:p>
        </p:txBody>
      </p:sp>
      <p:sp>
        <p:nvSpPr>
          <p:cNvPr id="62" name="sql-echo-445"/>
          <p:cNvSpPr/>
          <p:nvPr/>
        </p:nvSpPr>
        <p:spPr>
          <a:xfrm>
            <a:off x="548640" y="5486400"/>
            <a:ext cx="11094415" cy="731520"/>
          </a:xfrm>
          <a:prstGeom prst="roundRect">
            <a:avLst>
              <a:gd name="adj" fmla="val 15000"/>
            </a:avLst>
          </a:prstGeom>
          <a:solidFill>
            <a:schemeClr val="accent1">
              <a:alpha val="12000"/>
            </a:schemeClr>
          </a:solidFill>
          <a:ln/>
        </p:spPr>
      </p:sp>
      <p:pic>
        <p:nvPicPr>
          <p:cNvPr id="63" name="icon-LuEye-446" descr="C:\Users\srest\AppData\Local\Temp\claude\C--Users-srest\52e86171-7f3f-4f9f-8710-1b05dd1b2558\scratchpad\deck\icons\LuEye_o.png"/>
          <p:cNvPicPr>
            <a:picLocks noChangeAspect="1"/>
          </p:cNvPicPr>
          <p:nvPr/>
        </p:nvPicPr>
        <p:blipFill>
          <a:blip r:embed="rId7"/>
          <a:stretch>
            <a:fillRect/>
          </a:stretch>
        </p:blipFill>
        <p:spPr>
          <a:xfrm>
            <a:off x="777240" y="5669280"/>
            <a:ext cx="365760" cy="365760"/>
          </a:xfrm>
          <a:prstGeom prst="rect">
            <a:avLst/>
          </a:prstGeom>
        </p:spPr>
      </p:pic>
      <p:sp>
        <p:nvSpPr>
          <p:cNvPr id="64" name="text-447"/>
          <p:cNvSpPr txBox="1"/>
          <p:nvPr/>
        </p:nvSpPr>
        <p:spPr>
          <a:xfrm>
            <a:off x="1325880" y="5486400"/>
            <a:ext cx="10088575" cy="731520"/>
          </a:xfrm>
          <a:prstGeom prst="rect">
            <a:avLst/>
          </a:prstGeom>
          <a:noFill/>
          <a:ln/>
        </p:spPr>
        <p:txBody>
          <a:bodyPr wrap="square" lIns="0" tIns="0" rIns="0" bIns="0" rtlCol="0" anchor="ctr"/>
          <a:lstStyle/>
          <a:p>
            <a:pPr marL="0" indent="0">
              <a:buNone/>
            </a:pPr>
            <a:r>
              <a:rPr lang="en-US" sz="1400" b="1" dirty="0">
                <a:solidFill>
                  <a:schemeClr val="accent5"/>
                </a:solidFill>
              </a:rPr>
              <a:t>Every number is live SQL: </a:t>
            </a:r>
            <a:r>
              <a:rPr lang="en-US" sz="1400" dirty="0">
                <a:solidFill>
                  <a:schemeClr val="tx1"/>
                </a:solidFill>
              </a:rPr>
              <a:t>the admin dashboard has a panel that shows the exact queries behind its cards.</a:t>
            </a:r>
            <a:endParaRPr lang="en-US" sz="1400" dirty="0"/>
          </a:p>
        </p:txBody>
      </p:sp>
      <p:sp>
        <p:nvSpPr>
          <p:cNvPr id="6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7498080" cy="868680"/>
          </a:xfrm>
          <a:prstGeom prst="rect">
            <a:avLst/>
          </a:prstGeom>
          <a:noFill/>
          <a:ln/>
        </p:spPr>
        <p:txBody>
          <a:bodyPr wrap="square" lIns="0" tIns="0" rIns="0" bIns="0" rtlCol="0" anchor="ctr"/>
          <a:lstStyle/>
          <a:p>
            <a:pPr marL="0" indent="0" algn="l">
              <a:buNone/>
            </a:pPr>
            <a:r>
              <a:rPr lang="en-US" sz="2800" dirty="0">
                <a:solidFill>
                  <a:schemeClr val="tx1"/>
                </a:solidFill>
                <a:latin typeface="Segoe UI Semibold" pitchFamily="34" charset="0"/>
                <a:ea typeface="Segoe UI Semibold" pitchFamily="34" charset="-122"/>
                <a:cs typeface="Segoe UI Semibold" pitchFamily="34" charset="-120"/>
              </a:rPr>
              <a:t>Insert: one booking writes 3 tables</a:t>
            </a:r>
            <a:endParaRPr lang="en-US" sz="2800" dirty="0"/>
          </a:p>
        </p:txBody>
      </p:sp>
      <p:sp>
        <p:nvSpPr>
          <p:cNvPr id="3" name="tracker-rail-448"/>
          <p:cNvSpPr/>
          <p:nvPr/>
        </p:nvSpPr>
        <p:spPr>
          <a:xfrm>
            <a:off x="8458200" y="566928"/>
            <a:ext cx="2926080" cy="0"/>
          </a:xfrm>
          <a:prstGeom prst="line">
            <a:avLst/>
          </a:prstGeom>
          <a:noFill/>
          <a:ln w="31750">
            <a:solidFill>
              <a:srgbClr val="D1D5DB"/>
            </a:solidFill>
            <a:prstDash val="solid"/>
          </a:ln>
        </p:spPr>
      </p:sp>
      <p:sp>
        <p:nvSpPr>
          <p:cNvPr id="4" name="tracker-done-449"/>
          <p:cNvSpPr/>
          <p:nvPr/>
        </p:nvSpPr>
        <p:spPr>
          <a:xfrm>
            <a:off x="8458200" y="566928"/>
            <a:ext cx="2194560" cy="0"/>
          </a:xfrm>
          <a:prstGeom prst="line">
            <a:avLst/>
          </a:prstGeom>
          <a:noFill/>
          <a:ln w="31750">
            <a:solidFill>
              <a:schemeClr val="accent1"/>
            </a:solidFill>
            <a:prstDash val="solid"/>
          </a:ln>
        </p:spPr>
      </p:sp>
      <p:sp>
        <p:nvSpPr>
          <p:cNvPr id="5" name="tracker-dot-450"/>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451"/>
          <p:cNvSpPr txBox="1"/>
          <p:nvPr/>
        </p:nvSpPr>
        <p:spPr>
          <a:xfrm>
            <a:off x="800100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Problem</a:t>
            </a:r>
            <a:endParaRPr lang="en-US" sz="1000" dirty="0"/>
          </a:p>
        </p:txBody>
      </p:sp>
      <p:sp>
        <p:nvSpPr>
          <p:cNvPr id="7" name="tracker-dot-452"/>
          <p:cNvSpPr/>
          <p:nvPr/>
        </p:nvSpPr>
        <p:spPr>
          <a:xfrm>
            <a:off x="9116568" y="493776"/>
            <a:ext cx="146304" cy="146304"/>
          </a:xfrm>
          <a:prstGeom prst="ellipse">
            <a:avLst/>
          </a:prstGeom>
          <a:solidFill>
            <a:schemeClr val="accent1"/>
          </a:solidFill>
          <a:ln w="19050">
            <a:solidFill>
              <a:schemeClr val="accent1"/>
            </a:solidFill>
            <a:prstDash val="solid"/>
          </a:ln>
        </p:spPr>
      </p:sp>
      <p:sp>
        <p:nvSpPr>
          <p:cNvPr id="8" name="text-453"/>
          <p:cNvSpPr txBox="1"/>
          <p:nvPr/>
        </p:nvSpPr>
        <p:spPr>
          <a:xfrm>
            <a:off x="873252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ER &amp; Schema</a:t>
            </a:r>
            <a:endParaRPr lang="en-US" sz="1000" dirty="0"/>
          </a:p>
        </p:txBody>
      </p:sp>
      <p:sp>
        <p:nvSpPr>
          <p:cNvPr id="9" name="tracker-dot-454"/>
          <p:cNvSpPr/>
          <p:nvPr/>
        </p:nvSpPr>
        <p:spPr>
          <a:xfrm>
            <a:off x="9848088" y="493776"/>
            <a:ext cx="146304" cy="146304"/>
          </a:xfrm>
          <a:prstGeom prst="ellipse">
            <a:avLst/>
          </a:prstGeom>
          <a:solidFill>
            <a:schemeClr val="accent1"/>
          </a:solidFill>
          <a:ln w="19050">
            <a:solidFill>
              <a:schemeClr val="accent1"/>
            </a:solidFill>
            <a:prstDash val="solid"/>
          </a:ln>
        </p:spPr>
      </p:sp>
      <p:sp>
        <p:nvSpPr>
          <p:cNvPr id="10" name="text-455"/>
          <p:cNvSpPr txBox="1"/>
          <p:nvPr/>
        </p:nvSpPr>
        <p:spPr>
          <a:xfrm>
            <a:off x="946404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Database</a:t>
            </a:r>
            <a:endParaRPr lang="en-US" sz="1000" dirty="0"/>
          </a:p>
        </p:txBody>
      </p:sp>
      <p:sp>
        <p:nvSpPr>
          <p:cNvPr id="11" name="tracker-dot-456"/>
          <p:cNvSpPr/>
          <p:nvPr/>
        </p:nvSpPr>
        <p:spPr>
          <a:xfrm>
            <a:off x="10533888" y="448056"/>
            <a:ext cx="237744" cy="237744"/>
          </a:xfrm>
          <a:prstGeom prst="ellipse">
            <a:avLst/>
          </a:prstGeom>
          <a:solidFill>
            <a:schemeClr val="accent1"/>
          </a:solidFill>
          <a:ln w="19050">
            <a:solidFill>
              <a:schemeClr val="accent1"/>
            </a:solidFill>
            <a:prstDash val="solid"/>
          </a:ln>
        </p:spPr>
      </p:sp>
      <p:sp>
        <p:nvSpPr>
          <p:cNvPr id="12" name="text-457"/>
          <p:cNvSpPr txBox="1"/>
          <p:nvPr/>
        </p:nvSpPr>
        <p:spPr>
          <a:xfrm>
            <a:off x="10195560" y="749808"/>
            <a:ext cx="914400" cy="228600"/>
          </a:xfrm>
          <a:prstGeom prst="rect">
            <a:avLst/>
          </a:prstGeom>
          <a:noFill/>
          <a:ln/>
        </p:spPr>
        <p:txBody>
          <a:bodyPr wrap="square" lIns="0" tIns="0" rIns="0" bIns="0" rtlCol="0" anchor="t"/>
          <a:lstStyle/>
          <a:p>
            <a:pPr marL="0" indent="0" algn="ctr">
              <a:buNone/>
            </a:pPr>
            <a:r>
              <a:rPr lang="en-US" sz="1000" b="1" dirty="0">
                <a:solidFill>
                  <a:schemeClr val="accent1"/>
                </a:solidFill>
              </a:rPr>
              <a:t>UI Demo</a:t>
            </a:r>
            <a:endParaRPr lang="en-US" sz="1000" dirty="0"/>
          </a:p>
        </p:txBody>
      </p:sp>
      <p:sp>
        <p:nvSpPr>
          <p:cNvPr id="13" name="tracker-dot-458"/>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459"/>
          <p:cNvSpPr txBox="1"/>
          <p:nvPr/>
        </p:nvSpPr>
        <p:spPr>
          <a:xfrm>
            <a:off x="1092708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Q&amp;A</a:t>
            </a:r>
            <a:endParaRPr lang="en-US" sz="1000" dirty="0"/>
          </a:p>
        </p:txBody>
      </p:sp>
      <p:sp>
        <p:nvSpPr>
          <p:cNvPr id="15" name="text-460"/>
          <p:cNvSpPr txBox="1"/>
          <p:nvPr/>
        </p:nvSpPr>
        <p:spPr>
          <a:xfrm>
            <a:off x="548640" y="1417320"/>
            <a:ext cx="5440680" cy="292608"/>
          </a:xfrm>
          <a:prstGeom prst="rect">
            <a:avLst/>
          </a:prstGeom>
          <a:noFill/>
          <a:ln/>
        </p:spPr>
        <p:txBody>
          <a:bodyPr wrap="square" lIns="0" tIns="0" rIns="0" bIns="0" rtlCol="0" anchor="t"/>
          <a:lstStyle/>
          <a:p>
            <a:pPr marL="0" indent="0">
              <a:buNone/>
            </a:pPr>
            <a:r>
              <a:rPr lang="en-US" sz="1400" b="1" dirty="0">
                <a:solidFill>
                  <a:schemeClr val="tx1"/>
                </a:solidFill>
              </a:rPr>
              <a:t>1  Customer fills the booking form</a:t>
            </a:r>
            <a:endParaRPr lang="en-US" sz="1400" dirty="0"/>
          </a:p>
        </p:txBody>
      </p:sp>
      <p:sp>
        <p:nvSpPr>
          <p:cNvPr id="16" name="shot-frame-461"/>
          <p:cNvSpPr/>
          <p:nvPr/>
        </p:nvSpPr>
        <p:spPr>
          <a:xfrm>
            <a:off x="548640" y="1783080"/>
            <a:ext cx="5440680" cy="3400425"/>
          </a:xfrm>
          <a:prstGeom prst="roundRect">
            <a:avLst>
              <a:gd name="adj" fmla="val 3227"/>
            </a:avLst>
          </a:prstGeom>
          <a:solidFill>
            <a:schemeClr val="bg1"/>
          </a:solidFill>
          <a:ln/>
          <a:effectLst>
            <a:outerShdw blurRad="101600" dist="25400" dir="5400000" algn="bl" rotWithShape="0">
              <a:srgbClr val="000000">
                <a:alpha val="10000"/>
              </a:srgbClr>
            </a:outerShdw>
          </a:effectLst>
        </p:spPr>
      </p:sp>
      <p:pic>
        <p:nvPicPr>
          <p:cNvPr id="17" name="shot-462" descr="C:\Users\srest\AppData\Local\Temp\claude\C--Users-srest\52e86171-7f3f-4f9f-8710-1b05dd1b2558\scratchpad\deck\shots\book_form.png"/>
          <p:cNvPicPr>
            <a:picLocks noChangeAspect="1"/>
          </p:cNvPicPr>
          <p:nvPr/>
        </p:nvPicPr>
        <p:blipFill>
          <a:blip r:embed="rId3"/>
          <a:stretch>
            <a:fillRect/>
          </a:stretch>
        </p:blipFill>
        <p:spPr>
          <a:xfrm>
            <a:off x="548640" y="1783080"/>
            <a:ext cx="5440680" cy="3400425"/>
          </a:xfrm>
          <a:prstGeom prst="rect">
            <a:avLst/>
          </a:prstGeom>
        </p:spPr>
      </p:pic>
      <p:sp>
        <p:nvSpPr>
          <p:cNvPr id="18" name="text-463"/>
          <p:cNvSpPr txBox="1"/>
          <p:nvPr/>
        </p:nvSpPr>
        <p:spPr>
          <a:xfrm>
            <a:off x="6199632" y="1417320"/>
            <a:ext cx="5440680" cy="292608"/>
          </a:xfrm>
          <a:prstGeom prst="rect">
            <a:avLst/>
          </a:prstGeom>
          <a:noFill/>
          <a:ln/>
        </p:spPr>
        <p:txBody>
          <a:bodyPr wrap="square" lIns="0" tIns="0" rIns="0" bIns="0" rtlCol="0" anchor="t"/>
          <a:lstStyle/>
          <a:p>
            <a:pPr marL="0" indent="0">
              <a:buNone/>
            </a:pPr>
            <a:r>
              <a:rPr lang="en-US" sz="1400" b="1" dirty="0">
                <a:solidFill>
                  <a:schemeClr val="tx1"/>
                </a:solidFill>
              </a:rPr>
              <a:t>2  Booked: tracking ID, charge and QR</a:t>
            </a:r>
            <a:endParaRPr lang="en-US" sz="1400" dirty="0"/>
          </a:p>
        </p:txBody>
      </p:sp>
      <p:sp>
        <p:nvSpPr>
          <p:cNvPr id="19" name="shot-frame-464"/>
          <p:cNvSpPr/>
          <p:nvPr/>
        </p:nvSpPr>
        <p:spPr>
          <a:xfrm>
            <a:off x="6199632" y="1783080"/>
            <a:ext cx="5440680" cy="3400425"/>
          </a:xfrm>
          <a:prstGeom prst="roundRect">
            <a:avLst>
              <a:gd name="adj" fmla="val 3227"/>
            </a:avLst>
          </a:prstGeom>
          <a:solidFill>
            <a:schemeClr val="bg1"/>
          </a:solidFill>
          <a:ln/>
          <a:effectLst>
            <a:outerShdw blurRad="101600" dist="25400" dir="5400000" algn="bl" rotWithShape="0">
              <a:srgbClr val="000000">
                <a:alpha val="10000"/>
              </a:srgbClr>
            </a:outerShdw>
          </a:effectLst>
        </p:spPr>
      </p:sp>
      <p:pic>
        <p:nvPicPr>
          <p:cNvPr id="20" name="shot-465" descr="C:\Users\srest\AppData\Local\Temp\claude\C--Users-srest\52e86171-7f3f-4f9f-8710-1b05dd1b2558\scratchpad\deck\shots\book_confirm.png"/>
          <p:cNvPicPr>
            <a:picLocks noChangeAspect="1"/>
          </p:cNvPicPr>
          <p:nvPr/>
        </p:nvPicPr>
        <p:blipFill>
          <a:blip r:embed="rId4"/>
          <a:stretch>
            <a:fillRect/>
          </a:stretch>
        </p:blipFill>
        <p:spPr>
          <a:xfrm>
            <a:off x="6199632" y="1783080"/>
            <a:ext cx="5440680" cy="3400425"/>
          </a:xfrm>
          <a:prstGeom prst="rect">
            <a:avLst/>
          </a:prstGeom>
        </p:spPr>
      </p:pic>
      <p:sp>
        <p:nvSpPr>
          <p:cNvPr id="21" name="count-card-466"/>
          <p:cNvSpPr/>
          <p:nvPr/>
        </p:nvSpPr>
        <p:spPr>
          <a:xfrm>
            <a:off x="548640" y="5440680"/>
            <a:ext cx="3545738" cy="777240"/>
          </a:xfrm>
          <a:prstGeom prst="roundRect">
            <a:avLst>
              <a:gd name="adj" fmla="val 14118"/>
            </a:avLst>
          </a:prstGeom>
          <a:solidFill>
            <a:schemeClr val="bg2"/>
          </a:solidFill>
          <a:ln/>
        </p:spPr>
      </p:sp>
      <p:sp>
        <p:nvSpPr>
          <p:cNvPr id="22" name="text-467"/>
          <p:cNvSpPr txBox="1"/>
          <p:nvPr/>
        </p:nvSpPr>
        <p:spPr>
          <a:xfrm>
            <a:off x="731520" y="5440680"/>
            <a:ext cx="1737360" cy="777240"/>
          </a:xfrm>
          <a:prstGeom prst="rect">
            <a:avLst/>
          </a:prstGeom>
          <a:noFill/>
          <a:ln/>
        </p:spPr>
        <p:txBody>
          <a:bodyPr wrap="square" lIns="0" tIns="0" rIns="0" bIns="0" rtlCol="0" anchor="ctr"/>
          <a:lstStyle/>
          <a:p>
            <a:pPr marL="0" indent="0">
              <a:buNone/>
            </a:pPr>
            <a:r>
              <a:rPr lang="en-US" sz="1300" b="1" dirty="0">
                <a:solidFill>
                  <a:schemeClr val="tx1"/>
                </a:solidFill>
                <a:latin typeface="Consolas" pitchFamily="34" charset="0"/>
                <a:ea typeface="Consolas" pitchFamily="34" charset="-122"/>
                <a:cs typeface="Consolas" pitchFamily="34" charset="-120"/>
              </a:rPr>
              <a:t>parcels</a:t>
            </a:r>
            <a:endParaRPr lang="en-US" sz="1300" dirty="0"/>
          </a:p>
        </p:txBody>
      </p:sp>
      <p:sp>
        <p:nvSpPr>
          <p:cNvPr id="23" name="text-468"/>
          <p:cNvSpPr txBox="1"/>
          <p:nvPr/>
        </p:nvSpPr>
        <p:spPr>
          <a:xfrm>
            <a:off x="2128418" y="5486400"/>
            <a:ext cx="1828800" cy="685800"/>
          </a:xfrm>
          <a:prstGeom prst="rect">
            <a:avLst/>
          </a:prstGeom>
          <a:noFill/>
          <a:ln/>
        </p:spPr>
        <p:txBody>
          <a:bodyPr wrap="square" lIns="0" tIns="0" rIns="0" bIns="0" rtlCol="0" anchor="ctr"/>
          <a:lstStyle/>
          <a:p>
            <a:pPr marL="0" indent="0" algn="r">
              <a:buNone/>
            </a:pPr>
            <a:r>
              <a:rPr lang="en-US" sz="1800" b="1" dirty="0">
                <a:solidFill>
                  <a:schemeClr val="accent1"/>
                </a:solidFill>
              </a:rPr>
              <a:t>12 → 13</a:t>
            </a:r>
            <a:endParaRPr lang="en-US" sz="1400" dirty="0"/>
          </a:p>
          <a:p>
            <a:pPr marL="0" indent="0" algn="r">
              <a:buNone/>
            </a:pPr>
            <a:r>
              <a:rPr lang="en-US" sz="1000" dirty="0">
                <a:solidFill>
                  <a:schemeClr val="accent6"/>
                </a:solidFill>
              </a:rPr>
              <a:t>INSERT</a:t>
            </a:r>
            <a:endParaRPr lang="en-US" sz="1400" dirty="0"/>
          </a:p>
        </p:txBody>
      </p:sp>
      <p:sp>
        <p:nvSpPr>
          <p:cNvPr id="24" name="count-card-469"/>
          <p:cNvSpPr/>
          <p:nvPr/>
        </p:nvSpPr>
        <p:spPr>
          <a:xfrm>
            <a:off x="4322978" y="5440680"/>
            <a:ext cx="3545738" cy="777240"/>
          </a:xfrm>
          <a:prstGeom prst="roundRect">
            <a:avLst>
              <a:gd name="adj" fmla="val 14118"/>
            </a:avLst>
          </a:prstGeom>
          <a:solidFill>
            <a:schemeClr val="tx1"/>
          </a:solidFill>
          <a:ln/>
        </p:spPr>
      </p:sp>
      <p:sp>
        <p:nvSpPr>
          <p:cNvPr id="25" name="text-470"/>
          <p:cNvSpPr txBox="1"/>
          <p:nvPr/>
        </p:nvSpPr>
        <p:spPr>
          <a:xfrm>
            <a:off x="4505858" y="5440680"/>
            <a:ext cx="1737360" cy="777240"/>
          </a:xfrm>
          <a:prstGeom prst="rect">
            <a:avLst/>
          </a:prstGeom>
          <a:noFill/>
          <a:ln/>
        </p:spPr>
        <p:txBody>
          <a:bodyPr wrap="square" lIns="0" tIns="0" rIns="0" bIns="0" rtlCol="0" anchor="ctr"/>
          <a:lstStyle/>
          <a:p>
            <a:pPr marL="0" indent="0">
              <a:buNone/>
            </a:pPr>
            <a:r>
              <a:rPr lang="en-US" sz="1300" b="1" dirty="0">
                <a:solidFill>
                  <a:schemeClr val="bg1"/>
                </a:solidFill>
                <a:latin typeface="Consolas" pitchFamily="34" charset="0"/>
                <a:ea typeface="Consolas" pitchFamily="34" charset="-122"/>
                <a:cs typeface="Consolas" pitchFamily="34" charset="-120"/>
              </a:rPr>
              <a:t>tracking_history</a:t>
            </a:r>
            <a:endParaRPr lang="en-US" sz="1300" dirty="0"/>
          </a:p>
        </p:txBody>
      </p:sp>
      <p:sp>
        <p:nvSpPr>
          <p:cNvPr id="26" name="text-471"/>
          <p:cNvSpPr txBox="1"/>
          <p:nvPr/>
        </p:nvSpPr>
        <p:spPr>
          <a:xfrm>
            <a:off x="5902757" y="5486400"/>
            <a:ext cx="1828800" cy="685800"/>
          </a:xfrm>
          <a:prstGeom prst="rect">
            <a:avLst/>
          </a:prstGeom>
          <a:noFill/>
          <a:ln/>
        </p:spPr>
        <p:txBody>
          <a:bodyPr wrap="square" lIns="0" tIns="0" rIns="0" bIns="0" rtlCol="0" anchor="ctr"/>
          <a:lstStyle/>
          <a:p>
            <a:pPr marL="0" indent="0" algn="r">
              <a:buNone/>
            </a:pPr>
            <a:r>
              <a:rPr lang="en-US" sz="1800" b="1" dirty="0">
                <a:solidFill>
                  <a:schemeClr val="accent1"/>
                </a:solidFill>
              </a:rPr>
              <a:t>44 → 45</a:t>
            </a:r>
            <a:endParaRPr lang="en-US" sz="1400" dirty="0"/>
          </a:p>
          <a:p>
            <a:pPr marL="0" indent="0" algn="r">
              <a:buNone/>
            </a:pPr>
            <a:r>
              <a:rPr lang="en-US" sz="1000" dirty="0">
                <a:solidFill>
                  <a:schemeClr val="accent6"/>
                </a:solidFill>
              </a:rPr>
              <a:t>'Booked' row, same transaction</a:t>
            </a:r>
            <a:endParaRPr lang="en-US" sz="1400" dirty="0"/>
          </a:p>
        </p:txBody>
      </p:sp>
      <p:sp>
        <p:nvSpPr>
          <p:cNvPr id="27" name="count-card-472"/>
          <p:cNvSpPr/>
          <p:nvPr/>
        </p:nvSpPr>
        <p:spPr>
          <a:xfrm>
            <a:off x="8097317" y="5440680"/>
            <a:ext cx="3545738" cy="777240"/>
          </a:xfrm>
          <a:prstGeom prst="roundRect">
            <a:avLst>
              <a:gd name="adj" fmla="val 14118"/>
            </a:avLst>
          </a:prstGeom>
          <a:solidFill>
            <a:schemeClr val="bg2"/>
          </a:solidFill>
          <a:ln/>
        </p:spPr>
      </p:sp>
      <p:sp>
        <p:nvSpPr>
          <p:cNvPr id="28" name="text-473"/>
          <p:cNvSpPr txBox="1"/>
          <p:nvPr/>
        </p:nvSpPr>
        <p:spPr>
          <a:xfrm>
            <a:off x="8280197" y="5440680"/>
            <a:ext cx="1737360" cy="777240"/>
          </a:xfrm>
          <a:prstGeom prst="rect">
            <a:avLst/>
          </a:prstGeom>
          <a:noFill/>
          <a:ln/>
        </p:spPr>
        <p:txBody>
          <a:bodyPr wrap="square" lIns="0" tIns="0" rIns="0" bIns="0" rtlCol="0" anchor="ctr"/>
          <a:lstStyle/>
          <a:p>
            <a:pPr marL="0" indent="0">
              <a:buNone/>
            </a:pPr>
            <a:r>
              <a:rPr lang="en-US" sz="1300" b="1" dirty="0">
                <a:solidFill>
                  <a:schemeClr val="tx1"/>
                </a:solidFill>
                <a:latin typeface="Consolas" pitchFamily="34" charset="0"/>
                <a:ea typeface="Consolas" pitchFamily="34" charset="-122"/>
                <a:cs typeface="Consolas" pitchFamily="34" charset="-120"/>
              </a:rPr>
              <a:t>payments</a:t>
            </a:r>
            <a:endParaRPr lang="en-US" sz="1300" dirty="0"/>
          </a:p>
        </p:txBody>
      </p:sp>
      <p:sp>
        <p:nvSpPr>
          <p:cNvPr id="29" name="text-474"/>
          <p:cNvSpPr txBox="1"/>
          <p:nvPr/>
        </p:nvSpPr>
        <p:spPr>
          <a:xfrm>
            <a:off x="9677095" y="5486400"/>
            <a:ext cx="1828800" cy="685800"/>
          </a:xfrm>
          <a:prstGeom prst="rect">
            <a:avLst/>
          </a:prstGeom>
          <a:noFill/>
          <a:ln/>
        </p:spPr>
        <p:txBody>
          <a:bodyPr wrap="square" lIns="0" tIns="0" rIns="0" bIns="0" rtlCol="0" anchor="ctr"/>
          <a:lstStyle/>
          <a:p>
            <a:pPr marL="0" indent="0" algn="r">
              <a:buNone/>
            </a:pPr>
            <a:r>
              <a:rPr lang="en-US" sz="1800" b="1" dirty="0">
                <a:solidFill>
                  <a:schemeClr val="accent1"/>
                </a:solidFill>
              </a:rPr>
              <a:t>12 → 13</a:t>
            </a:r>
            <a:endParaRPr lang="en-US" sz="1400" dirty="0"/>
          </a:p>
          <a:p>
            <a:pPr marL="0" indent="0" algn="r">
              <a:buNone/>
            </a:pPr>
            <a:r>
              <a:rPr lang="en-US" sz="1000" dirty="0">
                <a:solidFill>
                  <a:schemeClr val="accent6"/>
                </a:solidFill>
              </a:rPr>
              <a:t>INSERT, same transaction</a:t>
            </a:r>
            <a:endParaRPr lang="en-US" sz="1400" dirty="0"/>
          </a:p>
        </p:txBody>
      </p:sp>
      <p:sp>
        <p:nvSpPr>
          <p:cNvPr id="30"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7498080" cy="868680"/>
          </a:xfrm>
          <a:prstGeom prst="rect">
            <a:avLst/>
          </a:prstGeom>
          <a:noFill/>
          <a:ln/>
        </p:spPr>
        <p:txBody>
          <a:bodyPr wrap="square" lIns="0" tIns="0" rIns="0" bIns="0" rtlCol="0" anchor="ctr"/>
          <a:lstStyle/>
          <a:p>
            <a:pPr marL="0" indent="0" algn="l">
              <a:buNone/>
            </a:pPr>
            <a:r>
              <a:rPr lang="en-US" sz="2800" dirty="0">
                <a:solidFill>
                  <a:schemeClr val="tx1"/>
                </a:solidFill>
                <a:latin typeface="Segoe UI Semibold" pitchFamily="34" charset="0"/>
                <a:ea typeface="Segoe UI Semibold" pitchFamily="34" charset="-122"/>
                <a:cs typeface="Segoe UI Semibold" pitchFamily="34" charset="-120"/>
              </a:rPr>
              <a:t>Update: every status change is a new row</a:t>
            </a:r>
            <a:endParaRPr lang="en-US" sz="2800" dirty="0"/>
          </a:p>
        </p:txBody>
      </p:sp>
      <p:sp>
        <p:nvSpPr>
          <p:cNvPr id="3" name="tracker-rail-475"/>
          <p:cNvSpPr/>
          <p:nvPr/>
        </p:nvSpPr>
        <p:spPr>
          <a:xfrm>
            <a:off x="8458200" y="566928"/>
            <a:ext cx="2926080" cy="0"/>
          </a:xfrm>
          <a:prstGeom prst="line">
            <a:avLst/>
          </a:prstGeom>
          <a:noFill/>
          <a:ln w="31750">
            <a:solidFill>
              <a:srgbClr val="D1D5DB"/>
            </a:solidFill>
            <a:prstDash val="solid"/>
          </a:ln>
        </p:spPr>
      </p:sp>
      <p:sp>
        <p:nvSpPr>
          <p:cNvPr id="4" name="tracker-done-476"/>
          <p:cNvSpPr/>
          <p:nvPr/>
        </p:nvSpPr>
        <p:spPr>
          <a:xfrm>
            <a:off x="8458200" y="566928"/>
            <a:ext cx="2194560" cy="0"/>
          </a:xfrm>
          <a:prstGeom prst="line">
            <a:avLst/>
          </a:prstGeom>
          <a:noFill/>
          <a:ln w="31750">
            <a:solidFill>
              <a:schemeClr val="accent1"/>
            </a:solidFill>
            <a:prstDash val="solid"/>
          </a:ln>
        </p:spPr>
      </p:sp>
      <p:sp>
        <p:nvSpPr>
          <p:cNvPr id="5" name="tracker-dot-477"/>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478"/>
          <p:cNvSpPr txBox="1"/>
          <p:nvPr/>
        </p:nvSpPr>
        <p:spPr>
          <a:xfrm>
            <a:off x="800100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Problem</a:t>
            </a:r>
            <a:endParaRPr lang="en-US" sz="1000" dirty="0"/>
          </a:p>
        </p:txBody>
      </p:sp>
      <p:sp>
        <p:nvSpPr>
          <p:cNvPr id="7" name="tracker-dot-479"/>
          <p:cNvSpPr/>
          <p:nvPr/>
        </p:nvSpPr>
        <p:spPr>
          <a:xfrm>
            <a:off x="9116568" y="493776"/>
            <a:ext cx="146304" cy="146304"/>
          </a:xfrm>
          <a:prstGeom prst="ellipse">
            <a:avLst/>
          </a:prstGeom>
          <a:solidFill>
            <a:schemeClr val="accent1"/>
          </a:solidFill>
          <a:ln w="19050">
            <a:solidFill>
              <a:schemeClr val="accent1"/>
            </a:solidFill>
            <a:prstDash val="solid"/>
          </a:ln>
        </p:spPr>
      </p:sp>
      <p:sp>
        <p:nvSpPr>
          <p:cNvPr id="8" name="text-480"/>
          <p:cNvSpPr txBox="1"/>
          <p:nvPr/>
        </p:nvSpPr>
        <p:spPr>
          <a:xfrm>
            <a:off x="873252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ER &amp; Schema</a:t>
            </a:r>
            <a:endParaRPr lang="en-US" sz="1000" dirty="0"/>
          </a:p>
        </p:txBody>
      </p:sp>
      <p:sp>
        <p:nvSpPr>
          <p:cNvPr id="9" name="tracker-dot-481"/>
          <p:cNvSpPr/>
          <p:nvPr/>
        </p:nvSpPr>
        <p:spPr>
          <a:xfrm>
            <a:off x="9848088" y="493776"/>
            <a:ext cx="146304" cy="146304"/>
          </a:xfrm>
          <a:prstGeom prst="ellipse">
            <a:avLst/>
          </a:prstGeom>
          <a:solidFill>
            <a:schemeClr val="accent1"/>
          </a:solidFill>
          <a:ln w="19050">
            <a:solidFill>
              <a:schemeClr val="accent1"/>
            </a:solidFill>
            <a:prstDash val="solid"/>
          </a:ln>
        </p:spPr>
      </p:sp>
      <p:sp>
        <p:nvSpPr>
          <p:cNvPr id="10" name="text-482"/>
          <p:cNvSpPr txBox="1"/>
          <p:nvPr/>
        </p:nvSpPr>
        <p:spPr>
          <a:xfrm>
            <a:off x="946404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Database</a:t>
            </a:r>
            <a:endParaRPr lang="en-US" sz="1000" dirty="0"/>
          </a:p>
        </p:txBody>
      </p:sp>
      <p:sp>
        <p:nvSpPr>
          <p:cNvPr id="11" name="tracker-dot-483"/>
          <p:cNvSpPr/>
          <p:nvPr/>
        </p:nvSpPr>
        <p:spPr>
          <a:xfrm>
            <a:off x="10533888" y="448056"/>
            <a:ext cx="237744" cy="237744"/>
          </a:xfrm>
          <a:prstGeom prst="ellipse">
            <a:avLst/>
          </a:prstGeom>
          <a:solidFill>
            <a:schemeClr val="accent1"/>
          </a:solidFill>
          <a:ln w="19050">
            <a:solidFill>
              <a:schemeClr val="accent1"/>
            </a:solidFill>
            <a:prstDash val="solid"/>
          </a:ln>
        </p:spPr>
      </p:sp>
      <p:sp>
        <p:nvSpPr>
          <p:cNvPr id="12" name="text-484"/>
          <p:cNvSpPr txBox="1"/>
          <p:nvPr/>
        </p:nvSpPr>
        <p:spPr>
          <a:xfrm>
            <a:off x="10195560" y="749808"/>
            <a:ext cx="914400" cy="228600"/>
          </a:xfrm>
          <a:prstGeom prst="rect">
            <a:avLst/>
          </a:prstGeom>
          <a:noFill/>
          <a:ln/>
        </p:spPr>
        <p:txBody>
          <a:bodyPr wrap="square" lIns="0" tIns="0" rIns="0" bIns="0" rtlCol="0" anchor="t"/>
          <a:lstStyle/>
          <a:p>
            <a:pPr marL="0" indent="0" algn="ctr">
              <a:buNone/>
            </a:pPr>
            <a:r>
              <a:rPr lang="en-US" sz="1000" b="1" dirty="0">
                <a:solidFill>
                  <a:schemeClr val="accent1"/>
                </a:solidFill>
              </a:rPr>
              <a:t>UI Demo</a:t>
            </a:r>
            <a:endParaRPr lang="en-US" sz="1000" dirty="0"/>
          </a:p>
        </p:txBody>
      </p:sp>
      <p:sp>
        <p:nvSpPr>
          <p:cNvPr id="13" name="tracker-dot-485"/>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486"/>
          <p:cNvSpPr txBox="1"/>
          <p:nvPr/>
        </p:nvSpPr>
        <p:spPr>
          <a:xfrm>
            <a:off x="1092708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Q&amp;A</a:t>
            </a:r>
            <a:endParaRPr lang="en-US" sz="1000" dirty="0"/>
          </a:p>
        </p:txBody>
      </p:sp>
      <p:sp>
        <p:nvSpPr>
          <p:cNvPr id="15" name="text-487"/>
          <p:cNvSpPr txBox="1"/>
          <p:nvPr/>
        </p:nvSpPr>
        <p:spPr>
          <a:xfrm>
            <a:off x="548640" y="1417320"/>
            <a:ext cx="5669280" cy="292608"/>
          </a:xfrm>
          <a:prstGeom prst="rect">
            <a:avLst/>
          </a:prstGeom>
          <a:noFill/>
          <a:ln/>
        </p:spPr>
        <p:txBody>
          <a:bodyPr wrap="square" lIns="0" tIns="0" rIns="0" bIns="0" rtlCol="0" anchor="t"/>
          <a:lstStyle/>
          <a:p>
            <a:pPr marL="0" indent="0">
              <a:buNone/>
            </a:pPr>
            <a:r>
              <a:rPr lang="en-US" sz="1400" b="1" dirty="0">
                <a:solidFill>
                  <a:schemeClr val="tx1"/>
                </a:solidFill>
              </a:rPr>
              <a:t>1  Admin sets Picked Up at Madhapur Hub</a:t>
            </a:r>
            <a:endParaRPr lang="en-US" sz="1400" dirty="0"/>
          </a:p>
        </p:txBody>
      </p:sp>
      <p:sp>
        <p:nvSpPr>
          <p:cNvPr id="16" name="shot-frame-488"/>
          <p:cNvSpPr/>
          <p:nvPr/>
        </p:nvSpPr>
        <p:spPr>
          <a:xfrm>
            <a:off x="548640" y="1783080"/>
            <a:ext cx="5669280" cy="3543300"/>
          </a:xfrm>
          <a:prstGeom prst="roundRect">
            <a:avLst>
              <a:gd name="adj" fmla="val 3097"/>
            </a:avLst>
          </a:prstGeom>
          <a:solidFill>
            <a:schemeClr val="bg1"/>
          </a:solidFill>
          <a:ln/>
          <a:effectLst>
            <a:outerShdw blurRad="101600" dist="25400" dir="5400000" algn="bl" rotWithShape="0">
              <a:srgbClr val="000000">
                <a:alpha val="10000"/>
              </a:srgbClr>
            </a:outerShdw>
          </a:effectLst>
        </p:spPr>
      </p:sp>
      <p:pic>
        <p:nvPicPr>
          <p:cNvPr id="17" name="shot-489" descr="C:\Users\srest\AppData\Local\Temp\claude\C--Users-srest\52e86171-7f3f-4f9f-8710-1b05dd1b2558\scratchpad\deck\shots\admin_update_form.png"/>
          <p:cNvPicPr>
            <a:picLocks noChangeAspect="1"/>
          </p:cNvPicPr>
          <p:nvPr/>
        </p:nvPicPr>
        <p:blipFill>
          <a:blip r:embed="rId3"/>
          <a:stretch>
            <a:fillRect/>
          </a:stretch>
        </p:blipFill>
        <p:spPr>
          <a:xfrm>
            <a:off x="502920" y="1709928"/>
            <a:ext cx="5669280" cy="3543300"/>
          </a:xfrm>
          <a:prstGeom prst="rect">
            <a:avLst/>
          </a:prstGeom>
        </p:spPr>
      </p:pic>
      <p:sp>
        <p:nvSpPr>
          <p:cNvPr id="18" name="text-490"/>
          <p:cNvSpPr txBox="1"/>
          <p:nvPr/>
        </p:nvSpPr>
        <p:spPr>
          <a:xfrm>
            <a:off x="6492240" y="1417320"/>
            <a:ext cx="2377440" cy="292608"/>
          </a:xfrm>
          <a:prstGeom prst="rect">
            <a:avLst/>
          </a:prstGeom>
          <a:noFill/>
          <a:ln/>
        </p:spPr>
        <p:txBody>
          <a:bodyPr wrap="square" lIns="0" tIns="0" rIns="0" bIns="0" rtlCol="0" anchor="t"/>
          <a:lstStyle/>
          <a:p>
            <a:pPr marL="0" indent="0">
              <a:buNone/>
            </a:pPr>
            <a:r>
              <a:rPr lang="en-US" sz="1400" b="1" dirty="0">
                <a:solidFill>
                  <a:schemeClr val="tx1"/>
                </a:solidFill>
              </a:rPr>
              <a:t>2  Phone scans the QR</a:t>
            </a:r>
            <a:endParaRPr lang="en-US" sz="1400" dirty="0"/>
          </a:p>
        </p:txBody>
      </p:sp>
      <p:sp>
        <p:nvSpPr>
          <p:cNvPr id="19" name="phone-frame-491"/>
          <p:cNvSpPr/>
          <p:nvPr/>
        </p:nvSpPr>
        <p:spPr>
          <a:xfrm>
            <a:off x="6492240" y="1783080"/>
            <a:ext cx="1637307" cy="3543300"/>
          </a:xfrm>
          <a:prstGeom prst="roundRect">
            <a:avLst>
              <a:gd name="adj" fmla="val 6702"/>
            </a:avLst>
          </a:prstGeom>
          <a:solidFill>
            <a:schemeClr val="bg1"/>
          </a:solidFill>
          <a:ln/>
          <a:effectLst>
            <a:outerShdw blurRad="101600" dist="25400" dir="5400000" algn="bl" rotWithShape="0">
              <a:srgbClr val="000000">
                <a:alpha val="10000"/>
              </a:srgbClr>
            </a:outerShdw>
          </a:effectLst>
        </p:spPr>
      </p:sp>
      <p:pic>
        <p:nvPicPr>
          <p:cNvPr id="20" name="shot-phone-492" descr="C:\Users\srest\AppData\Local\Temp\claude\C--Users-srest\52e86171-7f3f-4f9f-8710-1b05dd1b2558\scratchpad\deck\shots\phone_track.png"/>
          <p:cNvPicPr>
            <a:picLocks noChangeAspect="1"/>
          </p:cNvPicPr>
          <p:nvPr/>
        </p:nvPicPr>
        <p:blipFill>
          <a:blip r:embed="rId4"/>
          <a:stretch>
            <a:fillRect/>
          </a:stretch>
        </p:blipFill>
        <p:spPr>
          <a:xfrm>
            <a:off x="6492240" y="1783080"/>
            <a:ext cx="1637307" cy="3543300"/>
          </a:xfrm>
          <a:prstGeom prst="rect">
            <a:avLst/>
          </a:prstGeom>
        </p:spPr>
      </p:pic>
      <p:sp>
        <p:nvSpPr>
          <p:cNvPr id="21" name="code-card-493"/>
          <p:cNvSpPr/>
          <p:nvPr/>
        </p:nvSpPr>
        <p:spPr>
          <a:xfrm>
            <a:off x="8403867" y="1783080"/>
            <a:ext cx="3239188" cy="3543300"/>
          </a:xfrm>
          <a:prstGeom prst="roundRect">
            <a:avLst>
              <a:gd name="adj" fmla="val 3388"/>
            </a:avLst>
          </a:prstGeom>
          <a:solidFill>
            <a:schemeClr val="tx1"/>
          </a:solidFill>
          <a:ln/>
          <a:effectLst>
            <a:outerShdw blurRad="101600" dist="25400" dir="5400000" algn="bl" rotWithShape="0">
              <a:srgbClr val="000000">
                <a:alpha val="10000"/>
              </a:srgbClr>
            </a:outerShdw>
          </a:effectLst>
        </p:spPr>
      </p:sp>
      <p:sp>
        <p:nvSpPr>
          <p:cNvPr id="22" name="text-494"/>
          <p:cNvSpPr txBox="1"/>
          <p:nvPr/>
        </p:nvSpPr>
        <p:spPr>
          <a:xfrm>
            <a:off x="8678187" y="1947672"/>
            <a:ext cx="2743200" cy="228600"/>
          </a:xfrm>
          <a:prstGeom prst="rect">
            <a:avLst/>
          </a:prstGeom>
          <a:noFill/>
          <a:ln/>
        </p:spPr>
        <p:txBody>
          <a:bodyPr wrap="square" lIns="0" tIns="0" rIns="0" bIns="0" rtlCol="0" anchor="t"/>
          <a:lstStyle/>
          <a:p>
            <a:pPr marL="0" indent="0">
              <a:buNone/>
            </a:pPr>
            <a:r>
              <a:rPr lang="en-US" sz="1000" b="1" kern="0" spc="150" dirty="0">
                <a:solidFill>
                  <a:schemeClr val="accent1"/>
                </a:solidFill>
              </a:rPr>
              <a:t>ONE TRANSACTION</a:t>
            </a:r>
            <a:endParaRPr lang="en-US" sz="1000" dirty="0"/>
          </a:p>
        </p:txBody>
      </p:sp>
      <p:sp>
        <p:nvSpPr>
          <p:cNvPr id="23" name="code-495"/>
          <p:cNvSpPr txBox="1"/>
          <p:nvPr/>
        </p:nvSpPr>
        <p:spPr>
          <a:xfrm>
            <a:off x="8678187" y="2240280"/>
            <a:ext cx="2781988" cy="2948940"/>
          </a:xfrm>
          <a:prstGeom prst="rect">
            <a:avLst/>
          </a:prstGeom>
          <a:noFill/>
          <a:ln/>
        </p:spPr>
        <p:txBody>
          <a:bodyPr wrap="square" lIns="0" tIns="0" rIns="0" bIns="0" rtlCol="0" anchor="t"/>
          <a:lstStyle/>
          <a:p>
            <a:pPr marL="0" indent="0">
              <a:lnSpc>
                <a:spcPct val="105000"/>
              </a:lnSpc>
              <a:buNone/>
            </a:pPr>
            <a:r>
              <a:rPr lang="en-US" sz="1100" dirty="0">
                <a:solidFill>
                  <a:schemeClr val="accent1"/>
                </a:solidFill>
                <a:latin typeface="Consolas" pitchFamily="34" charset="0"/>
                <a:ea typeface="Consolas" pitchFamily="34" charset="-122"/>
                <a:cs typeface="Consolas" pitchFamily="34" charset="-120"/>
              </a:rPr>
              <a:t>START</a:t>
            </a:r>
            <a:r>
              <a:rPr lang="en-US" sz="1100" dirty="0">
                <a:solidFill>
                  <a:schemeClr val="bg2"/>
                </a:solidFill>
                <a:latin typeface="Consolas" pitchFamily="34" charset="0"/>
                <a:ea typeface="Consolas" pitchFamily="34" charset="-122"/>
                <a:cs typeface="Consolas" pitchFamily="34" charset="-120"/>
              </a:rPr>
              <a:t> </a:t>
            </a:r>
            <a:r>
              <a:rPr lang="en-US" sz="1100" dirty="0">
                <a:solidFill>
                  <a:schemeClr val="accent1"/>
                </a:solidFill>
                <a:latin typeface="Consolas" pitchFamily="34" charset="0"/>
                <a:ea typeface="Consolas" pitchFamily="34" charset="-122"/>
                <a:cs typeface="Consolas" pitchFamily="34" charset="-120"/>
              </a:rPr>
              <a:t>TRANSACTION</a:t>
            </a:r>
            <a:r>
              <a:rPr lang="en-US" sz="1100" dirty="0">
                <a:solidFill>
                  <a:schemeClr val="bg2"/>
                </a:solidFill>
                <a:latin typeface="Consolas" pitchFamily="34" charset="0"/>
                <a:ea typeface="Consolas" pitchFamily="34" charset="-122"/>
                <a:cs typeface="Consolas" pitchFamily="34" charset="-120"/>
              </a:rPr>
              <a:t>;</a:t>
            </a:r>
            <a:endParaRPr lang="en-US" sz="1100" dirty="0"/>
          </a:p>
          <a:p>
            <a:pPr marL="0" indent="0">
              <a:lnSpc>
                <a:spcPct val="105000"/>
              </a:lnSpc>
              <a:buNone/>
            </a:pPr>
            <a:r>
              <a:rPr lang="en-US" sz="1100" dirty="0">
                <a:solidFill>
                  <a:schemeClr val="accent1"/>
                </a:solidFill>
                <a:latin typeface="Consolas" pitchFamily="34" charset="0"/>
                <a:ea typeface="Consolas" pitchFamily="34" charset="-122"/>
                <a:cs typeface="Consolas" pitchFamily="34" charset="-120"/>
              </a:rPr>
              <a:t>UPDATE</a:t>
            </a:r>
            <a:r>
              <a:rPr lang="en-US" sz="1100" dirty="0">
                <a:solidFill>
                  <a:schemeClr val="bg2"/>
                </a:solidFill>
                <a:latin typeface="Consolas" pitchFamily="34" charset="0"/>
                <a:ea typeface="Consolas" pitchFamily="34" charset="-122"/>
                <a:cs typeface="Consolas" pitchFamily="34" charset="-120"/>
              </a:rPr>
              <a:t> parcels</a:t>
            </a:r>
            <a:endParaRPr lang="en-US" sz="1100" dirty="0"/>
          </a:p>
          <a:p>
            <a:pPr marL="0" indent="0">
              <a:lnSpc>
                <a:spcPct val="105000"/>
              </a:lnSpc>
              <a:buNone/>
            </a:pPr>
            <a:r>
              <a:rPr lang="en-US" sz="1100" dirty="0">
                <a:solidFill>
                  <a:schemeClr val="bg2"/>
                </a:solidFill>
                <a:latin typeface="Consolas" pitchFamily="34" charset="0"/>
                <a:ea typeface="Consolas" pitchFamily="34" charset="-122"/>
                <a:cs typeface="Consolas" pitchFamily="34" charset="-120"/>
              </a:rPr>
              <a:t>  </a:t>
            </a:r>
            <a:r>
              <a:rPr lang="en-US" sz="1100" dirty="0">
                <a:solidFill>
                  <a:schemeClr val="accent1"/>
                </a:solidFill>
                <a:latin typeface="Consolas" pitchFamily="34" charset="0"/>
                <a:ea typeface="Consolas" pitchFamily="34" charset="-122"/>
                <a:cs typeface="Consolas" pitchFamily="34" charset="-120"/>
              </a:rPr>
              <a:t>SET</a:t>
            </a:r>
            <a:r>
              <a:rPr lang="en-US" sz="1100" dirty="0">
                <a:solidFill>
                  <a:schemeClr val="bg2"/>
                </a:solidFill>
                <a:latin typeface="Consolas" pitchFamily="34" charset="0"/>
                <a:ea typeface="Consolas" pitchFamily="34" charset="-122"/>
                <a:cs typeface="Consolas" pitchFamily="34" charset="-120"/>
              </a:rPr>
              <a:t> current_status</a:t>
            </a:r>
            <a:endParaRPr lang="en-US" sz="1100" dirty="0"/>
          </a:p>
          <a:p>
            <a:pPr marL="0" indent="0">
              <a:lnSpc>
                <a:spcPct val="105000"/>
              </a:lnSpc>
              <a:buNone/>
            </a:pPr>
            <a:r>
              <a:rPr lang="en-US" sz="1100" dirty="0">
                <a:solidFill>
                  <a:schemeClr val="bg2"/>
                </a:solidFill>
                <a:latin typeface="Consolas" pitchFamily="34" charset="0"/>
                <a:ea typeface="Consolas" pitchFamily="34" charset="-122"/>
                <a:cs typeface="Consolas" pitchFamily="34" charset="-120"/>
              </a:rPr>
              <a:t>    = </a:t>
            </a:r>
            <a:r>
              <a:rPr lang="en-US" sz="1100" dirty="0">
                <a:solidFill>
                  <a:srgbClr val="7DD3A8"/>
                </a:solidFill>
                <a:latin typeface="Consolas" pitchFamily="34" charset="0"/>
                <a:ea typeface="Consolas" pitchFamily="34" charset="-122"/>
                <a:cs typeface="Consolas" pitchFamily="34" charset="-120"/>
              </a:rPr>
              <a:t>'Picked Up'</a:t>
            </a:r>
            <a:r>
              <a:rPr lang="en-US" sz="1100" dirty="0">
                <a:solidFill>
                  <a:schemeClr val="bg2"/>
                </a:solidFill>
                <a:latin typeface="Consolas" pitchFamily="34" charset="0"/>
                <a:ea typeface="Consolas" pitchFamily="34" charset="-122"/>
                <a:cs typeface="Consolas" pitchFamily="34" charset="-120"/>
              </a:rPr>
              <a:t>;</a:t>
            </a:r>
            <a:endParaRPr lang="en-US" sz="1100" dirty="0"/>
          </a:p>
          <a:p>
            <a:pPr marL="0" indent="0">
              <a:lnSpc>
                <a:spcPct val="105000"/>
              </a:lnSpc>
              <a:buNone/>
            </a:pPr>
            <a:r>
              <a:rPr lang="en-US" sz="1100" dirty="0">
                <a:solidFill>
                  <a:schemeClr val="accent1"/>
                </a:solidFill>
                <a:latin typeface="Consolas" pitchFamily="34" charset="0"/>
                <a:ea typeface="Consolas" pitchFamily="34" charset="-122"/>
                <a:cs typeface="Consolas" pitchFamily="34" charset="-120"/>
              </a:rPr>
              <a:t>INSERT</a:t>
            </a:r>
            <a:r>
              <a:rPr lang="en-US" sz="1100" dirty="0">
                <a:solidFill>
                  <a:schemeClr val="bg2"/>
                </a:solidFill>
                <a:latin typeface="Consolas" pitchFamily="34" charset="0"/>
                <a:ea typeface="Consolas" pitchFamily="34" charset="-122"/>
                <a:cs typeface="Consolas" pitchFamily="34" charset="-120"/>
              </a:rPr>
              <a:t> </a:t>
            </a:r>
            <a:r>
              <a:rPr lang="en-US" sz="1100" dirty="0">
                <a:solidFill>
                  <a:schemeClr val="accent1"/>
                </a:solidFill>
                <a:latin typeface="Consolas" pitchFamily="34" charset="0"/>
                <a:ea typeface="Consolas" pitchFamily="34" charset="-122"/>
                <a:cs typeface="Consolas" pitchFamily="34" charset="-120"/>
              </a:rPr>
              <a:t>INTO</a:t>
            </a:r>
            <a:endParaRPr lang="en-US" sz="1100" dirty="0"/>
          </a:p>
          <a:p>
            <a:pPr marL="0" indent="0">
              <a:lnSpc>
                <a:spcPct val="105000"/>
              </a:lnSpc>
              <a:buNone/>
            </a:pPr>
            <a:r>
              <a:rPr lang="en-US" sz="1100" dirty="0">
                <a:solidFill>
                  <a:schemeClr val="bg2"/>
                </a:solidFill>
                <a:latin typeface="Consolas" pitchFamily="34" charset="0"/>
                <a:ea typeface="Consolas" pitchFamily="34" charset="-122"/>
                <a:cs typeface="Consolas" pitchFamily="34" charset="-120"/>
              </a:rPr>
              <a:t>  tracking_history</a:t>
            </a:r>
            <a:endParaRPr lang="en-US" sz="1100" dirty="0"/>
          </a:p>
          <a:p>
            <a:pPr marL="0" indent="0">
              <a:lnSpc>
                <a:spcPct val="105000"/>
              </a:lnSpc>
              <a:buNone/>
            </a:pPr>
            <a:r>
              <a:rPr lang="en-US" sz="1100" dirty="0">
                <a:solidFill>
                  <a:schemeClr val="bg2"/>
                </a:solidFill>
                <a:latin typeface="Consolas" pitchFamily="34" charset="0"/>
                <a:ea typeface="Consolas" pitchFamily="34" charset="-122"/>
                <a:cs typeface="Consolas" pitchFamily="34" charset="-120"/>
              </a:rPr>
              <a:t>  </a:t>
            </a:r>
            <a:r>
              <a:rPr lang="en-US" sz="1100" dirty="0">
                <a:solidFill>
                  <a:schemeClr val="accent1"/>
                </a:solidFill>
                <a:latin typeface="Consolas" pitchFamily="34" charset="0"/>
                <a:ea typeface="Consolas" pitchFamily="34" charset="-122"/>
                <a:cs typeface="Consolas" pitchFamily="34" charset="-120"/>
              </a:rPr>
              <a:t>VALUES</a:t>
            </a:r>
            <a:r>
              <a:rPr lang="en-US" sz="1100" dirty="0">
                <a:solidFill>
                  <a:schemeClr val="bg2"/>
                </a:solidFill>
                <a:latin typeface="Consolas" pitchFamily="34" charset="0"/>
                <a:ea typeface="Consolas" pitchFamily="34" charset="-122"/>
                <a:cs typeface="Consolas" pitchFamily="34" charset="-120"/>
              </a:rPr>
              <a:t> (…);</a:t>
            </a:r>
            <a:endParaRPr lang="en-US" sz="1100" dirty="0"/>
          </a:p>
          <a:p>
            <a:pPr marL="0" indent="0">
              <a:lnSpc>
                <a:spcPct val="105000"/>
              </a:lnSpc>
              <a:buNone/>
            </a:pPr>
            <a:r>
              <a:rPr lang="en-US" sz="1100" dirty="0">
                <a:solidFill>
                  <a:schemeClr val="accent1"/>
                </a:solidFill>
                <a:latin typeface="Consolas" pitchFamily="34" charset="0"/>
                <a:ea typeface="Consolas" pitchFamily="34" charset="-122"/>
                <a:cs typeface="Consolas" pitchFamily="34" charset="-120"/>
              </a:rPr>
              <a:t>COMMIT</a:t>
            </a:r>
            <a:r>
              <a:rPr lang="en-US" sz="1100" dirty="0">
                <a:solidFill>
                  <a:schemeClr val="bg2"/>
                </a:solidFill>
                <a:latin typeface="Consolas" pitchFamily="34" charset="0"/>
                <a:ea typeface="Consolas" pitchFamily="34" charset="-122"/>
                <a:cs typeface="Consolas" pitchFamily="34" charset="-120"/>
              </a:rPr>
              <a:t>;</a:t>
            </a:r>
            <a:endParaRPr lang="en-US" sz="1100" dirty="0"/>
          </a:p>
        </p:txBody>
      </p:sp>
      <p:sp>
        <p:nvSpPr>
          <p:cNvPr id="24" name="count-card-496"/>
          <p:cNvSpPr/>
          <p:nvPr/>
        </p:nvSpPr>
        <p:spPr>
          <a:xfrm>
            <a:off x="548640" y="5440680"/>
            <a:ext cx="3545738" cy="777240"/>
          </a:xfrm>
          <a:prstGeom prst="roundRect">
            <a:avLst>
              <a:gd name="adj" fmla="val 14118"/>
            </a:avLst>
          </a:prstGeom>
          <a:solidFill>
            <a:schemeClr val="bg2"/>
          </a:solidFill>
          <a:ln/>
        </p:spPr>
      </p:sp>
      <p:sp>
        <p:nvSpPr>
          <p:cNvPr id="25" name="text-497"/>
          <p:cNvSpPr txBox="1"/>
          <p:nvPr/>
        </p:nvSpPr>
        <p:spPr>
          <a:xfrm>
            <a:off x="731520" y="5440680"/>
            <a:ext cx="1554480" cy="777240"/>
          </a:xfrm>
          <a:prstGeom prst="rect">
            <a:avLst/>
          </a:prstGeom>
          <a:noFill/>
          <a:ln/>
        </p:spPr>
        <p:txBody>
          <a:bodyPr wrap="square" lIns="0" tIns="0" rIns="0" bIns="0" rtlCol="0" anchor="ctr"/>
          <a:lstStyle/>
          <a:p>
            <a:pPr marL="0" indent="0">
              <a:buNone/>
            </a:pPr>
            <a:r>
              <a:rPr lang="en-US" sz="1300" b="1" dirty="0">
                <a:solidFill>
                  <a:schemeClr val="tx1"/>
                </a:solidFill>
                <a:latin typeface="Consolas" pitchFamily="34" charset="0"/>
                <a:ea typeface="Consolas" pitchFamily="34" charset="-122"/>
                <a:cs typeface="Consolas" pitchFamily="34" charset="-120"/>
              </a:rPr>
              <a:t>parcels</a:t>
            </a:r>
            <a:endParaRPr lang="en-US" sz="1300" dirty="0"/>
          </a:p>
        </p:txBody>
      </p:sp>
      <p:sp>
        <p:nvSpPr>
          <p:cNvPr id="26" name="text-498"/>
          <p:cNvSpPr txBox="1"/>
          <p:nvPr/>
        </p:nvSpPr>
        <p:spPr>
          <a:xfrm>
            <a:off x="1945538" y="5486400"/>
            <a:ext cx="2011680" cy="685800"/>
          </a:xfrm>
          <a:prstGeom prst="rect">
            <a:avLst/>
          </a:prstGeom>
          <a:noFill/>
          <a:ln/>
        </p:spPr>
        <p:txBody>
          <a:bodyPr wrap="square" lIns="0" tIns="0" rIns="0" bIns="0" rtlCol="0" anchor="ctr"/>
          <a:lstStyle/>
          <a:p>
            <a:pPr marL="0" indent="0" algn="r">
              <a:buNone/>
            </a:pPr>
            <a:r>
              <a:rPr lang="en-US" sz="1600" b="1" dirty="0">
                <a:solidFill>
                  <a:schemeClr val="accent1"/>
                </a:solidFill>
              </a:rPr>
              <a:t>Booked → Picked Up</a:t>
            </a:r>
            <a:endParaRPr lang="en-US" sz="1400" dirty="0"/>
          </a:p>
          <a:p>
            <a:pPr marL="0" indent="0" algn="r">
              <a:buNone/>
            </a:pPr>
            <a:r>
              <a:rPr lang="en-US" sz="1000" dirty="0">
                <a:solidFill>
                  <a:schemeClr val="accent6"/>
                </a:solidFill>
              </a:rPr>
              <a:t>UPDATE current_status</a:t>
            </a:r>
            <a:endParaRPr lang="en-US" sz="1400" dirty="0"/>
          </a:p>
        </p:txBody>
      </p:sp>
      <p:sp>
        <p:nvSpPr>
          <p:cNvPr id="27" name="count-card-499"/>
          <p:cNvSpPr/>
          <p:nvPr/>
        </p:nvSpPr>
        <p:spPr>
          <a:xfrm>
            <a:off x="4322978" y="5440680"/>
            <a:ext cx="3545738" cy="777240"/>
          </a:xfrm>
          <a:prstGeom prst="roundRect">
            <a:avLst>
              <a:gd name="adj" fmla="val 14118"/>
            </a:avLst>
          </a:prstGeom>
          <a:solidFill>
            <a:schemeClr val="tx1"/>
          </a:solidFill>
          <a:ln/>
        </p:spPr>
      </p:sp>
      <p:sp>
        <p:nvSpPr>
          <p:cNvPr id="28" name="text-500"/>
          <p:cNvSpPr txBox="1"/>
          <p:nvPr/>
        </p:nvSpPr>
        <p:spPr>
          <a:xfrm>
            <a:off x="4505858" y="5440680"/>
            <a:ext cx="1554480" cy="777240"/>
          </a:xfrm>
          <a:prstGeom prst="rect">
            <a:avLst/>
          </a:prstGeom>
          <a:noFill/>
          <a:ln/>
        </p:spPr>
        <p:txBody>
          <a:bodyPr wrap="square" lIns="0" tIns="0" rIns="0" bIns="0" rtlCol="0" anchor="ctr"/>
          <a:lstStyle/>
          <a:p>
            <a:pPr marL="0" indent="0">
              <a:buNone/>
            </a:pPr>
            <a:r>
              <a:rPr lang="en-US" sz="1300" b="1" dirty="0">
                <a:solidFill>
                  <a:schemeClr val="bg1"/>
                </a:solidFill>
                <a:latin typeface="Consolas" pitchFamily="34" charset="0"/>
                <a:ea typeface="Consolas" pitchFamily="34" charset="-122"/>
                <a:cs typeface="Consolas" pitchFamily="34" charset="-120"/>
              </a:rPr>
              <a:t>tracking_history</a:t>
            </a:r>
            <a:endParaRPr lang="en-US" sz="1300" dirty="0"/>
          </a:p>
        </p:txBody>
      </p:sp>
      <p:sp>
        <p:nvSpPr>
          <p:cNvPr id="29" name="text-501"/>
          <p:cNvSpPr txBox="1"/>
          <p:nvPr/>
        </p:nvSpPr>
        <p:spPr>
          <a:xfrm>
            <a:off x="5719877" y="5486400"/>
            <a:ext cx="2011680" cy="685800"/>
          </a:xfrm>
          <a:prstGeom prst="rect">
            <a:avLst/>
          </a:prstGeom>
          <a:noFill/>
          <a:ln/>
        </p:spPr>
        <p:txBody>
          <a:bodyPr wrap="square" lIns="0" tIns="0" rIns="0" bIns="0" rtlCol="0" anchor="ctr"/>
          <a:lstStyle/>
          <a:p>
            <a:pPr marL="0" indent="0" algn="r">
              <a:buNone/>
            </a:pPr>
            <a:r>
              <a:rPr lang="en-US" sz="1600" b="1" dirty="0">
                <a:solidFill>
                  <a:schemeClr val="accent1"/>
                </a:solidFill>
              </a:rPr>
              <a:t>45 → 46</a:t>
            </a:r>
            <a:endParaRPr lang="en-US" sz="1400" dirty="0"/>
          </a:p>
          <a:p>
            <a:pPr marL="0" indent="0" algn="r">
              <a:buNone/>
            </a:pPr>
            <a:r>
              <a:rPr lang="en-US" sz="1000" dirty="0">
                <a:solidFill>
                  <a:schemeClr val="accent6"/>
                </a:solidFill>
              </a:rPr>
              <a:t>INSERT, old rows kept</a:t>
            </a:r>
            <a:endParaRPr lang="en-US" sz="1400" dirty="0"/>
          </a:p>
        </p:txBody>
      </p:sp>
      <p:sp>
        <p:nvSpPr>
          <p:cNvPr id="30" name="count-card-502"/>
          <p:cNvSpPr/>
          <p:nvPr/>
        </p:nvSpPr>
        <p:spPr>
          <a:xfrm>
            <a:off x="8097317" y="5440680"/>
            <a:ext cx="3545738" cy="777240"/>
          </a:xfrm>
          <a:prstGeom prst="roundRect">
            <a:avLst>
              <a:gd name="adj" fmla="val 14118"/>
            </a:avLst>
          </a:prstGeom>
          <a:solidFill>
            <a:schemeClr val="bg2"/>
          </a:solidFill>
          <a:ln/>
        </p:spPr>
      </p:sp>
      <p:sp>
        <p:nvSpPr>
          <p:cNvPr id="31" name="text-503"/>
          <p:cNvSpPr txBox="1"/>
          <p:nvPr/>
        </p:nvSpPr>
        <p:spPr>
          <a:xfrm>
            <a:off x="8280197" y="5440680"/>
            <a:ext cx="1554480" cy="777240"/>
          </a:xfrm>
          <a:prstGeom prst="rect">
            <a:avLst/>
          </a:prstGeom>
          <a:noFill/>
          <a:ln/>
        </p:spPr>
        <p:txBody>
          <a:bodyPr wrap="square" lIns="0" tIns="0" rIns="0" bIns="0" rtlCol="0" anchor="ctr"/>
          <a:lstStyle/>
          <a:p>
            <a:pPr marL="0" indent="0">
              <a:buNone/>
            </a:pPr>
            <a:r>
              <a:rPr lang="en-US" sz="1300" b="1" dirty="0">
                <a:solidFill>
                  <a:schemeClr val="tx1"/>
                </a:solidFill>
                <a:latin typeface="Consolas" pitchFamily="34" charset="0"/>
                <a:ea typeface="Consolas" pitchFamily="34" charset="-122"/>
                <a:cs typeface="Consolas" pitchFamily="34" charset="-120"/>
              </a:rPr>
              <a:t>QR scan</a:t>
            </a:r>
            <a:endParaRPr lang="en-US" sz="1300" dirty="0"/>
          </a:p>
        </p:txBody>
      </p:sp>
      <p:sp>
        <p:nvSpPr>
          <p:cNvPr id="32" name="text-504"/>
          <p:cNvSpPr txBox="1"/>
          <p:nvPr/>
        </p:nvSpPr>
        <p:spPr>
          <a:xfrm>
            <a:off x="9494215" y="5486400"/>
            <a:ext cx="2011680" cy="685800"/>
          </a:xfrm>
          <a:prstGeom prst="rect">
            <a:avLst/>
          </a:prstGeom>
          <a:noFill/>
          <a:ln/>
        </p:spPr>
        <p:txBody>
          <a:bodyPr wrap="square" lIns="0" tIns="0" rIns="0" bIns="0" rtlCol="0" anchor="ctr"/>
          <a:lstStyle/>
          <a:p>
            <a:pPr marL="0" indent="0" algn="r">
              <a:buNone/>
            </a:pPr>
            <a:r>
              <a:rPr lang="en-US" sz="1600" b="1" dirty="0">
                <a:solidFill>
                  <a:schemeClr val="accent1"/>
                </a:solidFill>
              </a:rPr>
              <a:t>live status</a:t>
            </a:r>
            <a:endParaRPr lang="en-US" sz="1400" dirty="0"/>
          </a:p>
          <a:p>
            <a:pPr marL="0" indent="0" algn="r">
              <a:buNone/>
            </a:pPr>
            <a:r>
              <a:rPr lang="en-US" sz="1000" dirty="0">
                <a:solidFill>
                  <a:schemeClr val="accent6"/>
                </a:solidFill>
              </a:rPr>
              <a:t>opens track.php on the phone</a:t>
            </a:r>
            <a:endParaRPr lang="en-US" sz="1400" dirty="0"/>
          </a:p>
        </p:txBody>
      </p:sp>
      <p:sp>
        <p:nvSpPr>
          <p:cNvPr id="33"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7498080" cy="868680"/>
          </a:xfrm>
          <a:prstGeom prst="rect">
            <a:avLst/>
          </a:prstGeom>
          <a:noFill/>
          <a:ln/>
        </p:spPr>
        <p:txBody>
          <a:bodyPr wrap="square" lIns="0" tIns="0" rIns="0" bIns="0" rtlCol="0" anchor="ctr"/>
          <a:lstStyle/>
          <a:p>
            <a:pPr marL="0" indent="0" algn="l">
              <a:buNone/>
            </a:pPr>
            <a:r>
              <a:rPr lang="en-US" sz="2800" dirty="0">
                <a:solidFill>
                  <a:schemeClr val="tx1"/>
                </a:solidFill>
                <a:latin typeface="Segoe UI Semibold" pitchFamily="34" charset="0"/>
                <a:ea typeface="Segoe UI Semibold" pitchFamily="34" charset="-122"/>
                <a:cs typeface="Segoe UI Semibold" pitchFamily="34" charset="-120"/>
              </a:rPr>
              <a:t>Delete: cascades or refuses, by design</a:t>
            </a:r>
            <a:endParaRPr lang="en-US" sz="2800" dirty="0"/>
          </a:p>
        </p:txBody>
      </p:sp>
      <p:sp>
        <p:nvSpPr>
          <p:cNvPr id="3" name="tracker-rail-505"/>
          <p:cNvSpPr/>
          <p:nvPr/>
        </p:nvSpPr>
        <p:spPr>
          <a:xfrm>
            <a:off x="8458200" y="566928"/>
            <a:ext cx="2926080" cy="0"/>
          </a:xfrm>
          <a:prstGeom prst="line">
            <a:avLst/>
          </a:prstGeom>
          <a:noFill/>
          <a:ln w="31750">
            <a:solidFill>
              <a:srgbClr val="D1D5DB"/>
            </a:solidFill>
            <a:prstDash val="solid"/>
          </a:ln>
        </p:spPr>
      </p:sp>
      <p:sp>
        <p:nvSpPr>
          <p:cNvPr id="4" name="tracker-done-506"/>
          <p:cNvSpPr/>
          <p:nvPr/>
        </p:nvSpPr>
        <p:spPr>
          <a:xfrm>
            <a:off x="8458200" y="566928"/>
            <a:ext cx="2194560" cy="0"/>
          </a:xfrm>
          <a:prstGeom prst="line">
            <a:avLst/>
          </a:prstGeom>
          <a:noFill/>
          <a:ln w="31750">
            <a:solidFill>
              <a:schemeClr val="accent1"/>
            </a:solidFill>
            <a:prstDash val="solid"/>
          </a:ln>
        </p:spPr>
      </p:sp>
      <p:sp>
        <p:nvSpPr>
          <p:cNvPr id="5" name="tracker-dot-507"/>
          <p:cNvSpPr/>
          <p:nvPr/>
        </p:nvSpPr>
        <p:spPr>
          <a:xfrm>
            <a:off x="8385048" y="493776"/>
            <a:ext cx="146304" cy="146304"/>
          </a:xfrm>
          <a:prstGeom prst="ellipse">
            <a:avLst/>
          </a:prstGeom>
          <a:solidFill>
            <a:schemeClr val="accent1"/>
          </a:solidFill>
          <a:ln w="19050">
            <a:solidFill>
              <a:schemeClr val="accent1"/>
            </a:solidFill>
            <a:prstDash val="solid"/>
          </a:ln>
        </p:spPr>
      </p:sp>
      <p:sp>
        <p:nvSpPr>
          <p:cNvPr id="6" name="text-508"/>
          <p:cNvSpPr txBox="1"/>
          <p:nvPr/>
        </p:nvSpPr>
        <p:spPr>
          <a:xfrm>
            <a:off x="800100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Problem</a:t>
            </a:r>
            <a:endParaRPr lang="en-US" sz="1000" dirty="0"/>
          </a:p>
        </p:txBody>
      </p:sp>
      <p:sp>
        <p:nvSpPr>
          <p:cNvPr id="7" name="tracker-dot-509"/>
          <p:cNvSpPr/>
          <p:nvPr/>
        </p:nvSpPr>
        <p:spPr>
          <a:xfrm>
            <a:off x="9116568" y="493776"/>
            <a:ext cx="146304" cy="146304"/>
          </a:xfrm>
          <a:prstGeom prst="ellipse">
            <a:avLst/>
          </a:prstGeom>
          <a:solidFill>
            <a:schemeClr val="accent1"/>
          </a:solidFill>
          <a:ln w="19050">
            <a:solidFill>
              <a:schemeClr val="accent1"/>
            </a:solidFill>
            <a:prstDash val="solid"/>
          </a:ln>
        </p:spPr>
      </p:sp>
      <p:sp>
        <p:nvSpPr>
          <p:cNvPr id="8" name="text-510"/>
          <p:cNvSpPr txBox="1"/>
          <p:nvPr/>
        </p:nvSpPr>
        <p:spPr>
          <a:xfrm>
            <a:off x="873252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ER &amp; Schema</a:t>
            </a:r>
            <a:endParaRPr lang="en-US" sz="1000" dirty="0"/>
          </a:p>
        </p:txBody>
      </p:sp>
      <p:sp>
        <p:nvSpPr>
          <p:cNvPr id="9" name="tracker-dot-511"/>
          <p:cNvSpPr/>
          <p:nvPr/>
        </p:nvSpPr>
        <p:spPr>
          <a:xfrm>
            <a:off x="9848088" y="493776"/>
            <a:ext cx="146304" cy="146304"/>
          </a:xfrm>
          <a:prstGeom prst="ellipse">
            <a:avLst/>
          </a:prstGeom>
          <a:solidFill>
            <a:schemeClr val="accent1"/>
          </a:solidFill>
          <a:ln w="19050">
            <a:solidFill>
              <a:schemeClr val="accent1"/>
            </a:solidFill>
            <a:prstDash val="solid"/>
          </a:ln>
        </p:spPr>
      </p:sp>
      <p:sp>
        <p:nvSpPr>
          <p:cNvPr id="10" name="text-512"/>
          <p:cNvSpPr txBox="1"/>
          <p:nvPr/>
        </p:nvSpPr>
        <p:spPr>
          <a:xfrm>
            <a:off x="946404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Database</a:t>
            </a:r>
            <a:endParaRPr lang="en-US" sz="1000" dirty="0"/>
          </a:p>
        </p:txBody>
      </p:sp>
      <p:sp>
        <p:nvSpPr>
          <p:cNvPr id="11" name="tracker-dot-513"/>
          <p:cNvSpPr/>
          <p:nvPr/>
        </p:nvSpPr>
        <p:spPr>
          <a:xfrm>
            <a:off x="10533888" y="448056"/>
            <a:ext cx="237744" cy="237744"/>
          </a:xfrm>
          <a:prstGeom prst="ellipse">
            <a:avLst/>
          </a:prstGeom>
          <a:solidFill>
            <a:schemeClr val="accent1"/>
          </a:solidFill>
          <a:ln w="19050">
            <a:solidFill>
              <a:schemeClr val="accent1"/>
            </a:solidFill>
            <a:prstDash val="solid"/>
          </a:ln>
        </p:spPr>
      </p:sp>
      <p:sp>
        <p:nvSpPr>
          <p:cNvPr id="12" name="text-514"/>
          <p:cNvSpPr txBox="1"/>
          <p:nvPr/>
        </p:nvSpPr>
        <p:spPr>
          <a:xfrm>
            <a:off x="10195560" y="749808"/>
            <a:ext cx="914400" cy="228600"/>
          </a:xfrm>
          <a:prstGeom prst="rect">
            <a:avLst/>
          </a:prstGeom>
          <a:noFill/>
          <a:ln/>
        </p:spPr>
        <p:txBody>
          <a:bodyPr wrap="square" lIns="0" tIns="0" rIns="0" bIns="0" rtlCol="0" anchor="t"/>
          <a:lstStyle/>
          <a:p>
            <a:pPr marL="0" indent="0" algn="ctr">
              <a:buNone/>
            </a:pPr>
            <a:r>
              <a:rPr lang="en-US" sz="1000" b="1" dirty="0">
                <a:solidFill>
                  <a:schemeClr val="accent1"/>
                </a:solidFill>
              </a:rPr>
              <a:t>UI Demo</a:t>
            </a:r>
            <a:endParaRPr lang="en-US" sz="1000" dirty="0"/>
          </a:p>
        </p:txBody>
      </p:sp>
      <p:sp>
        <p:nvSpPr>
          <p:cNvPr id="13" name="tracker-dot-515"/>
          <p:cNvSpPr/>
          <p:nvPr/>
        </p:nvSpPr>
        <p:spPr>
          <a:xfrm>
            <a:off x="11311128" y="493776"/>
            <a:ext cx="146304" cy="146304"/>
          </a:xfrm>
          <a:prstGeom prst="ellipse">
            <a:avLst/>
          </a:prstGeom>
          <a:solidFill>
            <a:schemeClr val="bg1"/>
          </a:solidFill>
          <a:ln w="19050">
            <a:solidFill>
              <a:schemeClr val="accent6"/>
            </a:solidFill>
            <a:prstDash val="solid"/>
          </a:ln>
        </p:spPr>
      </p:sp>
      <p:sp>
        <p:nvSpPr>
          <p:cNvPr id="14" name="text-516"/>
          <p:cNvSpPr txBox="1"/>
          <p:nvPr/>
        </p:nvSpPr>
        <p:spPr>
          <a:xfrm>
            <a:off x="10927080" y="749808"/>
            <a:ext cx="914400" cy="228600"/>
          </a:xfrm>
          <a:prstGeom prst="rect">
            <a:avLst/>
          </a:prstGeom>
          <a:noFill/>
          <a:ln/>
        </p:spPr>
        <p:txBody>
          <a:bodyPr wrap="square" lIns="0" tIns="0" rIns="0" bIns="0" rtlCol="0" anchor="t"/>
          <a:lstStyle/>
          <a:p>
            <a:pPr marL="0" indent="0" algn="ctr">
              <a:buNone/>
            </a:pPr>
            <a:r>
              <a:rPr lang="en-US" sz="1000" dirty="0">
                <a:solidFill>
                  <a:schemeClr val="accent6"/>
                </a:solidFill>
              </a:rPr>
              <a:t>Q&amp;A</a:t>
            </a:r>
            <a:endParaRPr lang="en-US" sz="1000" dirty="0"/>
          </a:p>
        </p:txBody>
      </p:sp>
      <p:sp>
        <p:nvSpPr>
          <p:cNvPr id="15" name="text-517"/>
          <p:cNvSpPr txBox="1"/>
          <p:nvPr/>
        </p:nvSpPr>
        <p:spPr>
          <a:xfrm>
            <a:off x="548640" y="1417320"/>
            <a:ext cx="5440680" cy="292608"/>
          </a:xfrm>
          <a:prstGeom prst="rect">
            <a:avLst/>
          </a:prstGeom>
          <a:noFill/>
          <a:ln/>
        </p:spPr>
        <p:txBody>
          <a:bodyPr wrap="square" lIns="0" tIns="0" rIns="0" bIns="0" rtlCol="0" anchor="t"/>
          <a:lstStyle/>
          <a:p>
            <a:pPr marL="0" indent="0">
              <a:buNone/>
            </a:pPr>
            <a:r>
              <a:rPr lang="en-US" sz="1400" b="1" dirty="0">
                <a:solidFill>
                  <a:schemeClr val="tx1"/>
                </a:solidFill>
                <a:latin typeface="Consolas" pitchFamily="34" charset="0"/>
                <a:ea typeface="Consolas" pitchFamily="34" charset="-122"/>
                <a:cs typeface="Consolas" pitchFamily="34" charset="-120"/>
              </a:rPr>
              <a:t>DELETE parcel CR202610060001</a:t>
            </a:r>
            <a:endParaRPr lang="en-US" sz="1400" dirty="0"/>
          </a:p>
        </p:txBody>
      </p:sp>
      <p:sp>
        <p:nvSpPr>
          <p:cNvPr id="16" name="shot-frame-518"/>
          <p:cNvSpPr/>
          <p:nvPr/>
        </p:nvSpPr>
        <p:spPr>
          <a:xfrm>
            <a:off x="548640" y="1783080"/>
            <a:ext cx="5440680" cy="3400425"/>
          </a:xfrm>
          <a:prstGeom prst="roundRect">
            <a:avLst>
              <a:gd name="adj" fmla="val 3227"/>
            </a:avLst>
          </a:prstGeom>
          <a:solidFill>
            <a:schemeClr val="bg1"/>
          </a:solidFill>
          <a:ln/>
          <a:effectLst>
            <a:outerShdw blurRad="101600" dist="25400" dir="5400000" algn="bl" rotWithShape="0">
              <a:srgbClr val="000000">
                <a:alpha val="10000"/>
              </a:srgbClr>
            </a:outerShdw>
          </a:effectLst>
        </p:spPr>
      </p:sp>
      <p:pic>
        <p:nvPicPr>
          <p:cNvPr id="17" name="shot-519" descr="C:\Users\srest\AppData\Local\Temp\claude\C--Users-srest\52e86171-7f3f-4f9f-8710-1b05dd1b2558\scratchpad\deck\shots\delete_parcel.png"/>
          <p:cNvPicPr>
            <a:picLocks noChangeAspect="1"/>
          </p:cNvPicPr>
          <p:nvPr/>
        </p:nvPicPr>
        <p:blipFill>
          <a:blip r:embed="rId3"/>
          <a:stretch>
            <a:fillRect/>
          </a:stretch>
        </p:blipFill>
        <p:spPr>
          <a:xfrm>
            <a:off x="548640" y="1783080"/>
            <a:ext cx="5440680" cy="3400425"/>
          </a:xfrm>
          <a:prstGeom prst="rect">
            <a:avLst/>
          </a:prstGeom>
        </p:spPr>
      </p:pic>
      <p:sp>
        <p:nvSpPr>
          <p:cNvPr id="18" name="delete-note-520"/>
          <p:cNvSpPr/>
          <p:nvPr/>
        </p:nvSpPr>
        <p:spPr>
          <a:xfrm>
            <a:off x="548640" y="5440680"/>
            <a:ext cx="5440680" cy="777240"/>
          </a:xfrm>
          <a:prstGeom prst="roundRect">
            <a:avLst>
              <a:gd name="adj" fmla="val 14118"/>
            </a:avLst>
          </a:prstGeom>
          <a:solidFill>
            <a:schemeClr val="accent2">
              <a:alpha val="12000"/>
            </a:schemeClr>
          </a:solidFill>
          <a:ln/>
        </p:spPr>
      </p:sp>
      <p:pic>
        <p:nvPicPr>
          <p:cNvPr id="19" name="icon-LuTrash2-521" descr="C:\Users\srest\AppData\Local\Temp\claude\C--Users-srest\52e86171-7f3f-4f9f-8710-1b05dd1b2558\scratchpad\deck\icons\LuTrash2_k.png"/>
          <p:cNvPicPr>
            <a:picLocks noChangeAspect="1"/>
          </p:cNvPicPr>
          <p:nvPr/>
        </p:nvPicPr>
        <p:blipFill>
          <a:blip r:embed="rId4"/>
          <a:stretch>
            <a:fillRect/>
          </a:stretch>
        </p:blipFill>
        <p:spPr>
          <a:xfrm>
            <a:off x="749808" y="5641848"/>
            <a:ext cx="365760" cy="365760"/>
          </a:xfrm>
          <a:prstGeom prst="rect">
            <a:avLst/>
          </a:prstGeom>
        </p:spPr>
      </p:pic>
      <p:sp>
        <p:nvSpPr>
          <p:cNvPr id="20" name="text-522"/>
          <p:cNvSpPr txBox="1"/>
          <p:nvPr/>
        </p:nvSpPr>
        <p:spPr>
          <a:xfrm>
            <a:off x="1280160" y="5440680"/>
            <a:ext cx="4526280" cy="777240"/>
          </a:xfrm>
          <a:prstGeom prst="rect">
            <a:avLst/>
          </a:prstGeom>
          <a:noFill/>
          <a:ln/>
        </p:spPr>
        <p:txBody>
          <a:bodyPr wrap="square" lIns="0" tIns="0" rIns="0" bIns="0" rtlCol="0" anchor="ctr"/>
          <a:lstStyle/>
          <a:p>
            <a:pPr marL="0" indent="0">
              <a:buNone/>
            </a:pPr>
            <a:r>
              <a:rPr lang="en-US" sz="1300" dirty="0">
                <a:solidFill>
                  <a:schemeClr val="tx1"/>
                </a:solidFill>
              </a:rPr>
              <a:t>CASCADE: its 2 tracking events and 1 payment go too.  parcels 13 → 12, tracking_history 46 → 44</a:t>
            </a:r>
            <a:endParaRPr lang="en-US" sz="1300" dirty="0"/>
          </a:p>
        </p:txBody>
      </p:sp>
      <p:sp>
        <p:nvSpPr>
          <p:cNvPr id="21" name="text-523"/>
          <p:cNvSpPr txBox="1"/>
          <p:nvPr/>
        </p:nvSpPr>
        <p:spPr>
          <a:xfrm>
            <a:off x="6199632" y="1417320"/>
            <a:ext cx="5440680" cy="292608"/>
          </a:xfrm>
          <a:prstGeom prst="rect">
            <a:avLst/>
          </a:prstGeom>
          <a:noFill/>
          <a:ln/>
        </p:spPr>
        <p:txBody>
          <a:bodyPr wrap="square" lIns="0" tIns="0" rIns="0" bIns="0" rtlCol="0" anchor="t"/>
          <a:lstStyle/>
          <a:p>
            <a:pPr marL="0" indent="0">
              <a:buNone/>
            </a:pPr>
            <a:r>
              <a:rPr lang="en-US" sz="1400" b="1" dirty="0">
                <a:solidFill>
                  <a:schemeClr val="tx1"/>
                </a:solidFill>
                <a:latin typeface="Consolas" pitchFamily="34" charset="0"/>
                <a:ea typeface="Consolas" pitchFamily="34" charset="-122"/>
                <a:cs typeface="Consolas" pitchFamily="34" charset="-120"/>
              </a:rPr>
              <a:t>DELETE customer Rahul Sharma</a:t>
            </a:r>
            <a:endParaRPr lang="en-US" sz="1400" dirty="0"/>
          </a:p>
        </p:txBody>
      </p:sp>
      <p:sp>
        <p:nvSpPr>
          <p:cNvPr id="22" name="shot-frame-524"/>
          <p:cNvSpPr/>
          <p:nvPr/>
        </p:nvSpPr>
        <p:spPr>
          <a:xfrm>
            <a:off x="6199632" y="1783080"/>
            <a:ext cx="5440680" cy="3400425"/>
          </a:xfrm>
          <a:prstGeom prst="roundRect">
            <a:avLst>
              <a:gd name="adj" fmla="val 3227"/>
            </a:avLst>
          </a:prstGeom>
          <a:solidFill>
            <a:schemeClr val="bg1"/>
          </a:solidFill>
          <a:ln/>
          <a:effectLst>
            <a:outerShdw blurRad="101600" dist="25400" dir="5400000" algn="bl" rotWithShape="0">
              <a:srgbClr val="000000">
                <a:alpha val="10000"/>
              </a:srgbClr>
            </a:outerShdw>
          </a:effectLst>
        </p:spPr>
      </p:sp>
      <p:pic>
        <p:nvPicPr>
          <p:cNvPr id="23" name="shot-525" descr="C:\Users\srest\AppData\Local\Temp\claude\C--Users-srest\52e86171-7f3f-4f9f-8710-1b05dd1b2558\scratchpad\deck\shots\delete_restricted.png"/>
          <p:cNvPicPr>
            <a:picLocks noChangeAspect="1"/>
          </p:cNvPicPr>
          <p:nvPr/>
        </p:nvPicPr>
        <p:blipFill>
          <a:blip r:embed="rId5"/>
          <a:stretch>
            <a:fillRect/>
          </a:stretch>
        </p:blipFill>
        <p:spPr>
          <a:xfrm>
            <a:off x="6199632" y="1783080"/>
            <a:ext cx="5440680" cy="3400425"/>
          </a:xfrm>
          <a:prstGeom prst="rect">
            <a:avLst/>
          </a:prstGeom>
        </p:spPr>
      </p:pic>
      <p:sp>
        <p:nvSpPr>
          <p:cNvPr id="24" name="delete-note-526"/>
          <p:cNvSpPr/>
          <p:nvPr/>
        </p:nvSpPr>
        <p:spPr>
          <a:xfrm>
            <a:off x="6199632" y="5440680"/>
            <a:ext cx="5440680" cy="777240"/>
          </a:xfrm>
          <a:prstGeom prst="roundRect">
            <a:avLst>
              <a:gd name="adj" fmla="val 14118"/>
            </a:avLst>
          </a:prstGeom>
          <a:solidFill>
            <a:schemeClr val="tx1"/>
          </a:solidFill>
          <a:ln/>
        </p:spPr>
      </p:sp>
      <p:pic>
        <p:nvPicPr>
          <p:cNvPr id="25" name="icon-LuShieldCheck-527" descr="C:\Users\srest\AppData\Local\Temp\claude\C--Users-srest\52e86171-7f3f-4f9f-8710-1b05dd1b2558\scratchpad\deck\icons\LuShieldCheck_o.png"/>
          <p:cNvPicPr>
            <a:picLocks noChangeAspect="1"/>
          </p:cNvPicPr>
          <p:nvPr/>
        </p:nvPicPr>
        <p:blipFill>
          <a:blip r:embed="rId6"/>
          <a:stretch>
            <a:fillRect/>
          </a:stretch>
        </p:blipFill>
        <p:spPr>
          <a:xfrm>
            <a:off x="6400800" y="5641848"/>
            <a:ext cx="365760" cy="365760"/>
          </a:xfrm>
          <a:prstGeom prst="rect">
            <a:avLst/>
          </a:prstGeom>
        </p:spPr>
      </p:pic>
      <p:sp>
        <p:nvSpPr>
          <p:cNvPr id="26" name="text-528"/>
          <p:cNvSpPr txBox="1"/>
          <p:nvPr/>
        </p:nvSpPr>
        <p:spPr>
          <a:xfrm>
            <a:off x="6931152" y="5440680"/>
            <a:ext cx="4526280" cy="777240"/>
          </a:xfrm>
          <a:prstGeom prst="rect">
            <a:avLst/>
          </a:prstGeom>
          <a:noFill/>
          <a:ln/>
        </p:spPr>
        <p:txBody>
          <a:bodyPr wrap="square" lIns="0" tIns="0" rIns="0" bIns="0" rtlCol="0" anchor="ctr"/>
          <a:lstStyle/>
          <a:p>
            <a:pPr marL="0" indent="0">
              <a:buNone/>
            </a:pPr>
            <a:r>
              <a:rPr lang="en-US" sz="1300" dirty="0">
                <a:solidFill>
                  <a:schemeClr val="bg1"/>
                </a:solidFill>
              </a:rPr>
              <a:t>RESTRICT: MySQL error 1451, because this customer still has 5 parcels</a:t>
            </a:r>
            <a:endParaRPr lang="en-US" sz="1300" dirty="0"/>
          </a:p>
        </p:txBody>
      </p:sp>
      <p:sp>
        <p:nvSpPr>
          <p:cNvPr id="27"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racker-rail-529"/>
          <p:cNvSpPr/>
          <p:nvPr/>
        </p:nvSpPr>
        <p:spPr>
          <a:xfrm>
            <a:off x="8458200" y="566928"/>
            <a:ext cx="2926080" cy="0"/>
          </a:xfrm>
          <a:prstGeom prst="line">
            <a:avLst/>
          </a:prstGeom>
          <a:noFill/>
          <a:ln w="31750">
            <a:solidFill>
              <a:srgbClr val="3A4256"/>
            </a:solidFill>
            <a:prstDash val="solid"/>
          </a:ln>
        </p:spPr>
      </p:sp>
      <p:sp>
        <p:nvSpPr>
          <p:cNvPr id="3" name="tracker-done-530"/>
          <p:cNvSpPr/>
          <p:nvPr/>
        </p:nvSpPr>
        <p:spPr>
          <a:xfrm>
            <a:off x="8458200" y="566928"/>
            <a:ext cx="2926080" cy="0"/>
          </a:xfrm>
          <a:prstGeom prst="line">
            <a:avLst/>
          </a:prstGeom>
          <a:noFill/>
          <a:ln w="31750">
            <a:solidFill>
              <a:schemeClr val="accent1"/>
            </a:solidFill>
            <a:prstDash val="solid"/>
          </a:ln>
        </p:spPr>
      </p:sp>
      <p:sp>
        <p:nvSpPr>
          <p:cNvPr id="4" name="tracker-dot-531"/>
          <p:cNvSpPr/>
          <p:nvPr/>
        </p:nvSpPr>
        <p:spPr>
          <a:xfrm>
            <a:off x="8385048" y="493776"/>
            <a:ext cx="146304" cy="146304"/>
          </a:xfrm>
          <a:prstGeom prst="ellipse">
            <a:avLst/>
          </a:prstGeom>
          <a:solidFill>
            <a:schemeClr val="accent1"/>
          </a:solidFill>
          <a:ln w="19050">
            <a:solidFill>
              <a:schemeClr val="accent1"/>
            </a:solidFill>
            <a:prstDash val="solid"/>
          </a:ln>
        </p:spPr>
      </p:sp>
      <p:sp>
        <p:nvSpPr>
          <p:cNvPr id="5" name="text-532"/>
          <p:cNvSpPr txBox="1"/>
          <p:nvPr/>
        </p:nvSpPr>
        <p:spPr>
          <a:xfrm>
            <a:off x="8001000" y="749808"/>
            <a:ext cx="914400" cy="228600"/>
          </a:xfrm>
          <a:prstGeom prst="rect">
            <a:avLst/>
          </a:prstGeom>
          <a:noFill/>
          <a:ln/>
        </p:spPr>
        <p:txBody>
          <a:bodyPr wrap="square" lIns="0" tIns="0" rIns="0" bIns="0" rtlCol="0" anchor="t"/>
          <a:lstStyle/>
          <a:p>
            <a:pPr marL="0" indent="0" algn="ctr">
              <a:buNone/>
            </a:pPr>
            <a:r>
              <a:rPr lang="en-US" sz="1000" dirty="0">
                <a:solidFill>
                  <a:schemeClr val="bg2"/>
                </a:solidFill>
              </a:rPr>
              <a:t>Problem</a:t>
            </a:r>
            <a:endParaRPr lang="en-US" sz="1000" dirty="0"/>
          </a:p>
        </p:txBody>
      </p:sp>
      <p:sp>
        <p:nvSpPr>
          <p:cNvPr id="6" name="tracker-dot-533"/>
          <p:cNvSpPr/>
          <p:nvPr/>
        </p:nvSpPr>
        <p:spPr>
          <a:xfrm>
            <a:off x="9116568" y="493776"/>
            <a:ext cx="146304" cy="146304"/>
          </a:xfrm>
          <a:prstGeom prst="ellipse">
            <a:avLst/>
          </a:prstGeom>
          <a:solidFill>
            <a:schemeClr val="accent1"/>
          </a:solidFill>
          <a:ln w="19050">
            <a:solidFill>
              <a:schemeClr val="accent1"/>
            </a:solidFill>
            <a:prstDash val="solid"/>
          </a:ln>
        </p:spPr>
      </p:sp>
      <p:sp>
        <p:nvSpPr>
          <p:cNvPr id="7" name="text-534"/>
          <p:cNvSpPr txBox="1"/>
          <p:nvPr/>
        </p:nvSpPr>
        <p:spPr>
          <a:xfrm>
            <a:off x="8732520" y="749808"/>
            <a:ext cx="914400" cy="228600"/>
          </a:xfrm>
          <a:prstGeom prst="rect">
            <a:avLst/>
          </a:prstGeom>
          <a:noFill/>
          <a:ln/>
        </p:spPr>
        <p:txBody>
          <a:bodyPr wrap="square" lIns="0" tIns="0" rIns="0" bIns="0" rtlCol="0" anchor="t"/>
          <a:lstStyle/>
          <a:p>
            <a:pPr marL="0" indent="0" algn="ctr">
              <a:buNone/>
            </a:pPr>
            <a:r>
              <a:rPr lang="en-US" sz="1000" dirty="0">
                <a:solidFill>
                  <a:schemeClr val="bg2"/>
                </a:solidFill>
              </a:rPr>
              <a:t>ER &amp; Schema</a:t>
            </a:r>
            <a:endParaRPr lang="en-US" sz="1000" dirty="0"/>
          </a:p>
        </p:txBody>
      </p:sp>
      <p:sp>
        <p:nvSpPr>
          <p:cNvPr id="8" name="tracker-dot-535"/>
          <p:cNvSpPr/>
          <p:nvPr/>
        </p:nvSpPr>
        <p:spPr>
          <a:xfrm>
            <a:off x="9848088" y="493776"/>
            <a:ext cx="146304" cy="146304"/>
          </a:xfrm>
          <a:prstGeom prst="ellipse">
            <a:avLst/>
          </a:prstGeom>
          <a:solidFill>
            <a:schemeClr val="accent1"/>
          </a:solidFill>
          <a:ln w="19050">
            <a:solidFill>
              <a:schemeClr val="accent1"/>
            </a:solidFill>
            <a:prstDash val="solid"/>
          </a:ln>
        </p:spPr>
      </p:sp>
      <p:sp>
        <p:nvSpPr>
          <p:cNvPr id="9" name="text-536"/>
          <p:cNvSpPr txBox="1"/>
          <p:nvPr/>
        </p:nvSpPr>
        <p:spPr>
          <a:xfrm>
            <a:off x="9464040" y="749808"/>
            <a:ext cx="914400" cy="228600"/>
          </a:xfrm>
          <a:prstGeom prst="rect">
            <a:avLst/>
          </a:prstGeom>
          <a:noFill/>
          <a:ln/>
        </p:spPr>
        <p:txBody>
          <a:bodyPr wrap="square" lIns="0" tIns="0" rIns="0" bIns="0" rtlCol="0" anchor="t"/>
          <a:lstStyle/>
          <a:p>
            <a:pPr marL="0" indent="0" algn="ctr">
              <a:buNone/>
            </a:pPr>
            <a:r>
              <a:rPr lang="en-US" sz="1000" dirty="0">
                <a:solidFill>
                  <a:schemeClr val="bg2"/>
                </a:solidFill>
              </a:rPr>
              <a:t>Database</a:t>
            </a:r>
            <a:endParaRPr lang="en-US" sz="1000" dirty="0"/>
          </a:p>
        </p:txBody>
      </p:sp>
      <p:sp>
        <p:nvSpPr>
          <p:cNvPr id="10" name="tracker-dot-537"/>
          <p:cNvSpPr/>
          <p:nvPr/>
        </p:nvSpPr>
        <p:spPr>
          <a:xfrm>
            <a:off x="10579608" y="493776"/>
            <a:ext cx="146304" cy="146304"/>
          </a:xfrm>
          <a:prstGeom prst="ellipse">
            <a:avLst/>
          </a:prstGeom>
          <a:solidFill>
            <a:schemeClr val="accent1"/>
          </a:solidFill>
          <a:ln w="19050">
            <a:solidFill>
              <a:schemeClr val="accent1"/>
            </a:solidFill>
            <a:prstDash val="solid"/>
          </a:ln>
        </p:spPr>
      </p:sp>
      <p:sp>
        <p:nvSpPr>
          <p:cNvPr id="11" name="text-538"/>
          <p:cNvSpPr txBox="1"/>
          <p:nvPr/>
        </p:nvSpPr>
        <p:spPr>
          <a:xfrm>
            <a:off x="10195560" y="749808"/>
            <a:ext cx="914400" cy="228600"/>
          </a:xfrm>
          <a:prstGeom prst="rect">
            <a:avLst/>
          </a:prstGeom>
          <a:noFill/>
          <a:ln/>
        </p:spPr>
        <p:txBody>
          <a:bodyPr wrap="square" lIns="0" tIns="0" rIns="0" bIns="0" rtlCol="0" anchor="t"/>
          <a:lstStyle/>
          <a:p>
            <a:pPr marL="0" indent="0" algn="ctr">
              <a:buNone/>
            </a:pPr>
            <a:r>
              <a:rPr lang="en-US" sz="1000" dirty="0">
                <a:solidFill>
                  <a:schemeClr val="bg2"/>
                </a:solidFill>
              </a:rPr>
              <a:t>UI Demo</a:t>
            </a:r>
            <a:endParaRPr lang="en-US" sz="1000" dirty="0"/>
          </a:p>
        </p:txBody>
      </p:sp>
      <p:sp>
        <p:nvSpPr>
          <p:cNvPr id="12" name="tracker-dot-539"/>
          <p:cNvSpPr/>
          <p:nvPr/>
        </p:nvSpPr>
        <p:spPr>
          <a:xfrm>
            <a:off x="11265408" y="448056"/>
            <a:ext cx="237744" cy="237744"/>
          </a:xfrm>
          <a:prstGeom prst="ellipse">
            <a:avLst/>
          </a:prstGeom>
          <a:solidFill>
            <a:schemeClr val="accent1"/>
          </a:solidFill>
          <a:ln w="19050">
            <a:solidFill>
              <a:schemeClr val="accent1"/>
            </a:solidFill>
            <a:prstDash val="solid"/>
          </a:ln>
        </p:spPr>
      </p:sp>
      <p:sp>
        <p:nvSpPr>
          <p:cNvPr id="13" name="text-540"/>
          <p:cNvSpPr txBox="1"/>
          <p:nvPr/>
        </p:nvSpPr>
        <p:spPr>
          <a:xfrm>
            <a:off x="10927080" y="749808"/>
            <a:ext cx="914400" cy="228600"/>
          </a:xfrm>
          <a:prstGeom prst="rect">
            <a:avLst/>
          </a:prstGeom>
          <a:noFill/>
          <a:ln/>
        </p:spPr>
        <p:txBody>
          <a:bodyPr wrap="square" lIns="0" tIns="0" rIns="0" bIns="0" rtlCol="0" anchor="t"/>
          <a:lstStyle/>
          <a:p>
            <a:pPr marL="0" indent="0" algn="ctr">
              <a:buNone/>
            </a:pPr>
            <a:r>
              <a:rPr lang="en-US" sz="1000" b="1" dirty="0">
                <a:solidFill>
                  <a:schemeClr val="accent1"/>
                </a:solidFill>
              </a:rPr>
              <a:t>Q&amp;A</a:t>
            </a:r>
            <a:endParaRPr lang="en-US" sz="1000" dirty="0"/>
          </a:p>
        </p:txBody>
      </p:sp>
      <p:sp>
        <p:nvSpPr>
          <p:cNvPr id="14" name="text-541"/>
          <p:cNvSpPr txBox="1"/>
          <p:nvPr/>
        </p:nvSpPr>
        <p:spPr>
          <a:xfrm>
            <a:off x="548640" y="1234440"/>
            <a:ext cx="6400800" cy="822960"/>
          </a:xfrm>
          <a:prstGeom prst="rect">
            <a:avLst/>
          </a:prstGeom>
          <a:noFill/>
          <a:ln/>
        </p:spPr>
        <p:txBody>
          <a:bodyPr wrap="square" lIns="0" tIns="0" rIns="0" bIns="0" rtlCol="0" anchor="t"/>
          <a:lstStyle/>
          <a:p>
            <a:pPr marL="0" indent="0">
              <a:buNone/>
            </a:pPr>
            <a:r>
              <a:rPr lang="en-US" sz="4400" dirty="0">
                <a:solidFill>
                  <a:schemeClr val="accent1"/>
                </a:solidFill>
                <a:latin typeface="Segoe UI Semibold" pitchFamily="34" charset="0"/>
                <a:ea typeface="Segoe UI Semibold" pitchFamily="34" charset="-122"/>
                <a:cs typeface="Segoe UI Semibold" pitchFamily="34" charset="-120"/>
              </a:rPr>
              <a:t>Delivered.</a:t>
            </a:r>
            <a:endParaRPr lang="en-US" sz="4400" dirty="0"/>
          </a:p>
        </p:txBody>
      </p:sp>
      <p:sp>
        <p:nvSpPr>
          <p:cNvPr id="15" name="text-542"/>
          <p:cNvSpPr txBox="1"/>
          <p:nvPr/>
        </p:nvSpPr>
        <p:spPr>
          <a:xfrm>
            <a:off x="548640" y="2011680"/>
            <a:ext cx="6400800" cy="731520"/>
          </a:xfrm>
          <a:prstGeom prst="rect">
            <a:avLst/>
          </a:prstGeom>
          <a:noFill/>
          <a:ln/>
        </p:spPr>
        <p:txBody>
          <a:bodyPr wrap="square" lIns="0" tIns="0" rIns="0" bIns="0" rtlCol="0" anchor="t"/>
          <a:lstStyle/>
          <a:p>
            <a:pPr marL="0" indent="0">
              <a:buNone/>
            </a:pPr>
            <a:r>
              <a:rPr lang="en-US" sz="3200" dirty="0">
                <a:solidFill>
                  <a:schemeClr val="bg1"/>
                </a:solidFill>
                <a:latin typeface="Segoe UI Semibold" pitchFamily="34" charset="0"/>
                <a:ea typeface="Segoe UI Semibold" pitchFamily="34" charset="-122"/>
                <a:cs typeface="Segoe UI Semibold" pitchFamily="34" charset="-120"/>
              </a:rPr>
              <a:t>Thank you. Questions?</a:t>
            </a:r>
            <a:endParaRPr lang="en-US" sz="3200" dirty="0"/>
          </a:p>
        </p:txBody>
      </p:sp>
      <p:pic>
        <p:nvPicPr>
          <p:cNvPr id="16" name="icon-LuCircleCheck-543" descr="C:\Users\srest\AppData\Local\Temp\claude\C--Users-srest\52e86171-7f3f-4f9f-8710-1b05dd1b2558\scratchpad\deck\icons\LuCircleCheck_o.png"/>
          <p:cNvPicPr>
            <a:picLocks noChangeAspect="1"/>
          </p:cNvPicPr>
          <p:nvPr/>
        </p:nvPicPr>
        <p:blipFill>
          <a:blip r:embed="rId3"/>
          <a:stretch>
            <a:fillRect/>
          </a:stretch>
        </p:blipFill>
        <p:spPr>
          <a:xfrm>
            <a:off x="548640" y="3145536"/>
            <a:ext cx="310896" cy="310896"/>
          </a:xfrm>
          <a:prstGeom prst="rect">
            <a:avLst/>
          </a:prstGeom>
        </p:spPr>
      </p:pic>
      <p:sp>
        <p:nvSpPr>
          <p:cNvPr id="17" name="text-544"/>
          <p:cNvSpPr txBox="1"/>
          <p:nvPr/>
        </p:nvSpPr>
        <p:spPr>
          <a:xfrm>
            <a:off x="1051560" y="3108960"/>
            <a:ext cx="6400800" cy="411480"/>
          </a:xfrm>
          <a:prstGeom prst="rect">
            <a:avLst/>
          </a:prstGeom>
          <a:noFill/>
          <a:ln/>
        </p:spPr>
        <p:txBody>
          <a:bodyPr wrap="square" lIns="0" tIns="0" rIns="0" bIns="0" rtlCol="0" anchor="ctr"/>
          <a:lstStyle/>
          <a:p>
            <a:pPr marL="0" indent="0">
              <a:buNone/>
            </a:pPr>
            <a:r>
              <a:rPr lang="en-US" sz="1500" dirty="0">
                <a:solidFill>
                  <a:schemeClr val="bg1"/>
                </a:solidFill>
              </a:rPr>
              <a:t>4-table schema in 3NF and BCNF, with 4 FKs, 3 CHECKs and 7 ENUMs</a:t>
            </a:r>
            <a:endParaRPr lang="en-US" sz="1500" dirty="0"/>
          </a:p>
        </p:txBody>
      </p:sp>
      <p:pic>
        <p:nvPicPr>
          <p:cNvPr id="18" name="icon-LuCircleCheck-545" descr="C:\Users\srest\AppData\Local\Temp\claude\C--Users-srest\52e86171-7f3f-4f9f-8710-1b05dd1b2558\scratchpad\deck\icons\LuCircleCheck_o.png"/>
          <p:cNvPicPr>
            <a:picLocks noChangeAspect="1"/>
          </p:cNvPicPr>
          <p:nvPr/>
        </p:nvPicPr>
        <p:blipFill>
          <a:blip r:embed="rId3"/>
          <a:stretch>
            <a:fillRect/>
          </a:stretch>
        </p:blipFill>
        <p:spPr>
          <a:xfrm>
            <a:off x="548640" y="3767328"/>
            <a:ext cx="310896" cy="310896"/>
          </a:xfrm>
          <a:prstGeom prst="rect">
            <a:avLst/>
          </a:prstGeom>
        </p:spPr>
      </p:pic>
      <p:sp>
        <p:nvSpPr>
          <p:cNvPr id="19" name="text-546"/>
          <p:cNvSpPr txBox="1"/>
          <p:nvPr/>
        </p:nvSpPr>
        <p:spPr>
          <a:xfrm>
            <a:off x="1051560" y="3730752"/>
            <a:ext cx="6400800" cy="411480"/>
          </a:xfrm>
          <a:prstGeom prst="rect">
            <a:avLst/>
          </a:prstGeom>
          <a:noFill/>
          <a:ln/>
        </p:spPr>
        <p:txBody>
          <a:bodyPr wrap="square" lIns="0" tIns="0" rIns="0" bIns="0" rtlCol="0" anchor="ctr"/>
          <a:lstStyle/>
          <a:p>
            <a:pPr marL="0" indent="0">
              <a:buNone/>
            </a:pPr>
            <a:r>
              <a:rPr lang="en-US" sz="1500" dirty="0">
                <a:solidFill>
                  <a:schemeClr val="bg1"/>
                </a:solidFill>
              </a:rPr>
              <a:t>Transactions keep parcels, history and payments in step</a:t>
            </a:r>
            <a:endParaRPr lang="en-US" sz="1500" dirty="0"/>
          </a:p>
        </p:txBody>
      </p:sp>
      <p:pic>
        <p:nvPicPr>
          <p:cNvPr id="20" name="icon-LuCircleCheck-547" descr="C:\Users\srest\AppData\Local\Temp\claude\C--Users-srest\52e86171-7f3f-4f9f-8710-1b05dd1b2558\scratchpad\deck\icons\LuCircleCheck_o.png"/>
          <p:cNvPicPr>
            <a:picLocks noChangeAspect="1"/>
          </p:cNvPicPr>
          <p:nvPr/>
        </p:nvPicPr>
        <p:blipFill>
          <a:blip r:embed="rId3"/>
          <a:stretch>
            <a:fillRect/>
          </a:stretch>
        </p:blipFill>
        <p:spPr>
          <a:xfrm>
            <a:off x="548640" y="4389120"/>
            <a:ext cx="310896" cy="310896"/>
          </a:xfrm>
          <a:prstGeom prst="rect">
            <a:avLst/>
          </a:prstGeom>
        </p:spPr>
      </p:pic>
      <p:sp>
        <p:nvSpPr>
          <p:cNvPr id="21" name="text-548"/>
          <p:cNvSpPr txBox="1"/>
          <p:nvPr/>
        </p:nvSpPr>
        <p:spPr>
          <a:xfrm>
            <a:off x="1051560" y="4352544"/>
            <a:ext cx="6400800" cy="411480"/>
          </a:xfrm>
          <a:prstGeom prst="rect">
            <a:avLst/>
          </a:prstGeom>
          <a:noFill/>
          <a:ln/>
        </p:spPr>
        <p:txBody>
          <a:bodyPr wrap="square" lIns="0" tIns="0" rIns="0" bIns="0" rtlCol="0" anchor="ctr"/>
          <a:lstStyle/>
          <a:p>
            <a:pPr marL="0" indent="0">
              <a:buNone/>
            </a:pPr>
            <a:r>
              <a:rPr lang="en-US" sz="1500" dirty="0">
                <a:solidFill>
                  <a:schemeClr val="bg1"/>
                </a:solidFill>
              </a:rPr>
              <a:t>13 demo queries: JOIN, LEFT JOIN, GROUP BY, HAVING, a view</a:t>
            </a:r>
            <a:endParaRPr lang="en-US" sz="1500" dirty="0"/>
          </a:p>
        </p:txBody>
      </p:sp>
      <p:pic>
        <p:nvPicPr>
          <p:cNvPr id="22" name="icon-LuCircleCheck-549" descr="C:\Users\srest\AppData\Local\Temp\claude\C--Users-srest\52e86171-7f3f-4f9f-8710-1b05dd1b2558\scratchpad\deck\icons\LuCircleCheck_o.png"/>
          <p:cNvPicPr>
            <a:picLocks noChangeAspect="1"/>
          </p:cNvPicPr>
          <p:nvPr/>
        </p:nvPicPr>
        <p:blipFill>
          <a:blip r:embed="rId3"/>
          <a:stretch>
            <a:fillRect/>
          </a:stretch>
        </p:blipFill>
        <p:spPr>
          <a:xfrm>
            <a:off x="548640" y="5010912"/>
            <a:ext cx="310896" cy="310896"/>
          </a:xfrm>
          <a:prstGeom prst="rect">
            <a:avLst/>
          </a:prstGeom>
        </p:spPr>
      </p:pic>
      <p:sp>
        <p:nvSpPr>
          <p:cNvPr id="23" name="text-550"/>
          <p:cNvSpPr txBox="1"/>
          <p:nvPr/>
        </p:nvSpPr>
        <p:spPr>
          <a:xfrm>
            <a:off x="1051560" y="4974336"/>
            <a:ext cx="6400800" cy="411480"/>
          </a:xfrm>
          <a:prstGeom prst="rect">
            <a:avLst/>
          </a:prstGeom>
          <a:noFill/>
          <a:ln/>
        </p:spPr>
        <p:txBody>
          <a:bodyPr wrap="square" lIns="0" tIns="0" rIns="0" bIns="0" rtlCol="0" anchor="ctr"/>
          <a:lstStyle/>
          <a:p>
            <a:pPr marL="0" indent="0">
              <a:buNone/>
            </a:pPr>
            <a:r>
              <a:rPr lang="en-US" sz="1500" dirty="0">
                <a:solidFill>
                  <a:schemeClr val="bg1"/>
                </a:solidFill>
              </a:rPr>
              <a:t>Working PHP app: insert, update, delete, view, and QR tracking on a phone</a:t>
            </a:r>
            <a:endParaRPr lang="en-US" sz="1500" dirty="0"/>
          </a:p>
        </p:txBody>
      </p:sp>
      <p:sp>
        <p:nvSpPr>
          <p:cNvPr id="24" name="future-card-551"/>
          <p:cNvSpPr/>
          <p:nvPr/>
        </p:nvSpPr>
        <p:spPr>
          <a:xfrm>
            <a:off x="7589520" y="1280160"/>
            <a:ext cx="4053535" cy="4892040"/>
          </a:xfrm>
          <a:prstGeom prst="roundRect">
            <a:avLst>
              <a:gd name="adj" fmla="val 2707"/>
            </a:avLst>
          </a:prstGeom>
          <a:solidFill>
            <a:schemeClr val="tx2"/>
          </a:solidFill>
          <a:ln/>
        </p:spPr>
      </p:sp>
      <p:sp>
        <p:nvSpPr>
          <p:cNvPr id="25" name="text-552"/>
          <p:cNvSpPr txBox="1"/>
          <p:nvPr/>
        </p:nvSpPr>
        <p:spPr>
          <a:xfrm>
            <a:off x="7863840" y="1508760"/>
            <a:ext cx="3596335" cy="274320"/>
          </a:xfrm>
          <a:prstGeom prst="rect">
            <a:avLst/>
          </a:prstGeom>
          <a:noFill/>
          <a:ln/>
        </p:spPr>
        <p:txBody>
          <a:bodyPr wrap="square" lIns="0" tIns="0" rIns="0" bIns="0" rtlCol="0" anchor="t"/>
          <a:lstStyle/>
          <a:p>
            <a:pPr marL="0" indent="0">
              <a:buNone/>
            </a:pPr>
            <a:r>
              <a:rPr lang="en-US" sz="1100" b="1" kern="0" spc="150" dirty="0">
                <a:solidFill>
                  <a:schemeClr val="accent1"/>
                </a:solidFill>
              </a:rPr>
              <a:t>NEXT STOP: FUTURE SCOPE</a:t>
            </a:r>
            <a:endParaRPr lang="en-US" sz="1100" dirty="0"/>
          </a:p>
        </p:txBody>
      </p:sp>
      <p:sp>
        <p:nvSpPr>
          <p:cNvPr id="26" name="badge-553"/>
          <p:cNvSpPr/>
          <p:nvPr/>
        </p:nvSpPr>
        <p:spPr>
          <a:xfrm>
            <a:off x="7863840" y="1965960"/>
            <a:ext cx="566928" cy="566928"/>
          </a:xfrm>
          <a:prstGeom prst="ellipse">
            <a:avLst/>
          </a:prstGeom>
          <a:solidFill>
            <a:schemeClr val="tx1"/>
          </a:solidFill>
          <a:ln/>
        </p:spPr>
      </p:sp>
      <p:pic>
        <p:nvPicPr>
          <p:cNvPr id="27" name="icon-LuBell-554" descr="C:\Users\srest\AppData\Local\Temp\claude\C--Users-srest\52e86171-7f3f-4f9f-8710-1b05dd1b2558\scratchpad\deck\icons\LuBell_o.png"/>
          <p:cNvPicPr>
            <a:picLocks noChangeAspect="1"/>
          </p:cNvPicPr>
          <p:nvPr/>
        </p:nvPicPr>
        <p:blipFill>
          <a:blip r:embed="rId4"/>
          <a:stretch>
            <a:fillRect/>
          </a:stretch>
        </p:blipFill>
        <p:spPr>
          <a:xfrm>
            <a:off x="7988564" y="2090684"/>
            <a:ext cx="317480" cy="317480"/>
          </a:xfrm>
          <a:prstGeom prst="rect">
            <a:avLst/>
          </a:prstGeom>
        </p:spPr>
      </p:pic>
      <p:sp>
        <p:nvSpPr>
          <p:cNvPr id="28" name="text-555"/>
          <p:cNvSpPr txBox="1"/>
          <p:nvPr/>
        </p:nvSpPr>
        <p:spPr>
          <a:xfrm>
            <a:off x="8613648" y="1984248"/>
            <a:ext cx="2819095" cy="594360"/>
          </a:xfrm>
          <a:prstGeom prst="rect">
            <a:avLst/>
          </a:prstGeom>
          <a:noFill/>
          <a:ln/>
        </p:spPr>
        <p:txBody>
          <a:bodyPr wrap="square" lIns="0" tIns="0" rIns="0" bIns="0" rtlCol="0" anchor="t"/>
          <a:lstStyle/>
          <a:p>
            <a:pPr marL="0" indent="0">
              <a:buNone/>
            </a:pPr>
            <a:r>
              <a:rPr lang="en-US" sz="1500" b="1" dirty="0">
                <a:solidFill>
                  <a:schemeClr val="bg1"/>
                </a:solidFill>
              </a:rPr>
              <a:t>SMS and email alerts</a:t>
            </a:r>
            <a:endParaRPr lang="en-US" sz="1500" dirty="0"/>
          </a:p>
          <a:p>
            <a:pPr marL="0" indent="0">
              <a:buNone/>
            </a:pPr>
            <a:r>
              <a:rPr lang="en-US" sz="1200" dirty="0">
                <a:solidFill>
                  <a:schemeClr val="accent6"/>
                </a:solidFill>
              </a:rPr>
              <a:t>at every status change</a:t>
            </a:r>
            <a:endParaRPr lang="en-US" sz="1500" dirty="0"/>
          </a:p>
        </p:txBody>
      </p:sp>
      <p:sp>
        <p:nvSpPr>
          <p:cNvPr id="29" name="badge-556"/>
          <p:cNvSpPr/>
          <p:nvPr/>
        </p:nvSpPr>
        <p:spPr>
          <a:xfrm>
            <a:off x="7863840" y="2990088"/>
            <a:ext cx="566928" cy="566928"/>
          </a:xfrm>
          <a:prstGeom prst="ellipse">
            <a:avLst/>
          </a:prstGeom>
          <a:solidFill>
            <a:schemeClr val="tx1"/>
          </a:solidFill>
          <a:ln/>
        </p:spPr>
      </p:sp>
      <p:pic>
        <p:nvPicPr>
          <p:cNvPr id="30" name="icon-LuReceipt-557" descr="C:\Users\srest\AppData\Local\Temp\claude\C--Users-srest\52e86171-7f3f-4f9f-8710-1b05dd1b2558\scratchpad\deck\icons\LuReceipt_o.png"/>
          <p:cNvPicPr>
            <a:picLocks noChangeAspect="1"/>
          </p:cNvPicPr>
          <p:nvPr/>
        </p:nvPicPr>
        <p:blipFill>
          <a:blip r:embed="rId5"/>
          <a:stretch>
            <a:fillRect/>
          </a:stretch>
        </p:blipFill>
        <p:spPr>
          <a:xfrm>
            <a:off x="7988564" y="3114812"/>
            <a:ext cx="317480" cy="317480"/>
          </a:xfrm>
          <a:prstGeom prst="rect">
            <a:avLst/>
          </a:prstGeom>
        </p:spPr>
      </p:pic>
      <p:sp>
        <p:nvSpPr>
          <p:cNvPr id="31" name="text-558"/>
          <p:cNvSpPr txBox="1"/>
          <p:nvPr/>
        </p:nvSpPr>
        <p:spPr>
          <a:xfrm>
            <a:off x="8613648" y="3008376"/>
            <a:ext cx="2819095" cy="594360"/>
          </a:xfrm>
          <a:prstGeom prst="rect">
            <a:avLst/>
          </a:prstGeom>
          <a:noFill/>
          <a:ln/>
        </p:spPr>
        <p:txBody>
          <a:bodyPr wrap="square" lIns="0" tIns="0" rIns="0" bIns="0" rtlCol="0" anchor="t"/>
          <a:lstStyle/>
          <a:p>
            <a:pPr marL="0" indent="0">
              <a:buNone/>
            </a:pPr>
            <a:r>
              <a:rPr lang="en-US" sz="1500" b="1" dirty="0">
                <a:solidFill>
                  <a:schemeClr val="bg1"/>
                </a:solidFill>
              </a:rPr>
              <a:t>Real payment gateway</a:t>
            </a:r>
            <a:endParaRPr lang="en-US" sz="1500" dirty="0"/>
          </a:p>
          <a:p>
            <a:pPr marL="0" indent="0">
              <a:buNone/>
            </a:pPr>
            <a:r>
              <a:rPr lang="en-US" sz="1200" dirty="0">
                <a:solidFill>
                  <a:schemeClr val="accent6"/>
                </a:solidFill>
              </a:rPr>
              <a:t>UPI and cards instead of simulation</a:t>
            </a:r>
            <a:endParaRPr lang="en-US" sz="1500" dirty="0"/>
          </a:p>
        </p:txBody>
      </p:sp>
      <p:sp>
        <p:nvSpPr>
          <p:cNvPr id="32" name="badge-559"/>
          <p:cNvSpPr/>
          <p:nvPr/>
        </p:nvSpPr>
        <p:spPr>
          <a:xfrm>
            <a:off x="7863840" y="4014216"/>
            <a:ext cx="566928" cy="566928"/>
          </a:xfrm>
          <a:prstGeom prst="ellipse">
            <a:avLst/>
          </a:prstGeom>
          <a:solidFill>
            <a:schemeClr val="tx1"/>
          </a:solidFill>
          <a:ln/>
        </p:spPr>
      </p:sp>
      <p:pic>
        <p:nvPicPr>
          <p:cNvPr id="33" name="icon-LuMapPin-560" descr="C:\Users\srest\AppData\Local\Temp\claude\C--Users-srest\52e86171-7f3f-4f9f-8710-1b05dd1b2558\scratchpad\deck\icons\LuMapPin_o.png"/>
          <p:cNvPicPr>
            <a:picLocks noChangeAspect="1"/>
          </p:cNvPicPr>
          <p:nvPr/>
        </p:nvPicPr>
        <p:blipFill>
          <a:blip r:embed="rId6"/>
          <a:stretch>
            <a:fillRect/>
          </a:stretch>
        </p:blipFill>
        <p:spPr>
          <a:xfrm>
            <a:off x="7988564" y="4138940"/>
            <a:ext cx="317480" cy="317480"/>
          </a:xfrm>
          <a:prstGeom prst="rect">
            <a:avLst/>
          </a:prstGeom>
        </p:spPr>
      </p:pic>
      <p:sp>
        <p:nvSpPr>
          <p:cNvPr id="34" name="text-561"/>
          <p:cNvSpPr txBox="1"/>
          <p:nvPr/>
        </p:nvSpPr>
        <p:spPr>
          <a:xfrm>
            <a:off x="8613648" y="4032504"/>
            <a:ext cx="2819095" cy="594360"/>
          </a:xfrm>
          <a:prstGeom prst="rect">
            <a:avLst/>
          </a:prstGeom>
          <a:noFill/>
          <a:ln/>
        </p:spPr>
        <p:txBody>
          <a:bodyPr wrap="square" lIns="0" tIns="0" rIns="0" bIns="0" rtlCol="0" anchor="t"/>
          <a:lstStyle/>
          <a:p>
            <a:pPr marL="0" indent="0">
              <a:buNone/>
            </a:pPr>
            <a:r>
              <a:rPr lang="en-US" sz="1500" b="1" dirty="0">
                <a:solidFill>
                  <a:schemeClr val="bg1"/>
                </a:solidFill>
              </a:rPr>
              <a:t>Live GPS tracking</a:t>
            </a:r>
            <a:endParaRPr lang="en-US" sz="1500" dirty="0"/>
          </a:p>
          <a:p>
            <a:pPr marL="0" indent="0">
              <a:buNone/>
            </a:pPr>
            <a:r>
              <a:rPr lang="en-US" sz="1200" dirty="0">
                <a:solidFill>
                  <a:schemeClr val="accent6"/>
                </a:solidFill>
              </a:rPr>
              <a:t>the delivery agent's location on a map</a:t>
            </a:r>
            <a:endParaRPr lang="en-US" sz="1500" dirty="0"/>
          </a:p>
        </p:txBody>
      </p:sp>
      <p:sp>
        <p:nvSpPr>
          <p:cNvPr id="35" name="badge-562"/>
          <p:cNvSpPr/>
          <p:nvPr/>
        </p:nvSpPr>
        <p:spPr>
          <a:xfrm>
            <a:off x="7863840" y="5038344"/>
            <a:ext cx="566928" cy="566928"/>
          </a:xfrm>
          <a:prstGeom prst="ellipse">
            <a:avLst/>
          </a:prstGeom>
          <a:solidFill>
            <a:schemeClr val="tx1"/>
          </a:solidFill>
          <a:ln/>
        </p:spPr>
      </p:sp>
      <p:pic>
        <p:nvPicPr>
          <p:cNvPr id="36" name="icon-LuCamera-563" descr="C:\Users\srest\AppData\Local\Temp\claude\C--Users-srest\52e86171-7f3f-4f9f-8710-1b05dd1b2558\scratchpad\deck\icons\LuCamera_o.png"/>
          <p:cNvPicPr>
            <a:picLocks noChangeAspect="1"/>
          </p:cNvPicPr>
          <p:nvPr/>
        </p:nvPicPr>
        <p:blipFill>
          <a:blip r:embed="rId7"/>
          <a:stretch>
            <a:fillRect/>
          </a:stretch>
        </p:blipFill>
        <p:spPr>
          <a:xfrm>
            <a:off x="7988564" y="5163068"/>
            <a:ext cx="317480" cy="317480"/>
          </a:xfrm>
          <a:prstGeom prst="rect">
            <a:avLst/>
          </a:prstGeom>
        </p:spPr>
      </p:pic>
      <p:sp>
        <p:nvSpPr>
          <p:cNvPr id="37" name="text-564"/>
          <p:cNvSpPr txBox="1"/>
          <p:nvPr/>
        </p:nvSpPr>
        <p:spPr>
          <a:xfrm>
            <a:off x="8613648" y="5056632"/>
            <a:ext cx="2819095" cy="594360"/>
          </a:xfrm>
          <a:prstGeom prst="rect">
            <a:avLst/>
          </a:prstGeom>
          <a:noFill/>
          <a:ln/>
        </p:spPr>
        <p:txBody>
          <a:bodyPr wrap="square" lIns="0" tIns="0" rIns="0" bIns="0" rtlCol="0" anchor="t"/>
          <a:lstStyle/>
          <a:p>
            <a:pPr marL="0" indent="0">
              <a:buNone/>
            </a:pPr>
            <a:r>
              <a:rPr lang="en-US" sz="1500" b="1" dirty="0">
                <a:solidFill>
                  <a:schemeClr val="bg1"/>
                </a:solidFill>
              </a:rPr>
              <a:t>Proof of delivery</a:t>
            </a:r>
            <a:endParaRPr lang="en-US" sz="1500" dirty="0"/>
          </a:p>
          <a:p>
            <a:pPr marL="0" indent="0">
              <a:buNone/>
            </a:pPr>
            <a:r>
              <a:rPr lang="en-US" sz="1200" dirty="0">
                <a:solidFill>
                  <a:schemeClr val="accent6"/>
                </a:solidFill>
              </a:rPr>
              <a:t>photo and OTP in an agent app</a:t>
            </a:r>
            <a:endParaRPr lang="en-US" sz="1500" dirty="0"/>
          </a:p>
        </p:txBody>
      </p:sp>
      <p:sp>
        <p:nvSpPr>
          <p:cNvPr id="38" name="text-565"/>
          <p:cNvSpPr txBox="1"/>
          <p:nvPr/>
        </p:nvSpPr>
        <p:spPr>
          <a:xfrm>
            <a:off x="548640" y="5897880"/>
            <a:ext cx="6858000" cy="274320"/>
          </a:xfrm>
          <a:prstGeom prst="rect">
            <a:avLst/>
          </a:prstGeom>
          <a:noFill/>
          <a:ln/>
        </p:spPr>
        <p:txBody>
          <a:bodyPr wrap="square" lIns="0" tIns="0" rIns="0" bIns="0" rtlCol="0" anchor="t"/>
          <a:lstStyle/>
          <a:p>
            <a:pPr marL="0" indent="0">
              <a:buNone/>
            </a:pPr>
            <a:r>
              <a:rPr lang="en-US" sz="1100" dirty="0">
                <a:solidFill>
                  <a:schemeClr val="accent6"/>
                </a:solidFill>
              </a:rPr>
              <a:t>Project files: courier_management.sql · demo_queries.sql · er_diagram.png · PHP source (htdocs/courier)</a:t>
            </a:r>
            <a:endParaRPr lang="en-US" sz="1100" dirty="0"/>
          </a:p>
        </p:txBody>
      </p:sp>
    </p:spTree>
  </p:cSld>
  <p:clrMapOvr>
    <a:masterClrMapping/>
  </p:clrMapOvr>
</p:sld>
</file>

<file path=ppt/theme/theme1.xml><?xml version="1.0" encoding="utf-8"?>
<a:theme xmlns:a="http://schemas.openxmlformats.org/drawingml/2006/main" name="SwiftCourier">
  <a:themeElements>
    <a:clrScheme name="SwiftCourier">
      <a:dk1>
        <a:srgbClr val="171B26"/>
      </a:dk1>
      <a:lt1>
        <a:srgbClr val="FFFFFF"/>
      </a:lt1>
      <a:dk2>
        <a:srgbClr val="2A3142"/>
      </a:dk2>
      <a:lt2>
        <a:srgbClr val="F4F5F7"/>
      </a:lt2>
      <a:accent1>
        <a:srgbClr val="F26B1D"/>
      </a:accent1>
      <a:accent2>
        <a:srgbClr val="0E9F6E"/>
      </a:accent2>
      <a:accent3>
        <a:srgbClr val="7E22CE"/>
      </a:accent3>
      <a:accent4>
        <a:srgbClr val="1D4ED8"/>
      </a:accent4>
      <a:accent5>
        <a:srgbClr val="B4480C"/>
      </a:accent5>
      <a:accent6>
        <a:srgbClr val="6B7280"/>
      </a:accent6>
      <a:hlink>
        <a:srgbClr val="F26B1D"/>
      </a:hlink>
      <a:folHlink>
        <a:srgbClr val="B4480C"/>
      </a:folHlink>
    </a:clrScheme>
    <a:fontScheme name="SwiftCourier">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TotalTime>
  <Words>4880</Words>
  <Application>Microsoft Office PowerPoint</Application>
  <PresentationFormat>Widescreen</PresentationFormat>
  <Paragraphs>477</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Consolas</vt:lpstr>
      <vt:lpstr>Segoe UI</vt:lpstr>
      <vt:lpstr>Segoe UI Semibold</vt:lpstr>
      <vt:lpstr>SwiftCourier</vt:lpstr>
      <vt:lpstr>PowerPoint Presentation</vt:lpstr>
      <vt:lpstr>Courier counters still run on paper</vt:lpstr>
      <vt:lpstr>Objectives, scope and intended users</vt:lpstr>
      <vt:lpstr>ER diagram: 4 entities, 4 relationships</vt:lpstr>
      <vt:lpstr>Cardinality and participation rules</vt:lpstr>
      <vt:lpstr>Relational schema: 4 tables and 1 view</vt:lpstr>
      <vt:lpstr>Normalised step by step to 3NF (and BCNF)</vt:lpstr>
      <vt:lpstr>Database creation with full constraints</vt:lpstr>
      <vt:lpstr>Sample data and integrity checks</vt:lpstr>
      <vt:lpstr>Tracking a parcel is a 3-table join</vt:lpstr>
      <vt:lpstr>Aggregates turn bookings into reports</vt:lpstr>
      <vt:lpstr>A web UI wired straight to MySQL</vt:lpstr>
      <vt:lpstr>Insert: one booking writes 3 tables</vt:lpstr>
      <vt:lpstr>Update: every status change is a new row</vt:lpstr>
      <vt:lpstr>Delete: cascades or refuses, by design</vt:lpstr>
      <vt:lpstr>PowerPoint Presentation</vt:lpstr>
    </vt:vector>
  </TitlesOfParts>
  <Company>Woxsen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SwiftCourier: Courier Parcel Booking and Tracking Management System</dc:title>
  <dc:subject>DBMS Project (25TU03MJM0)</dc:subject>
  <dc:creator>A Srestadeep, Abhigyan Gogoi, Jogi Dhanush</dc:creator>
  <cp:lastModifiedBy>SrestaDeep Goud A</cp:lastModifiedBy>
  <cp:revision>1</cp:revision>
  <dcterms:created xsi:type="dcterms:W3CDTF">2026-10-06T02:55:36Z</dcterms:created>
  <dcterms:modified xsi:type="dcterms:W3CDTF">2026-10-06T05:52:52Z</dcterms:modified>
</cp:coreProperties>
</file>